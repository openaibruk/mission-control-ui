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1371600"/>
            <a:ext cx="3657600" cy="3657600"/>
          </a:xfrm>
          <a:prstGeom prst="ellipse">
            <a:avLst/>
          </a:prstGeom>
          <a:solidFill>
            <a:srgbClr val="E53935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1828800"/>
            <a:ext cx="2743200" cy="2743200"/>
          </a:xfrm>
          <a:prstGeom prst="ellipse">
            <a:avLst/>
          </a:prstGeom>
          <a:solidFill>
            <a:srgbClr val="E53935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539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CHIPCHIP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STRATEGY 2026–2027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Chaos to Control · From Loss to Profit · From Growth to Scale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6217920"/>
            <a:ext cx="12192000" cy="54864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>
              <a:gd name="adj" fmla="val 50000"/>
            </a:avLst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ChipChip · 2026-2027 Strategy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E53935"/>
                </a:solidFill>
              </a:rPr>
              <a:t>01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</a:rPr>
              <a:t>   Executive Summary &amp; Vision
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E53935"/>
                </a:solidFill>
              </a:rPr>
              <a:t>02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</a:rPr>
              <a:t>   Business Model &amp; Revenue
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E53935"/>
                </a:solidFill>
              </a:rPr>
              <a:t>03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</a:rPr>
              <a:t>   Strategic Pillars
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E53935"/>
                </a:solidFill>
              </a:rPr>
              <a:t>04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</a:rPr>
              <a:t>   Year 1 Execution Plan (2026)
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E53935"/>
                </a:solidFill>
              </a:rPr>
              <a:t>05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</a:rPr>
              <a:t>   Year 2 Scale Plan (2027)
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E53935"/>
                </a:solidFill>
              </a:rPr>
              <a:t>06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</a:rPr>
              <a:t>   Financial Projections
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E53935"/>
                </a:solidFill>
              </a:rPr>
              <a:t>07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</a:rPr>
              <a:t>   KPIs &amp; Metrics
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E53935"/>
                </a:solidFill>
              </a:rPr>
              <a:t>08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</a:rPr>
              <a:t>   Organization &amp; Risk
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>
              <a:gd name="adj" fmla="val 50000"/>
            </a:avLst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ChipChip · 2026-2027 Strategy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E53935"/>
                </a:solidFill>
              </a:rPr>
              <a:t>What is ChipChip?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Asset-light food trade infrastructure platform connecting farmers to consumers via a distributed network of Super Leaders and B2B Captains in Addis Ababa, Ethiopia.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E53935"/>
                </a:solidFill>
              </a:rPr>
              <a:t>The 2026 Reset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Strategic shift from chaotic growth to disciplined, sustainable scale. Moving from B2C-heavy losses to profitable B2B + B2B2C operations.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1A1A"/>
                </a:solidFill>
              </a:rPr>
              <a:t>Key Principles: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• Discipline First — Technology enforces discipline, not chaos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• Volume Quality — Bad volume is worse than no volume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• One Owner — One KPI, One Owner. Shared = No one owns it
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VISION &amp; MISSION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>
              <a:gd name="adj" fmla="val 50000"/>
            </a:avLst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ChipChip · 2026-2027 Strategy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E53935"/>
                </a:solidFill>
              </a:rPr>
              <a:t>End-State Vision (Month 12)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• 0% B2C Volume (migrated to aggregation)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• 100% B2B + B2B2C Mix (profitable, predictable)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• ChipChip as the "Veins of the Economy"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E53935"/>
                </a:solidFill>
              </a:rPr>
              <a:t>Mission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1A1A"/>
                </a:solidFill>
              </a:rPr>
              <a:t>Stop touching products. Start controlling flows.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Demand Aggregator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Flow Designer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Settlement Engine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Risk Controller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SLA Enforcer
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>
              <a:gd name="adj" fmla="val 50000"/>
            </a:avLst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ChipChip · 2026-2027 Strategy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E53935"/>
                </a:solidFill>
              </a:rPr>
              <a:t>Three Revenue Streams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1A1A"/>
                </a:solidFill>
              </a:rPr>
              <a:t>Trade Margin (50%)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Spread between supplier buy price and platform sell price. Example: 40 ETB/kg supplier → 46 ETB/kg platform = 6 ETB/kg margin split.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1A1A"/>
                </a:solidFill>
              </a:rPr>
              <a:t>Financing / BNPL (35%)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Buy Now Pay Later for leaders, restaurants, suppliers. Short cycle (7-14 days), hard cap, auto-block. Example: 50,000 ETB order × 3% = 1,500 ETB revenue.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1A1A"/>
                </a:solidFill>
              </a:rPr>
              <a:t>Platform Tools / SaaS (15%)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AI-powered tools: demand forecasting, price benchmarking, marketing automation.
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PILLARS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>
              <a:gd name="adj" fmla="val 50000"/>
            </a:avLst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ChipChip · 2026-2027 Strategy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200400" cy="3200400"/>
          </a:xfrm>
          <a:prstGeom prst="ellipse">
            <a:avLst/>
          </a:prstGeom>
          <a:solidFill>
            <a:srgbClr val="E53935">
              <a:alpha val="10000"/>
            </a:srgbClr>
          </a:solidFill>
          <a:ln w="25400">
            <a:solidFill>
              <a:srgbClr val="E539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39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DEMAND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539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NETWORK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200400" cy="3200400"/>
          </a:xfrm>
          <a:prstGeom prst="ellipse">
            <a:avLst/>
          </a:prstGeom>
          <a:solidFill>
            <a:srgbClr val="E53935">
              <a:alpha val="10000"/>
            </a:srgbClr>
          </a:solidFill>
          <a:ln w="25400">
            <a:solidFill>
              <a:srgbClr val="E539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27432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39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SUPPLY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539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MARKETPLACE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200400" cy="3200400"/>
          </a:xfrm>
          <a:prstGeom prst="ellipse">
            <a:avLst/>
          </a:prstGeom>
          <a:solidFill>
            <a:srgbClr val="E53935">
              <a:alpha val="10000"/>
            </a:srgbClr>
          </a:solidFill>
          <a:ln w="25400">
            <a:solidFill>
              <a:srgbClr val="E539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27432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39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TRUST &amp;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539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1206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Consumer groups, Super Leaders, B2B buyers → </a:t>
            </a:r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Aggregating demand at scale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51206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Farmers, cooperatives, wholesalers → </a:t>
            </a:r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Connecting supply with demand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51206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Reputation, credit scoring, open data → </a:t>
            </a:r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Building trust infrastructure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YEAR 1 — FOUNDATION &amp; GROWTH (2026)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>
              <a:gd name="adj" fmla="val 50000"/>
            </a:avLst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ChipChip · 2026-2027 Strategy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53935"/>
                </a:solidFill>
              </a:rPr>
              <a:t>Q1 2026: Reset &amp; Foundation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• Strategic reset complete
• B2B pipeline established
• Super Leader network activated
• Operations SOPs defined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53935"/>
                </a:solidFill>
              </a:rPr>
              <a:t>Q2 2026: Validate Unit Economics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• CP1 (Core Platform 1) breakeven ✓
• BNPL pilot with select restaurants
• Logistics optimization
• 6-week Super Leader onboarding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53935"/>
                </a:solidFill>
              </a:rPr>
              <a:t>Q3 2026: Scale B2B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• B2B Captains program launch
• Restaurant supply chain automation
• Demand forecasting AI
• Quality control system upgrade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53935"/>
                </a:solidFill>
              </a:rPr>
              <a:t>Q4 2026: Expand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• Multi-city expansion prep
• Supplier financing products
• Platform tools SaaS pilot
• CP2 breakeven target
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YEAR 2 — SCALE &amp; OPTIMIZE (2027)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>
              <a:gd name="adj" fmla="val 50000"/>
            </a:avLst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ChipChip · 2026-2027 Strategy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53935"/>
                </a:solidFill>
              </a:rPr>
              <a:t>Q1 2027: Platform Maturity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• Full B2B + B2B2C transition
• SaaS tools general availability
• Advanced credit scoring
• Multi-city operations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53935"/>
                </a:solidFill>
              </a:rPr>
              <a:t>Q2 2027: Ecosystem Growth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• Third-party integrations
• API marketplace
• Supply chain automation
• Data products launch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53935"/>
                </a:solidFill>
              </a:rPr>
              <a:t>Q3-Q4 2027: Market Leadership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• Regional expansion
• Strategic partnerships
• IPO readiness assessment
• Full ecosystem maturity
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FINANCIAL PROJECTIONS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>
              <a:gd name="adj" fmla="val 50000"/>
            </a:avLst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ChipChip · 2026-2027 Strategy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E53935"/>
                </a:solidFill>
              </a:rPr>
              <a:t>Revenue Mix Target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2026: Trade Margin 65% · BNPL 25% · SaaS 10%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2027: Trade Margin 50% · BNPL 35% · SaaS 15%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E53935"/>
                </a:solidFill>
              </a:rPr>
              <a:t>Key Milestones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✓ CP1 Breakeven — Achieved Feb 2026 (+13% margin)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○ CP2 Breakeven — Target Q4 2026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○ Full Platform Profitability — Target Q2 2027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○ Self-Sustaining Operations — Target Q4 2027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E53935"/>
                </a:solidFill>
              </a:rPr>
              <a:t>Cost Discipline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• Headcount freeze except critical roles
• Marketing spend tied to CAC targets
• Logistics cost per delivery benchmarked weekly
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PERFORMANCE INDICATORS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>
              <a:gd name="adj" fmla="val 50000"/>
            </a:avLst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ChipChip · 2026-2027 Strategy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53935"/>
                </a:solidFill>
              </a:rPr>
              <a:t>Weekly Tracked
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</a:rPr>
              <a:t>• Order Volume (kg) — Total, by segment, by channel
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</a:rPr>
              <a:t>• Revenue per kg — Gross margin, net margin
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</a:rPr>
              <a:t>• Customer Acquisition Cost — B2B vs B2C
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</a:rPr>
              <a:t>• Delivery Success Rate — On-time, quality complaints
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</a:rPr>
              <a:t>• Super Leader Performance — Group size, order frequency
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</a:rPr>
              <a:t>• B2B Captain Metrics — Restaurant count, avg order size
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53935"/>
                </a:solidFill>
              </a:rPr>
              <a:t>Quarterly Targets
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</a:rPr>
              <a:t>• Revenue growth rate
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</a:rPr>
              <a:t>• Gross margin percentage
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</a:rPr>
              <a:t>• Customer retention (B2B)
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</a:rPr>
              <a:t>• Supplier reliability score
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</a:rPr>
              <a:t>• Platform NPS
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ORGANIZATION &amp; TEAM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>
              <a:gd name="adj" fmla="val 50000"/>
            </a:avLst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ChipChip · 2026-2027 Strategy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53935"/>
                </a:solidFill>
              </a:rPr>
              <a:t>Current Headcount: ~107 (Feb 2026)
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1A1A"/>
                </a:solidFill>
              </a:rPr>
              <a:t>Core &amp; Layer Model
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• Core: Full-time essential roles (engineering, ops, finance)
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• Layer: Contract/project-based roles (marketing, content)
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1A1A"/>
                </a:solidFill>
              </a:rPr>
              <a:t>Key Departments
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• Engineering &amp; Product — Platform, mobile, AI/ML
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• Operations — Logistics, packaging, QC, warehouse
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• Sales &amp; Marketing — B2B sales, brand, community
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• Finance &amp; Legal — Accounting, compliance, contracts
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• People &amp; Culture — Hiring, training, performance
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RISKS &amp; MITIGATIONS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>
              <a:gd name="adj" fmla="val 50000"/>
            </a:avLst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ChipChip · 2026-2027 Strategy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E53935"/>
                </a:solidFill>
              </a:rPr>
              <a:t>Risk Matrix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53935"/>
                </a:solidFill>
              </a:rPr>
              <a:t>HIGH — Competitive Pressure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Mitigation: Speed of execution, local network effects, data moat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53935"/>
                </a:solidFill>
              </a:rPr>
              <a:t>HIGH — Cash Flow Constraints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Mitigation: Strict BNPL caps, weekly cash reviews, supplier payment terms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59E0B"/>
                </a:solidFill>
              </a:rPr>
              <a:t>MEDIUM — Supply Chain Disruption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Mitigation: Multi-supplier strategy, buffer stock, quality gates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59E0B"/>
                </a:solidFill>
              </a:rPr>
              <a:t>MEDIUM — Regulatory Changes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Mitigation: Legal counsel, compliance monitoring, flexible contracts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B82F6"/>
                </a:solidFill>
              </a:rPr>
              <a:t>LOW — Technology Risk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Mitigation: Proven stack, automated backups, staged rollouts
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1371600"/>
            <a:ext cx="4572000" cy="4572000"/>
          </a:xfrm>
          <a:prstGeom prst="ellipse">
            <a:avLst/>
          </a:prstGeom>
          <a:solidFill>
            <a:srgbClr val="E53935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828800" y="18288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3935"/>
                </a:solidFill>
              </a:rPr>
              <a:t>THE FUTURE OF FOOD TRADE
</a:t>
            </a:r>
            <a:endParaRPr lang="en-US" sz="1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
Discipline First.
Volume Quality.
One Owner.
</a:t>
            </a:r>
            <a:endParaRPr lang="en-US" sz="14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
ChipChip 2026–2027
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ChipChip Strategy 2026-2027</dc:title>
  <dc:subject>Strategy 2026-2027</dc:subject>
  <dc:creator>ChipChip</dc:creator>
  <cp:lastModifiedBy>ChipChip</cp:lastModifiedBy>
  <cp:revision>1</cp:revision>
  <dcterms:created xsi:type="dcterms:W3CDTF">2026-03-17T21:52:19Z</dcterms:created>
  <dcterms:modified xsi:type="dcterms:W3CDTF">2026-03-17T21:52:19Z</dcterms:modified>
</cp:coreProperties>
</file>