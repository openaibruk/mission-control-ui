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EXPOSURE - MONTHLY BREAKDOWN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2743200" cy="54864"/>
          </a:xfrm>
          <a:prstGeom prst="rect">
            <a:avLst/>
          </a:prstGeom>
          <a:solidFill>
            <a:srgbClr val="E536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extended monthly across all revenue streams (ETB)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143000"/>
          <a:ext cx="11887200" cy="1920240"/>
        </p:xfrm>
        <a:graphic>
          <a:graphicData uri="http://schemas.openxmlformats.org/drawingml/2006/table">
            <a:tbl>
              <a:tblPr/>
              <a:tblGrid>
                <a:gridCol w="182880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Apr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May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Jun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Jul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Aug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Sep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Oct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Nov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Dec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Jan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Feb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Mar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Apr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B2B Credits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53635"/>
                          </a:solidFill>
                        </a:rPr>
                        <a:t>731631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53635"/>
                          </a:solidFill>
                        </a:rPr>
                        <a:t>914539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53635"/>
                          </a:solidFill>
                        </a:rPr>
                        <a:t>1143174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53635"/>
                          </a:solidFill>
                        </a:rPr>
                        <a:t>1428967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53635"/>
                          </a:solidFill>
                        </a:rPr>
                        <a:t>1786209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53635"/>
                          </a:solidFill>
                        </a:rPr>
                        <a:t>2232761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53635"/>
                          </a:solidFill>
                        </a:rPr>
                        <a:t>2567675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53635"/>
                          </a:solidFill>
                        </a:rPr>
                        <a:t>2952827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53635"/>
                          </a:solidFill>
                        </a:rPr>
                        <a:t>3395751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53635"/>
                          </a:solidFill>
                        </a:rPr>
                        <a:t>3905113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53635"/>
                          </a:solidFill>
                        </a:rPr>
                        <a:t>4490880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53635"/>
                          </a:solidFill>
                        </a:rPr>
                        <a:t>5164512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53635"/>
                          </a:solidFill>
                        </a:rPr>
                        <a:t>5939189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 Credits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</a:rPr>
                        <a:t>80000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</a:rPr>
                        <a:t>92000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</a:rPr>
                        <a:t>105800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</a:rPr>
                        <a:t>121670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</a:rPr>
                        <a:t>279841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</a:rPr>
                        <a:t>321817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</a:rPr>
                        <a:t>370090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</a:rPr>
                        <a:t>425603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</a:rPr>
                        <a:t>978887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</a:rPr>
                        <a:t>1125720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</a:rPr>
                        <a:t>1294578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</a:rPr>
                        <a:t>1488765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</a:rPr>
                        <a:t>1712080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FMCG Credits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57575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57575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57575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57575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57575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57575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57575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57575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57575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57575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57575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57575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57575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CREDIT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811631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1006539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1248974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1550637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2066050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2554578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2937765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3378430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4374638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5030833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5785458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6653277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7651269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of Revenue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</a:rPr>
                        <a:t>31.1%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</a:rPr>
                        <a:t>34.8%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</a:rPr>
                        <a:t>32.1%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</a:rPr>
                        <a:t>35.8%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</a:rPr>
                        <a:t>37.5%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</a:rPr>
                        <a:t>41.3%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</a:rPr>
                        <a:t>43.7%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</a:rPr>
                        <a:t>46.0%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</a:rPr>
                        <a:t>54.3%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</a:rPr>
                        <a:t>56.7%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</a:rPr>
                        <a:t>58.9%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</a:rPr>
                        <a:t>61.0%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</a:rPr>
                        <a:t>63.0%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383280"/>
            <a:ext cx="3657600" cy="822960"/>
          </a:xfrm>
          <a:prstGeom prst="rect">
            <a:avLst>
              <a:gd name="adj" fmla="val 8889"/>
            </a:avLst>
          </a:prstGeom>
          <a:solidFill>
            <a:srgbClr val="F5F5F5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3429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3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Monthly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37033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2.24M ETB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389120" y="3383280"/>
            <a:ext cx="3657600" cy="822960"/>
          </a:xfrm>
          <a:prstGeom prst="rect">
            <a:avLst>
              <a:gd name="adj" fmla="val 8889"/>
            </a:avLst>
          </a:prstGeom>
          <a:solidFill>
            <a:srgbClr val="F5F5F5"/>
          </a:solidFill>
          <a:ln/>
        </p:spPr>
      </p:sp>
      <p:sp>
        <p:nvSpPr>
          <p:cNvPr id="10" name="Text 7"/>
          <p:cNvSpPr/>
          <p:nvPr/>
        </p:nvSpPr>
        <p:spPr>
          <a:xfrm>
            <a:off x="4480560" y="3429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3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(Apr-27)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480560" y="37033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7.65M ETB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8321040" y="3383280"/>
            <a:ext cx="3657600" cy="822960"/>
          </a:xfrm>
          <a:prstGeom prst="rect">
            <a:avLst>
              <a:gd name="adj" fmla="val 8889"/>
            </a:avLst>
          </a:prstGeom>
          <a:solidFill>
            <a:srgbClr val="F5F5F5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0" y="3429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3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13mo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412480" y="37033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45.0M ETB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411480" y="4617720"/>
            <a:ext cx="11430000" cy="1005840"/>
          </a:xfrm>
          <a:prstGeom prst="rect">
            <a:avLst>
              <a:gd name="adj" fmla="val 10909"/>
            </a:avLst>
          </a:prstGeom>
          <a:solidFill>
            <a:srgbClr val="FFEBEE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4709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CRITICAL: At 63% credit ratio by Apr-27, 7.65M ETB must be available monthly for credit. Without external financing, this growth is unsustainable.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601200" y="66294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EXPOSURE TREND ANALYSIS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2743200" cy="54864"/>
          </a:xfrm>
          <a:prstGeom prst="rect">
            <a:avLst/>
          </a:prstGeom>
          <a:solidFill>
            <a:srgbClr val="E5363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3200400" cy="1554480"/>
          </a:xfrm>
          <a:prstGeom prst="rect">
            <a:avLst>
              <a:gd name="adj" fmla="val 5882"/>
            </a:avLst>
          </a:prstGeom>
          <a:solidFill>
            <a:srgbClr val="E8F5E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Conservative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Apr-Jul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31-36%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80%, SL 20%. Manageable.\nCredit: 812K to 1.55M/mo.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3200400" cy="1554480"/>
          </a:xfrm>
          <a:prstGeom prst="rect">
            <a:avLst>
              <a:gd name="adj" fmla="val 5882"/>
            </a:avLst>
          </a:prstGeom>
          <a:solidFill>
            <a:srgbClr val="FFF3E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88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Moderate Risk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Aug-Nov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37-54%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 doubles to 40%.\nSharp inflection point.\nCredit: 2.07M to 4.37M.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4572000"/>
            <a:ext cx="3200400" cy="1554480"/>
          </a:xfrm>
          <a:prstGeom prst="rect">
            <a:avLst>
              <a:gd name="adj" fmla="val 5882"/>
            </a:avLst>
          </a:prstGeom>
          <a:solidFill>
            <a:srgbClr val="FFEBE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617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HIGH RISK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8920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2026-Apr 2027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5120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54-63%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080" y="553212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 jumps to 80%.\nCredit: 5.01M to 7.65M.\nUnsustainable without financing.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931920" y="914400"/>
            <a:ext cx="8229600" cy="5394960"/>
          </a:xfrm>
          <a:prstGeom prst="rect">
            <a:avLst>
              <a:gd name="adj" fmla="val 1695"/>
            </a:avLst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0" y="1051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Credit growth (840%) far outpaces revenue growth (366%)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SL credit policy changes drive most of the risk increase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0" y="2057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B2B stays at 80% constant - absolute values grow with revenue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0" y="2560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Dec-26 is the inflection: SL credit jumps 40% to 80%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0" y="3063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By Apr-27, 7.65M ETB/mo = 2.9x starting total revenue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Credit margin at 2.4% (B2B) offers minimal loss protection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0" y="4069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Working capital need grows faster than margin accumulation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0" y="4572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Total credits (45M) exceed total margins (16M) by 2.8x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0" y="5166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credit curve is unsustainable without a financing strategy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0" y="66294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LEADER CREDIT - THE 4X JUMP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2743200" cy="54864"/>
          </a:xfrm>
          <a:prstGeom prst="rect">
            <a:avLst/>
          </a:prstGeom>
          <a:solidFill>
            <a:srgbClr val="E536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Leader credit policy changes are the single largest risk in this plan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566160" cy="2834640"/>
          </a:xfrm>
          <a:prstGeom prst="rect">
            <a:avLst>
              <a:gd name="adj" fmla="val 3871"/>
            </a:avLst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Apr-Jul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baseline. Credit: 80 to 122K ETB/mo. Low exposure, predictable.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188720"/>
            <a:ext cx="3566160" cy="2834640"/>
          </a:xfrm>
          <a:prstGeom prst="rect">
            <a:avLst>
              <a:gd name="adj" fmla="val 3871"/>
            </a:avLst>
          </a:prstGeom>
          <a:solidFill>
            <a:srgbClr val="FFF3E0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234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Aug-Nov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43400" y="17373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480560" y="24688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DOUBLES overnight! No gradual transition period. Must handle 2x load.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0" y="1188720"/>
            <a:ext cx="3566160" cy="2834640"/>
          </a:xfrm>
          <a:prstGeom prst="rect">
            <a:avLst>
              <a:gd name="adj" fmla="val 3871"/>
            </a:avLst>
          </a:prstGeom>
          <a:solidFill>
            <a:srgbClr val="FFEBEE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1234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Dec 2026-Apr 2027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17373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8366760" y="24688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QUADRUPLES from start! Credit: 979K to 1.71M ETB/mo. Massive policy shift.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4206240"/>
          <a:ext cx="11704320" cy="1463040"/>
        </p:xfrm>
        <a:graphic>
          <a:graphicData uri="http://schemas.openxmlformats.org/drawingml/2006/table">
            <a:tbl>
              <a:tblPr/>
              <a:tblGrid>
                <a:gridCol w="2011680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Apr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May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Jun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Jul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Aug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Sep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Oct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Nov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Dec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Jan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Feb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Mar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Apr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 Revenue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</a:rPr>
                        <a:t>400000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</a:rPr>
                        <a:t>460000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</a:rPr>
                        <a:t>529000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</a:rPr>
                        <a:t>608350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</a:rPr>
                        <a:t>699603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</a:rPr>
                        <a:t>804543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</a:rPr>
                        <a:t>925224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</a:rPr>
                        <a:t>1064008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</a:rPr>
                        <a:t>1223609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</a:rPr>
                        <a:t>1407151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</a:rPr>
                        <a:t>1618223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</a:rPr>
                        <a:t>1860957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</a:rPr>
                        <a:t>2140100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</a:rPr>
                        <a:t>20%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</a:rPr>
                        <a:t>20%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</a:rPr>
                        <a:t>20%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</a:rPr>
                        <a:t>20%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</a:rPr>
                        <a:t>40%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</a:rPr>
                        <a:t>40%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</a:rPr>
                        <a:t>40%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</a:rPr>
                        <a:t>40%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</a:rPr>
                        <a:t>80%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</a:rPr>
                        <a:t>80%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</a:rPr>
                        <a:t>80%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</a:rPr>
                        <a:t>80%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</a:rPr>
                        <a:t>80%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 Credit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80000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92000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105800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121670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279841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321817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370090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425603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978887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1125720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1294578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1488765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1712080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457200" y="5806440"/>
            <a:ext cx="11430000" cy="594360"/>
          </a:xfrm>
          <a:prstGeom prst="rect">
            <a:avLst>
              <a:gd name="adj" fmla="val 12308"/>
            </a:avLst>
          </a:prstGeom>
          <a:solidFill>
            <a:srgbClr val="E8F5E9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Recommend: Phase SL credit gradually (20-30-40-60-80%) with clear KPI milestones at each transition point.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601200" y="66294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CAPITAL REQUIREMENTS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2743200" cy="54864"/>
          </a:xfrm>
          <a:prstGeom prst="rect">
            <a:avLst/>
          </a:prstGeom>
          <a:solidFill>
            <a:srgbClr val="E5363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2651760" cy="1005840"/>
          </a:xfrm>
          <a:prstGeom prst="rect">
            <a:avLst>
              <a:gd name="adj" fmla="val 9091"/>
            </a:avLst>
          </a:prstGeom>
          <a:solidFill>
            <a:srgbClr val="FFF3E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60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(Apr-26)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3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812K ETB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337560" y="914400"/>
            <a:ext cx="2651760" cy="1005840"/>
          </a:xfrm>
          <a:prstGeom prst="rect">
            <a:avLst>
              <a:gd name="adj" fmla="val 9091"/>
            </a:avLst>
          </a:prstGeom>
          <a:solidFill>
            <a:srgbClr val="FFF3E0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960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Monthly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29000" y="1234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3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2.24M ETB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17920" y="914400"/>
            <a:ext cx="2651760" cy="1005840"/>
          </a:xfrm>
          <a:prstGeom prst="rect">
            <a:avLst>
              <a:gd name="adj" fmla="val 9091"/>
            </a:avLst>
          </a:prstGeom>
          <a:solidFill>
            <a:srgbClr val="FFF3E0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960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(Apr-27)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09360" y="1234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3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7.65M ETB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098280" y="914400"/>
            <a:ext cx="2651760" cy="1005840"/>
          </a:xfrm>
          <a:prstGeom prst="rect">
            <a:avLst>
              <a:gd name="adj" fmla="val 9091"/>
            </a:avLst>
          </a:prstGeom>
          <a:solidFill>
            <a:srgbClr val="FFF3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89720" y="960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13mo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89720" y="1234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3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45.0M ETB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" y="21031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Credit Funding Needs (ETB):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776362" cy="384048"/>
          </a:xfrm>
          <a:prstGeom prst="rect">
            <a:avLst>
              <a:gd name="adj" fmla="val 9524"/>
            </a:avLst>
          </a:prstGeom>
          <a:solidFill>
            <a:srgbClr val="E53635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468880"/>
            <a:ext cx="68492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812K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87121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Apr-26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2971800"/>
            <a:ext cx="1482927" cy="384048"/>
          </a:xfrm>
          <a:prstGeom prst="rect">
            <a:avLst>
              <a:gd name="adj" fmla="val 9524"/>
            </a:avLst>
          </a:prstGeom>
          <a:solidFill>
            <a:srgbClr val="E5363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971800"/>
            <a:ext cx="139148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37413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Jul-26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2809052" cy="384048"/>
          </a:xfrm>
          <a:prstGeom prst="rect">
            <a:avLst>
              <a:gd name="adj" fmla="val 9524"/>
            </a:avLst>
          </a:prstGeom>
          <a:solidFill>
            <a:srgbClr val="FF980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474720"/>
            <a:ext cx="27176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87705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Oct-26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3977640"/>
            <a:ext cx="4810191" cy="384048"/>
          </a:xfrm>
          <a:prstGeom prst="rect">
            <a:avLst>
              <a:gd name="adj" fmla="val 9524"/>
            </a:avLst>
          </a:prstGeom>
          <a:solidFill>
            <a:srgbClr val="B71C1C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977640"/>
            <a:ext cx="471875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37997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Jan-27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4480560"/>
            <a:ext cx="7315200" cy="384048"/>
          </a:xfrm>
          <a:prstGeom prst="rect">
            <a:avLst>
              <a:gd name="adj" fmla="val 9524"/>
            </a:avLst>
          </a:prstGeom>
          <a:solidFill>
            <a:srgbClr val="B71C1C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480560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88289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Apr-27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" y="5074920"/>
            <a:ext cx="11430000" cy="1554480"/>
          </a:xfrm>
          <a:prstGeom prst="rect">
            <a:avLst>
              <a:gd name="adj" fmla="val 5882"/>
            </a:avLst>
          </a:prstGeom>
          <a:solidFill>
            <a:srgbClr val="F5F5F5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5166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Financing Question: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548640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Does ChipChip have 7.65M ETB available by Apr-27?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574243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Debt at 15%/yr on 7.65M = ~96K/mo interest, NOT in model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5998464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Revenue reinvest margins at 1.2M/mo, too slow for 7.65M peak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6254496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Revenue alone CANNOT fund credit - external financing REQUIRED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601200" y="66294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VS REVENUE - THE FUNDING GAP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2743200" cy="54864"/>
          </a:xfrm>
          <a:prstGeom prst="rect">
            <a:avLst/>
          </a:prstGeom>
          <a:solidFill>
            <a:srgbClr val="E536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growth (840%) far outpaces margin growth (544%). The gap widens dangerously.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0" y="1280160"/>
          <a:ext cx="7772400" cy="283464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828800"/>
                <a:gridCol w="1828800"/>
              </a:tblGrid>
              <a:tr h="404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End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Change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Revenue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2.6M ETB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12.1M ETB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53635"/>
                          </a:solidFill>
                        </a:rPr>
                        <a:t>+366%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Credit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812K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7.65M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53635"/>
                          </a:solidFill>
                        </a:rPr>
                        <a:t>+840%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Margin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378K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2.43M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53635"/>
                          </a:solidFill>
                        </a:rPr>
                        <a:t>+544%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Credit/Rev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31.1%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63.0%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53635"/>
                          </a:solidFill>
                        </a:rPr>
                        <a:t>2.0x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Credit/Margin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215%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314%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53635"/>
                          </a:solidFill>
                        </a:rPr>
                        <a:t>1.5x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71C1C"/>
                          </a:solidFill>
                        </a:rPr>
                        <a:t>FUND GAP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71C1C"/>
                          </a:solidFill>
                        </a:rPr>
                        <a:t>434K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71C1C"/>
                          </a:solidFill>
                        </a:rPr>
                        <a:t>5.22M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71C1C"/>
                          </a:solidFill>
                        </a:rPr>
                        <a:t>+1,101%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297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Visualization - Credit vs Margin: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4663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Apr-26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554480" y="4709160"/>
            <a:ext cx="2843784" cy="182880"/>
          </a:xfrm>
          <a:prstGeom prst="rect">
            <a:avLst/>
          </a:prstGeom>
          <a:solidFill>
            <a:srgbClr val="E53635"/>
          </a:solidFill>
          <a:ln/>
        </p:spPr>
      </p:sp>
      <p:sp>
        <p:nvSpPr>
          <p:cNvPr id="9" name="Text 6"/>
          <p:cNvSpPr/>
          <p:nvPr/>
        </p:nvSpPr>
        <p:spPr>
          <a:xfrm>
            <a:off x="1554480" y="4709160"/>
            <a:ext cx="2843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31.1% Credit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554480" y="4937760"/>
            <a:ext cx="1325880" cy="1828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1" name="Text 8"/>
          <p:cNvSpPr/>
          <p:nvPr/>
        </p:nvSpPr>
        <p:spPr>
          <a:xfrm>
            <a:off x="1554480" y="493776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14.5% Margin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961120" y="46634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16.6%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5303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Oct-26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554480" y="5349240"/>
            <a:ext cx="3995928" cy="182880"/>
          </a:xfrm>
          <a:prstGeom prst="rect">
            <a:avLst/>
          </a:prstGeom>
          <a:solidFill>
            <a:srgbClr val="E53635"/>
          </a:solidFill>
          <a:ln/>
        </p:spPr>
      </p:sp>
      <p:sp>
        <p:nvSpPr>
          <p:cNvPr id="15" name="Text 12"/>
          <p:cNvSpPr/>
          <p:nvPr/>
        </p:nvSpPr>
        <p:spPr>
          <a:xfrm>
            <a:off x="1554480" y="5349240"/>
            <a:ext cx="3995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43.7% Credit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554480" y="5577840"/>
            <a:ext cx="1563624" cy="1828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4"/>
          <p:cNvSpPr/>
          <p:nvPr/>
        </p:nvSpPr>
        <p:spPr>
          <a:xfrm>
            <a:off x="1554480" y="5577840"/>
            <a:ext cx="15636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17.1% Margin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961120" y="53035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26.6%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5943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Apr-27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554480" y="5989320"/>
            <a:ext cx="5760720" cy="182880"/>
          </a:xfrm>
          <a:prstGeom prst="rect">
            <a:avLst/>
          </a:prstGeom>
          <a:solidFill>
            <a:srgbClr val="E53635"/>
          </a:solidFill>
          <a:ln/>
        </p:spPr>
      </p:sp>
      <p:sp>
        <p:nvSpPr>
          <p:cNvPr id="21" name="Text 18"/>
          <p:cNvSpPr/>
          <p:nvPr/>
        </p:nvSpPr>
        <p:spPr>
          <a:xfrm>
            <a:off x="1554480" y="5989320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 Credit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1554480" y="6217920"/>
            <a:ext cx="1828800" cy="1828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3" name="Text 20"/>
          <p:cNvSpPr/>
          <p:nvPr/>
        </p:nvSpPr>
        <p:spPr>
          <a:xfrm>
            <a:off x="1554480" y="62179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Margin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961120" y="5943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43%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601200" y="66294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COMPOSITION - 13-MONTH OVERVIEW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2743200" cy="54864"/>
          </a:xfrm>
          <a:prstGeom prst="rect">
            <a:avLst/>
          </a:prstGeom>
          <a:solidFill>
            <a:srgbClr val="E536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gross margin: 16.0M ETB (17.97% blended). Trade margins drive all profit.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0972800" cy="777240"/>
          </a:xfrm>
          <a:prstGeom prst="rect">
            <a:avLst>
              <a:gd name="adj" fmla="val 9412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7834579" cy="292608"/>
          </a:xfrm>
          <a:prstGeom prst="rect">
            <a:avLst>
              <a:gd name="adj" fmla="val 12500"/>
            </a:avLst>
          </a:prstGeom>
          <a:solidFill>
            <a:srgbClr val="E5363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Trade Margin (71.4%)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Amount: 11.45M ETB / Rate: 25%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137160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profit engine. 71% of total margin. Constant 25% drives model.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10972800" cy="777240"/>
          </a:xfrm>
          <a:prstGeom prst="rect">
            <a:avLst>
              <a:gd name="adj" fmla="val 9412"/>
            </a:avLst>
          </a:prstGeom>
          <a:solidFill>
            <a:srgbClr val="F5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240280"/>
            <a:ext cx="1075334" cy="292608"/>
          </a:xfrm>
          <a:prstGeom prst="rect">
            <a:avLst>
              <a:gd name="adj" fmla="val 12500"/>
            </a:avLst>
          </a:prstGeom>
          <a:solidFill>
            <a:srgbClr val="21212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31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FMCG Trade Margin (9.8%)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651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Amount: 1.49M ETB / Rate: 5%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0" y="233172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Low-margin but reliable. Zero credit risk = safest stream.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10972800" cy="777240"/>
          </a:xfrm>
          <a:prstGeom prst="rect">
            <a:avLst>
              <a:gd name="adj" fmla="val 9412"/>
            </a:avLst>
          </a:prstGeom>
          <a:solidFill>
            <a:srgbClr val="F5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200400"/>
            <a:ext cx="877824" cy="292608"/>
          </a:xfrm>
          <a:prstGeom prst="rect">
            <a:avLst>
              <a:gd name="adj" fmla="val 12500"/>
            </a:avLst>
          </a:prstGeom>
          <a:solidFill>
            <a:srgbClr val="FF980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91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Credit Margin (8.0%)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611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Amount: 1.10M ETB / Rate: 2.4%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0" y="329184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on B2B credit. Thin margin vulnerable to delays.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10972800" cy="777240"/>
          </a:xfrm>
          <a:prstGeom prst="rect">
            <a:avLst>
              <a:gd name="adj" fmla="val 9412"/>
            </a:avLst>
          </a:prstGeom>
          <a:solidFill>
            <a:srgbClr val="F5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160520"/>
            <a:ext cx="757123" cy="292608"/>
          </a:xfrm>
          <a:prstGeom prst="rect">
            <a:avLst>
              <a:gd name="adj" fmla="val 12500"/>
            </a:avLst>
          </a:prstGeom>
          <a:solidFill>
            <a:srgbClr val="9C27B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251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 Total Margin (6.9%)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5720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Amount: 1.11M ETB / Rate: 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0" y="425196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+ credit. Grows steadily but lower absolute values.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5120640"/>
            <a:ext cx="10972800" cy="777240"/>
          </a:xfrm>
          <a:prstGeom prst="rect">
            <a:avLst>
              <a:gd name="adj" fmla="val 9412"/>
            </a:avLst>
          </a:prstGeom>
          <a:solidFill>
            <a:srgbClr val="F5F5F5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5120640"/>
            <a:ext cx="614477" cy="292608"/>
          </a:xfrm>
          <a:prstGeom prst="rect">
            <a:avLst>
              <a:gd name="adj" fmla="val 12500"/>
            </a:avLst>
          </a:prstGeom>
          <a:solidFill>
            <a:srgbClr val="4CAF50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212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FMCG Credit Margin (5.6%)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5321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Amount: 0.89M ETB / Rate: 3%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0" y="52120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Supplementary income. Consistent across all 13 months.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6080760"/>
            <a:ext cx="11430000" cy="457200"/>
          </a:xfrm>
          <a:prstGeom prst="rect">
            <a:avLst>
              <a:gd name="adj" fmla="val 16000"/>
            </a:avLst>
          </a:prstGeom>
          <a:solidFill>
            <a:srgbClr val="F5F5F5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Margin: 16.0M ETB | Blended: 17.97% | B2B Trade = 71.4% of all margin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0" y="66294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VS CREDIT MARGIN - BY STREAM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2743200" cy="54864"/>
          </a:xfrm>
          <a:prstGeom prst="rect">
            <a:avLst/>
          </a:prstGeom>
          <a:solidFill>
            <a:srgbClr val="E536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profitability comes from trade vs. credit margins per stream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430000" cy="1554480"/>
          </a:xfrm>
          <a:prstGeom prst="rect">
            <a:avLst>
              <a:gd name="adj" fmla="val 5882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0" y="1325880"/>
            <a:ext cx="2560320" cy="365760"/>
          </a:xfrm>
          <a:prstGeom prst="rect">
            <a:avLst>
              <a:gd name="adj" fmla="val 15000"/>
            </a:avLst>
          </a:prstGeom>
          <a:solidFill>
            <a:srgbClr val="E5363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1325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Trade: 11.45M (27.4%)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0" y="1325880"/>
            <a:ext cx="2560320" cy="365760"/>
          </a:xfrm>
          <a:prstGeom prst="rect">
            <a:avLst>
              <a:gd name="adj" fmla="val 15000"/>
            </a:avLst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1325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Credit: 1.10M (2.4%)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0" y="1280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12.55M ETB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12480" y="1645920"/>
            <a:ext cx="2926080" cy="320040"/>
          </a:xfrm>
          <a:prstGeom prst="rect">
            <a:avLst>
              <a:gd name="adj" fmla="val 17143"/>
            </a:avLst>
          </a:prstGeom>
          <a:solidFill>
            <a:srgbClr val="FFEBEE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1645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(80% credit)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17830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margin is THE profit engine. Credit at 2.4% is thin. Any default rate above 2.4% destroys all credit income.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11430000" cy="1554480"/>
          </a:xfrm>
          <a:prstGeom prst="rect">
            <a:avLst>
              <a:gd name="adj" fmla="val 5882"/>
            </a:avLst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FMCG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743200" y="3063240"/>
            <a:ext cx="2560320" cy="365760"/>
          </a:xfrm>
          <a:prstGeom prst="rect">
            <a:avLst>
              <a:gd name="adj" fmla="val 15000"/>
            </a:avLst>
          </a:prstGeom>
          <a:solidFill>
            <a:srgbClr val="E53635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3063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Trade: 1.49M (8.0%)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0" y="3063240"/>
            <a:ext cx="2560320" cy="365760"/>
          </a:xfrm>
          <a:prstGeom prst="rect">
            <a:avLst>
              <a:gd name="adj" fmla="val 15000"/>
            </a:avLst>
          </a:prstGeom>
          <a:solidFill>
            <a:srgbClr val="4CAF5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0" y="3063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Credit: 0.89M (3.0%)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12480" y="3017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2.28M ETB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412480" y="3383280"/>
            <a:ext cx="2926080" cy="320040"/>
          </a:xfrm>
          <a:prstGeom prst="rect">
            <a:avLst>
              <a:gd name="adj" fmla="val 17143"/>
            </a:avLst>
          </a:prstGeom>
          <a:solidFill>
            <a:srgbClr val="E8F5E9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3383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(0% credit)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520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meaningfully adds to low trade margin. Zero credit exposure = safest stream. No default risk.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709160"/>
            <a:ext cx="11430000" cy="1554480"/>
          </a:xfrm>
          <a:prstGeom prst="rect">
            <a:avLst>
              <a:gd name="adj" fmla="val 5882"/>
            </a:avLst>
          </a:prstGeom>
          <a:solidFill>
            <a:srgbClr val="F5F5F5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754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Leader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743200" y="4800600"/>
            <a:ext cx="2560320" cy="365760"/>
          </a:xfrm>
          <a:prstGeom prst="rect">
            <a:avLst>
              <a:gd name="adj" fmla="val 15000"/>
            </a:avLst>
          </a:prstGeom>
          <a:solidFill>
            <a:srgbClr val="E53635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0" y="4800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Trade: 0.69M (8.1%)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0" y="4800600"/>
            <a:ext cx="2560320" cy="365760"/>
          </a:xfrm>
          <a:prstGeom prst="rect">
            <a:avLst>
              <a:gd name="adj" fmla="val 15000"/>
            </a:avLst>
          </a:prstGeom>
          <a:solidFill>
            <a:srgbClr val="4CAF50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0" y="4800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Credit: 0.42M (3.1%)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12480" y="4754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1.11M ETB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412480" y="5120640"/>
            <a:ext cx="2926080" cy="320040"/>
          </a:xfrm>
          <a:prstGeom prst="rect">
            <a:avLst>
              <a:gd name="adj" fmla="val 17143"/>
            </a:avLst>
          </a:prstGeom>
          <a:solidFill>
            <a:srgbClr val="FFF3E0"/>
          </a:solidFill>
          <a:ln/>
        </p:spPr>
      </p:sp>
      <p:sp>
        <p:nvSpPr>
          <p:cNvPr id="33" name="Text 31"/>
          <p:cNvSpPr/>
          <p:nvPr/>
        </p:nvSpPr>
        <p:spPr>
          <a:xfrm>
            <a:off x="8412480" y="5120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MED-HIGH (up to 80%)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52578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adds 38% of total margin. Risk: credit policy leaps 20% to 80%. Untested appetite.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 B2B trade margin (27.4%) = THE profit engine. Credit margins are thin with disproportionate risk.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601200" y="66294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MARGIN PROJECTION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2743200" cy="54864"/>
          </a:xfrm>
          <a:prstGeom prst="rect">
            <a:avLst/>
          </a:prstGeom>
          <a:solidFill>
            <a:srgbClr val="E53635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097280"/>
          <a:ext cx="11887200" cy="1828800"/>
        </p:xfrm>
        <a:graphic>
          <a:graphicData uri="http://schemas.openxmlformats.org/drawingml/2006/table">
            <a:tbl>
              <a:tblPr/>
              <a:tblGrid>
                <a:gridCol w="2011680"/>
                <a:gridCol w="758952"/>
                <a:gridCol w="758952"/>
                <a:gridCol w="758952"/>
                <a:gridCol w="758952"/>
                <a:gridCol w="758952"/>
                <a:gridCol w="758952"/>
                <a:gridCol w="758952"/>
                <a:gridCol w="758952"/>
                <a:gridCol w="758952"/>
                <a:gridCol w="758952"/>
                <a:gridCol w="758952"/>
                <a:gridCol w="758952"/>
                <a:gridCol w="758952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Apr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May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Jun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Jul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Aug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Sep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Oct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Nov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Dec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Jan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Feb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Mar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Apr</a:t>
                      </a:r>
                      <a:endParaRPr lang="en-US" sz="7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B2B Trade (25%)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53635"/>
                          </a:solidFill>
                        </a:rPr>
                        <a:t>228635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53635"/>
                          </a:solidFill>
                        </a:rPr>
                        <a:t>285793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53635"/>
                          </a:solidFill>
                        </a:rPr>
                        <a:t>357242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53635"/>
                          </a:solidFill>
                        </a:rPr>
                        <a:t>446552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53635"/>
                          </a:solidFill>
                        </a:rPr>
                        <a:t>558190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53635"/>
                          </a:solidFill>
                        </a:rPr>
                        <a:t>697738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53635"/>
                          </a:solidFill>
                        </a:rPr>
                        <a:t>802399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53635"/>
                          </a:solidFill>
                        </a:rPr>
                        <a:t>922758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53635"/>
                          </a:solidFill>
                        </a:rPr>
                        <a:t>1061172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53635"/>
                          </a:solidFill>
                        </a:rPr>
                        <a:t>1220348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53635"/>
                          </a:solidFill>
                        </a:rPr>
                        <a:t>1403400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53635"/>
                          </a:solidFill>
                        </a:rPr>
                        <a:t>1613910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53635"/>
                          </a:solidFill>
                        </a:rPr>
                        <a:t>1855997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B2B Credit (2.4%)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9800"/>
                          </a:solidFill>
                        </a:rPr>
                        <a:t>21949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9800"/>
                          </a:solidFill>
                        </a:rPr>
                        <a:t>27436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9800"/>
                          </a:solidFill>
                        </a:rPr>
                        <a:t>34295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9800"/>
                          </a:solidFill>
                        </a:rPr>
                        <a:t>42869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9800"/>
                          </a:solidFill>
                        </a:rPr>
                        <a:t>53586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9800"/>
                          </a:solidFill>
                        </a:rPr>
                        <a:t>66983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9800"/>
                          </a:solidFill>
                        </a:rPr>
                        <a:t>77030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9800"/>
                          </a:solidFill>
                        </a:rPr>
                        <a:t>88585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9800"/>
                          </a:solidFill>
                        </a:rPr>
                        <a:t>101873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9800"/>
                          </a:solidFill>
                        </a:rPr>
                        <a:t>117153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9800"/>
                          </a:solidFill>
                        </a:rPr>
                        <a:t>134726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9800"/>
                          </a:solidFill>
                        </a:rPr>
                        <a:t>154935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9800"/>
                          </a:solidFill>
                        </a:rPr>
                        <a:t>178176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FMCG Trade (5%)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565C0"/>
                          </a:solidFill>
                        </a:rPr>
                        <a:t>64580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565C0"/>
                          </a:solidFill>
                        </a:rPr>
                        <a:t>64580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565C0"/>
                          </a:solidFill>
                        </a:rPr>
                        <a:t>96870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565C0"/>
                          </a:solidFill>
                        </a:rPr>
                        <a:t>96870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565C0"/>
                          </a:solidFill>
                        </a:rPr>
                        <a:t>129160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565C0"/>
                          </a:solidFill>
                        </a:rPr>
                        <a:t>129160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565C0"/>
                          </a:solidFill>
                        </a:rPr>
                        <a:t>129160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565C0"/>
                          </a:solidFill>
                        </a:rPr>
                        <a:t>129160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565C0"/>
                          </a:solidFill>
                        </a:rPr>
                        <a:t>129160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565C0"/>
                          </a:solidFill>
                        </a:rPr>
                        <a:t>129160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565C0"/>
                          </a:solidFill>
                        </a:rPr>
                        <a:t>129160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565C0"/>
                          </a:solidFill>
                        </a:rPr>
                        <a:t>129160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565C0"/>
                          </a:solidFill>
                        </a:rPr>
                        <a:t>129160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 Margin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C27B0"/>
                          </a:solidFill>
                        </a:rPr>
                        <a:t>20000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C27B0"/>
                          </a:solidFill>
                        </a:rPr>
                        <a:t>23000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C27B0"/>
                          </a:solidFill>
                        </a:rPr>
                        <a:t>26450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C27B0"/>
                          </a:solidFill>
                        </a:rPr>
                        <a:t>30418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C27B0"/>
                          </a:solidFill>
                        </a:rPr>
                        <a:t>34980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C27B0"/>
                          </a:solidFill>
                        </a:rPr>
                        <a:t>40227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C27B0"/>
                          </a:solidFill>
                        </a:rPr>
                        <a:t>46261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C27B0"/>
                          </a:solidFill>
                        </a:rPr>
                        <a:t>53200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C27B0"/>
                          </a:solidFill>
                        </a:rPr>
                        <a:t>61180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C27B0"/>
                          </a:solidFill>
                        </a:rPr>
                        <a:t>70358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C27B0"/>
                          </a:solidFill>
                        </a:rPr>
                        <a:t>80911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C27B0"/>
                          </a:solidFill>
                        </a:rPr>
                        <a:t>93048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C27B0"/>
                          </a:solidFill>
                        </a:rPr>
                        <a:t>107005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MARGIN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379905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448770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586232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693539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886274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1054681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1182032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1327979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1520634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1717824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1944760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2205078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53635"/>
                          </a:solidFill>
                        </a:rPr>
                        <a:t>2504544</a:t>
                      </a:r>
                      <a:endParaRPr lang="en-US" sz="8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Rate Trend: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286000" y="3063240"/>
            <a:ext cx="685800" cy="457200"/>
          </a:xfrm>
          <a:prstGeom prst="rect">
            <a:avLst>
              <a:gd name="adj" fmla="val 8000"/>
            </a:avLst>
          </a:prstGeom>
          <a:solidFill>
            <a:srgbClr val="FFF3E0"/>
          </a:solidFill>
          <a:ln/>
        </p:spPr>
      </p:sp>
      <p:sp>
        <p:nvSpPr>
          <p:cNvPr id="7" name="Text 4"/>
          <p:cNvSpPr/>
          <p:nvPr/>
        </p:nvSpPr>
        <p:spPr>
          <a:xfrm>
            <a:off x="2286000" y="306324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2286000" y="32461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14.5%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035808" y="3063240"/>
            <a:ext cx="685800" cy="457200"/>
          </a:xfrm>
          <a:prstGeom prst="rect">
            <a:avLst>
              <a:gd name="adj" fmla="val 8000"/>
            </a:avLst>
          </a:prstGeom>
          <a:solidFill>
            <a:srgbClr val="FFF3E0"/>
          </a:solidFill>
          <a:ln/>
        </p:spPr>
      </p:sp>
      <p:sp>
        <p:nvSpPr>
          <p:cNvPr id="10" name="Text 7"/>
          <p:cNvSpPr/>
          <p:nvPr/>
        </p:nvSpPr>
        <p:spPr>
          <a:xfrm>
            <a:off x="3035808" y="306324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3035808" y="32461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15.3%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785616" y="3063240"/>
            <a:ext cx="685800" cy="457200"/>
          </a:xfrm>
          <a:prstGeom prst="rect">
            <a:avLst>
              <a:gd name="adj" fmla="val 8000"/>
            </a:avLst>
          </a:prstGeom>
          <a:solidFill>
            <a:srgbClr val="FFF3E0"/>
          </a:solidFill>
          <a:ln/>
        </p:spPr>
      </p:sp>
      <p:sp>
        <p:nvSpPr>
          <p:cNvPr id="13" name="Text 10"/>
          <p:cNvSpPr/>
          <p:nvPr/>
        </p:nvSpPr>
        <p:spPr>
          <a:xfrm>
            <a:off x="3785616" y="306324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3785616" y="32461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14.8%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35424" y="3063240"/>
            <a:ext cx="685800" cy="457200"/>
          </a:xfrm>
          <a:prstGeom prst="rect">
            <a:avLst>
              <a:gd name="adj" fmla="val 8000"/>
            </a:avLst>
          </a:prstGeom>
          <a:solidFill>
            <a:srgbClr val="FFF3E0"/>
          </a:solidFill>
          <a:ln/>
        </p:spPr>
      </p:sp>
      <p:sp>
        <p:nvSpPr>
          <p:cNvPr id="16" name="Text 13"/>
          <p:cNvSpPr/>
          <p:nvPr/>
        </p:nvSpPr>
        <p:spPr>
          <a:xfrm>
            <a:off x="4535424" y="306324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535424" y="32461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15.7%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85232" y="3063240"/>
            <a:ext cx="685800" cy="457200"/>
          </a:xfrm>
          <a:prstGeom prst="rect">
            <a:avLst>
              <a:gd name="adj" fmla="val 8000"/>
            </a:avLst>
          </a:prstGeom>
          <a:solidFill>
            <a:srgbClr val="FFF3E0"/>
          </a:solidFill>
          <a:ln/>
        </p:spPr>
      </p:sp>
      <p:sp>
        <p:nvSpPr>
          <p:cNvPr id="19" name="Text 16"/>
          <p:cNvSpPr/>
          <p:nvPr/>
        </p:nvSpPr>
        <p:spPr>
          <a:xfrm>
            <a:off x="5285232" y="306324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5285232" y="32461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15.7%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035040" y="3063240"/>
            <a:ext cx="685800" cy="457200"/>
          </a:xfrm>
          <a:prstGeom prst="rect">
            <a:avLst>
              <a:gd name="adj" fmla="val 8000"/>
            </a:avLst>
          </a:prstGeom>
          <a:solidFill>
            <a:srgbClr val="FFF3E0"/>
          </a:solidFill>
          <a:ln/>
        </p:spPr>
      </p:sp>
      <p:sp>
        <p:nvSpPr>
          <p:cNvPr id="22" name="Text 19"/>
          <p:cNvSpPr/>
          <p:nvPr/>
        </p:nvSpPr>
        <p:spPr>
          <a:xfrm>
            <a:off x="6035040" y="306324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6035040" y="32461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16.6%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784848" y="3063240"/>
            <a:ext cx="685800" cy="457200"/>
          </a:xfrm>
          <a:prstGeom prst="rect">
            <a:avLst>
              <a:gd name="adj" fmla="val 8000"/>
            </a:avLst>
          </a:prstGeom>
          <a:solidFill>
            <a:srgbClr val="FFF3E0"/>
          </a:solidFill>
          <a:ln/>
        </p:spPr>
      </p:sp>
      <p:sp>
        <p:nvSpPr>
          <p:cNvPr id="25" name="Text 22"/>
          <p:cNvSpPr/>
          <p:nvPr/>
        </p:nvSpPr>
        <p:spPr>
          <a:xfrm>
            <a:off x="6784848" y="306324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6784848" y="32461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17.1%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534656" y="3063240"/>
            <a:ext cx="685800" cy="457200"/>
          </a:xfrm>
          <a:prstGeom prst="rect">
            <a:avLst>
              <a:gd name="adj" fmla="val 8000"/>
            </a:avLst>
          </a:prstGeom>
          <a:solidFill>
            <a:srgbClr val="FFF3E0"/>
          </a:solidFill>
          <a:ln/>
        </p:spPr>
      </p:sp>
      <p:sp>
        <p:nvSpPr>
          <p:cNvPr id="28" name="Text 25"/>
          <p:cNvSpPr/>
          <p:nvPr/>
        </p:nvSpPr>
        <p:spPr>
          <a:xfrm>
            <a:off x="7534656" y="306324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7534656" y="32461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17.6%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284464" y="3063240"/>
            <a:ext cx="685800" cy="457200"/>
          </a:xfrm>
          <a:prstGeom prst="rect">
            <a:avLst>
              <a:gd name="adj" fmla="val 8000"/>
            </a:avLst>
          </a:prstGeom>
          <a:solidFill>
            <a:srgbClr val="FFF3E0"/>
          </a:solidFill>
          <a:ln/>
        </p:spPr>
      </p:sp>
      <p:sp>
        <p:nvSpPr>
          <p:cNvPr id="31" name="Text 28"/>
          <p:cNvSpPr/>
          <p:nvPr/>
        </p:nvSpPr>
        <p:spPr>
          <a:xfrm>
            <a:off x="8284464" y="306324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8284464" y="32461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18.4%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9034272" y="3063240"/>
            <a:ext cx="685800" cy="457200"/>
          </a:xfrm>
          <a:prstGeom prst="rect">
            <a:avLst>
              <a:gd name="adj" fmla="val 8000"/>
            </a:avLst>
          </a:prstGeom>
          <a:solidFill>
            <a:srgbClr val="FFF3E0"/>
          </a:solidFill>
          <a:ln/>
        </p:spPr>
      </p:sp>
      <p:sp>
        <p:nvSpPr>
          <p:cNvPr id="34" name="Text 31"/>
          <p:cNvSpPr/>
          <p:nvPr/>
        </p:nvSpPr>
        <p:spPr>
          <a:xfrm>
            <a:off x="9034272" y="306324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9034272" y="32461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18.8%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9784080" y="3063240"/>
            <a:ext cx="685800" cy="457200"/>
          </a:xfrm>
          <a:prstGeom prst="rect">
            <a:avLst>
              <a:gd name="adj" fmla="val 8000"/>
            </a:avLst>
          </a:prstGeom>
          <a:solidFill>
            <a:srgbClr val="FFF3E0"/>
          </a:solidFill>
          <a:ln/>
        </p:spPr>
      </p:sp>
      <p:sp>
        <p:nvSpPr>
          <p:cNvPr id="37" name="Text 34"/>
          <p:cNvSpPr/>
          <p:nvPr/>
        </p:nvSpPr>
        <p:spPr>
          <a:xfrm>
            <a:off x="9784080" y="306324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9784080" y="32461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19.3%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10533888" y="3063240"/>
            <a:ext cx="685800" cy="457200"/>
          </a:xfrm>
          <a:prstGeom prst="rect">
            <a:avLst>
              <a:gd name="adj" fmla="val 8000"/>
            </a:avLst>
          </a:prstGeom>
          <a:solidFill>
            <a:srgbClr val="FFF3E0"/>
          </a:solidFill>
          <a:ln/>
        </p:spPr>
      </p:sp>
      <p:sp>
        <p:nvSpPr>
          <p:cNvPr id="40" name="Text 37"/>
          <p:cNvSpPr/>
          <p:nvPr/>
        </p:nvSpPr>
        <p:spPr>
          <a:xfrm>
            <a:off x="10533888" y="306324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10533888" y="32461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19.7%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11283696" y="3063240"/>
            <a:ext cx="685800" cy="457200"/>
          </a:xfrm>
          <a:prstGeom prst="rect">
            <a:avLst>
              <a:gd name="adj" fmla="val 8000"/>
            </a:avLst>
          </a:prstGeom>
          <a:solidFill>
            <a:srgbClr val="FFF3E0"/>
          </a:solidFill>
          <a:ln/>
        </p:spPr>
      </p:sp>
      <p:sp>
        <p:nvSpPr>
          <p:cNvPr id="43" name="Text 40"/>
          <p:cNvSpPr/>
          <p:nvPr/>
        </p:nvSpPr>
        <p:spPr>
          <a:xfrm>
            <a:off x="11283696" y="306324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1283696" y="32461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20.0%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457200" y="3703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from 14.5% to 20.0% over 13 months: driven by B2B scale, NOT credit pricing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57200" y="4069080"/>
            <a:ext cx="11430000" cy="2286000"/>
          </a:xfrm>
          <a:prstGeom prst="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47" name="Text 44"/>
          <p:cNvSpPr/>
          <p:nvPr/>
        </p:nvSpPr>
        <p:spPr>
          <a:xfrm>
            <a:off x="640080" y="4160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Total margin grows 313K (Apr-26) to 2.37M (Apr-27) = 544% increase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40080" y="44805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Driven by B2B: fixed 25% trade margin scales linearly with volume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40080" y="4800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Credit margin stays thin: 2.4% on B2B, 3% on FMCG, 3.1% on SL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640080" y="5120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Margin rate quality improves: higher-margin B2B becomes a larger share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640080" y="5440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However, no operating expenses deducted - these are gross margins only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Net margin will be meaningfully lower once opex is factored in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9601200" y="66294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SENSITIVITY ANALYSIS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2743200" cy="54864"/>
          </a:xfrm>
          <a:prstGeom prst="rect">
            <a:avLst/>
          </a:prstGeom>
          <a:solidFill>
            <a:srgbClr val="E536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sensitive is the 16.0M ETB margin to changes in key assumptions?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6400800" cy="548640"/>
          </a:xfrm>
          <a:prstGeom prst="rect">
            <a:avLst>
              <a:gd name="adj" fmla="val 10000"/>
            </a:avLst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change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16.0M ETB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6400800" cy="548640"/>
          </a:xfrm>
          <a:prstGeom prst="rect">
            <a:avLst>
              <a:gd name="adj" fmla="val 10000"/>
            </a:avLst>
          </a:prstGeom>
          <a:solidFill>
            <a:srgbClr val="FFF3E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57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Growth -20%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286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slows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0" y="2057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13.2M ETB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057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-17%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6400800" cy="548640"/>
          </a:xfrm>
          <a:prstGeom prst="rect">
            <a:avLst>
              <a:gd name="adj" fmla="val 10000"/>
            </a:avLst>
          </a:prstGeom>
          <a:solidFill>
            <a:srgbClr val="FFF3E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7432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Margin -3pp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971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margin drops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0" y="2743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13.7M ETB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2743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-14%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6400800" cy="548640"/>
          </a:xfrm>
          <a:prstGeom prst="rect">
            <a:avLst>
              <a:gd name="adj" fmla="val 10000"/>
            </a:avLst>
          </a:prstGeom>
          <a:solidFill>
            <a:srgbClr val="FFF3E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429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 Default: 5%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657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NPL on SL credits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0" y="3429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15.5M ETB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0" y="3429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6400800" cy="548640"/>
          </a:xfrm>
          <a:prstGeom prst="rect">
            <a:avLst>
              <a:gd name="adj" fmla="val 10000"/>
            </a:avLst>
          </a:prstGeom>
          <a:solidFill>
            <a:srgbClr val="FFEBEE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114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 Default: 10%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343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NPL on SL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0" y="4114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15.1M ETB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0" y="4114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754880"/>
            <a:ext cx="6400800" cy="548640"/>
          </a:xfrm>
          <a:prstGeom prst="rect">
            <a:avLst>
              <a:gd name="adj" fmla="val 10000"/>
            </a:avLst>
          </a:prstGeom>
          <a:solidFill>
            <a:srgbClr val="FFEBEE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NPL: 5%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5029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defaults 5%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0" y="4800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14.1M ETB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0" y="4800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-12%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5440680"/>
            <a:ext cx="6400800" cy="548640"/>
          </a:xfrm>
          <a:prstGeom prst="rect">
            <a:avLst>
              <a:gd name="adj" fmla="val 10000"/>
            </a:avLst>
          </a:prstGeom>
          <a:solidFill>
            <a:srgbClr val="B71C1C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5486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Risks Combined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5715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+ margin + NPL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43200" y="5486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9.8M ETB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572000" y="5486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-39%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1325880"/>
            <a:ext cx="4572000" cy="4846320"/>
          </a:xfrm>
          <a:prstGeom prst="rect">
            <a:avLst>
              <a:gd name="adj" fmla="val 2000"/>
            </a:avLst>
          </a:prstGeom>
          <a:solidFill>
            <a:srgbClr val="F5F5F5"/>
          </a:solidFill>
          <a:ln/>
        </p:spPr>
      </p:sp>
      <p:sp>
        <p:nvSpPr>
          <p:cNvPr id="41" name="Text 39"/>
          <p:cNvSpPr/>
          <p:nvPr/>
        </p:nvSpPr>
        <p:spPr>
          <a:xfrm>
            <a:off x="7498080" y="141732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Vulnerable Levers: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498080" y="16916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B2B growth rate (51% of revenue)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498080" y="19933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B2B trade margin (71% of total margin)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498080" y="229514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SL credit policy (untested at 80%)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498080" y="259689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No NPL provision = 0% cushion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498080" y="289864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No opex model = unknown net margin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498080" y="32004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Combined downside = 39% margin loss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498080" y="350215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498080" y="380390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498080" y="410565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20% growth slowdown +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498080" y="440740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B2B NPL +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498080" y="47091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opex buffer =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498080" y="501091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falls from 16.0M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498080" y="531266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under 10M ETB.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601200" y="66294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MARGIN DEEP DIVE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2743200" cy="54864"/>
          </a:xfrm>
          <a:prstGeom prst="rect">
            <a:avLst/>
          </a:prstGeom>
          <a:solidFill>
            <a:srgbClr val="E536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accounts for 78% of total margin - the entire plan hinges on B2B performance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486400" cy="502920"/>
          </a:xfrm>
          <a:prstGeom prst="rect">
            <a:avLst>
              <a:gd name="adj" fmla="val 10909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B2B Revenue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1325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45.8M ETB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5486400" cy="502920"/>
          </a:xfrm>
          <a:prstGeom prst="rect">
            <a:avLst>
              <a:gd name="adj" fmla="val 10909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Trade Margin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1965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11.45M ETB (25%)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5486400" cy="502920"/>
          </a:xfrm>
          <a:prstGeom prst="rect">
            <a:avLst>
              <a:gd name="adj" fmla="val 10909"/>
            </a:avLst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06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Credit Margin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1.10M ETB (2.4%)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5486400" cy="502920"/>
          </a:xfrm>
          <a:prstGeom prst="rect">
            <a:avLst>
              <a:gd name="adj" fmla="val 10909"/>
            </a:avLst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461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B2B Margin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12.55M ETB (27.4%)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5486400" cy="502920"/>
          </a:xfrm>
          <a:prstGeom prst="rect">
            <a:avLst>
              <a:gd name="adj" fmla="val 10909"/>
            </a:avLst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86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vs Total Plan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3886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78.3%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480560"/>
            <a:ext cx="5486400" cy="502920"/>
          </a:xfrm>
          <a:prstGeom prst="rect">
            <a:avLst>
              <a:gd name="adj" fmla="val 10909"/>
            </a:avLst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526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Margin Share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4526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8.7% of total margin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17920" y="1280160"/>
            <a:ext cx="5943600" cy="3840480"/>
          </a:xfrm>
          <a:prstGeom prst="rect">
            <a:avLst>
              <a:gd name="adj" fmla="val 2381"/>
            </a:avLst>
          </a:prstGeom>
          <a:solidFill>
            <a:srgbClr val="FFF3E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Margin Economics: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Revenue: 45.8M ETB over 13 months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Credit extended: 36.7M ETB (80% of revenue)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2286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Credit margin: only 1.10M ETB (2.4% of credit)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Breakeven default rate: 2.4% above this, credit is unprofitable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2926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Trade margin at 25% is the real profit engine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3246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At 5% NPL, you lose 1.84M ETB vs only 1.10M credit margin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3566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Collection delays destroy the thin credit margin quickly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3886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Recommendation: treat credit as a cost of sale, not a revenue stream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4206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Focus on trade margin optimization, not credit pricing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601200" y="66294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#1: NO NPL PROVISION (CRITICAL)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2743200" cy="54864"/>
          </a:xfrm>
          <a:prstGeom prst="rect">
            <a:avLst/>
          </a:prstGeom>
          <a:solidFill>
            <a:srgbClr val="E5363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365760" cy="365760"/>
          </a:xfrm>
          <a:prstGeom prst="rect">
            <a:avLst>
              <a:gd name="adj" fmla="val 20000"/>
            </a:avLst>
          </a:prstGeom>
          <a:solidFill>
            <a:srgbClr val="B71C1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868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SEVERITY: CRITICAL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Probability: HIGH | Impact: Severe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11430000" cy="457200"/>
          </a:xfrm>
          <a:prstGeom prst="rect">
            <a:avLst>
              <a:gd name="adj" fmla="val 16000"/>
            </a:avLst>
          </a:prstGeom>
          <a:solidFill>
            <a:srgbClr val="FFEBE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assumes 100% collection on 45.0M ETB in total credits extended. Zero defaults. Zero cushion.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11430000" cy="411480"/>
          </a:xfrm>
          <a:prstGeom prst="rect">
            <a:avLst>
              <a:gd name="adj" fmla="val 8889"/>
            </a:avLst>
          </a:prstGeom>
          <a:solidFill>
            <a:srgbClr val="21212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NPL Rate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04872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Loss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06824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 Loss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08776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FMCG Loss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110728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Loss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1268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on Margin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11430000" cy="411480"/>
          </a:xfrm>
          <a:prstGeom prst="rect">
            <a:avLst>
              <a:gd name="adj" fmla="val 8889"/>
            </a:avLst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 (Minimal)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04872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367K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06824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08776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10728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1268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-2.8%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154680"/>
            <a:ext cx="11430000" cy="411480"/>
          </a:xfrm>
          <a:prstGeom prst="rect">
            <a:avLst>
              <a:gd name="adj" fmla="val 8889"/>
            </a:avLst>
          </a:prstGeom>
          <a:solidFill>
            <a:srgbClr val="F5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 (Conservative)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04872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1.10M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06824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249K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08776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10728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1.35M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01268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-8.4%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657600"/>
            <a:ext cx="11430000" cy="411480"/>
          </a:xfrm>
          <a:prstGeom prst="rect">
            <a:avLst>
              <a:gd name="adj" fmla="val 8889"/>
            </a:avLst>
          </a:prstGeom>
          <a:solidFill>
            <a:srgbClr val="F5F5F5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703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(Realistic)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04872" y="3703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1.84M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06824" y="3703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415K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08776" y="3703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110728" y="3703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2.25M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012680" y="3703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-14.0%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160520"/>
            <a:ext cx="11430000" cy="411480"/>
          </a:xfrm>
          <a:prstGeom prst="rect">
            <a:avLst>
              <a:gd name="adj" fmla="val 8889"/>
            </a:avLst>
          </a:prstGeom>
          <a:solidFill>
            <a:srgbClr val="FFEBEE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4206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 (Stressed)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404872" y="4206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2.93M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306824" y="4206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664K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08776" y="4206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10728" y="4206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3.60M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012680" y="4206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-22.4%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4572000"/>
            <a:ext cx="11430000" cy="2011680"/>
          </a:xfrm>
          <a:prstGeom prst="rect">
            <a:avLst>
              <a:gd name="adj" fmla="val 4545"/>
            </a:avLst>
          </a:prstGeom>
          <a:solidFill>
            <a:srgbClr val="F5F5F5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46634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Matters: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40080" y="49834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Ethiopian B2B credit NPL rates typically range 3-8%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0080" y="523951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Even at 3% NPL, margin drops from 16.0M to 14.6M ETB (-8.4%)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0080" y="5495544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At 5% NPL margin drops to 13.7M ETB (-14%)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40080" y="5751576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Credit margin on B2B is only 2.4%, so any NPL above 2.4% makes credit unprofitable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0080" y="600760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No provision means no early warning system for deteriorating credit quality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0080" y="62636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Investors will demand an NPL provision in any due diligence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601200" y="66294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#2: SL CREDIT JUMPS 4X (CRITICAL)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2743200" cy="54864"/>
          </a:xfrm>
          <a:prstGeom prst="rect">
            <a:avLst/>
          </a:prstGeom>
          <a:solidFill>
            <a:srgbClr val="E5363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365760" cy="365760"/>
          </a:xfrm>
          <a:prstGeom prst="rect">
            <a:avLst>
              <a:gd name="adj" fmla="val 20000"/>
            </a:avLst>
          </a:prstGeom>
          <a:solidFill>
            <a:srgbClr val="B71C1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868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SEVERITY: CRITICAL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policy shift from 20% to 80% SL credit has no gradual transition.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657600" cy="2103120"/>
          </a:xfrm>
          <a:prstGeom prst="rect">
            <a:avLst>
              <a:gd name="adj" fmla="val 4348"/>
            </a:avLst>
          </a:prstGeom>
          <a:solidFill>
            <a:srgbClr val="E8F5E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Apr-Jul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Rate: 20%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Credit: 80K-122K/mo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zone. No risk.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0" y="1463040"/>
            <a:ext cx="3657600" cy="2103120"/>
          </a:xfrm>
          <a:prstGeom prst="rect">
            <a:avLst>
              <a:gd name="adj" fmla="val 4348"/>
            </a:avLst>
          </a:prstGeom>
          <a:solidFill>
            <a:srgbClr val="FFF3E0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15544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Aug-Nov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0" y="1828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297680" y="24231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DOUBLES overnight!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build-up period.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280K-426K/mo credit.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0" y="1463040"/>
            <a:ext cx="3657600" cy="2103120"/>
          </a:xfrm>
          <a:prstGeom prst="rect">
            <a:avLst>
              <a:gd name="adj" fmla="val 4348"/>
            </a:avLst>
          </a:prstGeom>
          <a:solidFill>
            <a:srgbClr val="FFEBEE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0" y="15544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Dec-Apr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55280" y="1828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955280" y="24231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QUADRUPLES total!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979K-1.71M/mo.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risk shift.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11430000" cy="1280160"/>
          </a:xfrm>
          <a:prstGeom prst="rect">
            <a:avLst>
              <a:gd name="adj" fmla="val 7143"/>
            </a:avLst>
          </a:prstGeom>
          <a:solidFill>
            <a:srgbClr val="FFF3E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40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 not the rate itself - it is the pace of change.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11480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Jump from 20% to 40% means instant 2x exposure. No stress testing. No collections readiness.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34340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Jump from 40% to 80% means another 2x. Total 4x from baseline. Does the team have capacity?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457200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Higher-volume credit needs stronger risk controls. Phase-in: 20-&gt;30-&gt;40-&gt;55-&gt;70-&gt;80%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0" y="66294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#3: NO OPERATING EXPENSES MODEL (HIGH)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2743200" cy="54864"/>
          </a:xfrm>
          <a:prstGeom prst="rect">
            <a:avLst/>
          </a:prstGeom>
          <a:solidFill>
            <a:srgbClr val="E5363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365760" cy="365760"/>
          </a:xfrm>
          <a:prstGeom prst="rect">
            <a:avLst>
              <a:gd name="adj" fmla="val 20000"/>
            </a:avLst>
          </a:prstGeom>
          <a:solidFill>
            <a:srgbClr val="E6510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868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SEVERITY: HIGH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shows gross margins only. Net profitability is entirely unknown.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5760720" cy="411480"/>
          </a:xfrm>
          <a:prstGeom prst="rect">
            <a:avLst>
              <a:gd name="adj" fmla="val 8889"/>
            </a:avLst>
          </a:prstGeom>
          <a:solidFill>
            <a:srgbClr val="212121"/>
          </a:solidFill>
          <a:ln/>
        </p:spPr>
      </p:sp>
      <p:sp>
        <p:nvSpPr>
          <p:cNvPr id="8" name="Shape 6"/>
          <p:cNvSpPr/>
          <p:nvPr/>
        </p:nvSpPr>
        <p:spPr>
          <a:xfrm>
            <a:off x="6263640" y="1508760"/>
            <a:ext cx="2743200" cy="411480"/>
          </a:xfrm>
          <a:prstGeom prst="rect">
            <a:avLst>
              <a:gd name="adj" fmla="val 8889"/>
            </a:avLst>
          </a:prstGeom>
          <a:solidFill>
            <a:srgbClr val="212121"/>
          </a:solidFill>
          <a:ln/>
        </p:spPr>
      </p:sp>
      <p:sp>
        <p:nvSpPr>
          <p:cNvPr id="9" name="Shape 7"/>
          <p:cNvSpPr/>
          <p:nvPr/>
        </p:nvSpPr>
        <p:spPr>
          <a:xfrm>
            <a:off x="9052560" y="1508760"/>
            <a:ext cx="2834640" cy="411480"/>
          </a:xfrm>
          <a:prstGeom prst="rect">
            <a:avLst>
              <a:gd name="adj" fmla="val 8889"/>
            </a:avLst>
          </a:prstGeom>
          <a:solidFill>
            <a:srgbClr val="21212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554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(sales, ops, tech)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300K-800K/mo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23544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3.6M-9.6M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5760720" cy="411480"/>
          </a:xfrm>
          <a:prstGeom prst="rect">
            <a:avLst>
              <a:gd name="adj" fmla="val 8889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3640" y="2011680"/>
            <a:ext cx="2743200" cy="411480"/>
          </a:xfrm>
          <a:prstGeom prst="rect">
            <a:avLst>
              <a:gd name="adj" fmla="val 8889"/>
            </a:avLst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0" y="2011680"/>
            <a:ext cx="2834640" cy="411480"/>
          </a:xfrm>
          <a:prstGeom prst="rect">
            <a:avLst>
              <a:gd name="adj" fmla="val 8889"/>
            </a:avLst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057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Technology/Platform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50K-150K/mo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235440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600K-1.8M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5760720" cy="411480"/>
          </a:xfrm>
          <a:prstGeom prst="rect">
            <a:avLst>
              <a:gd name="adj" fmla="val 8889"/>
            </a:avLst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2514600"/>
            <a:ext cx="2743200" cy="411480"/>
          </a:xfrm>
          <a:prstGeom prst="rect">
            <a:avLst>
              <a:gd name="adj" fmla="val 8889"/>
            </a:avLst>
          </a:prstGeom>
          <a:solidFill>
            <a:srgbClr val="F5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9052560" y="2514600"/>
            <a:ext cx="2834640" cy="411480"/>
          </a:xfrm>
          <a:prstGeom prst="rect">
            <a:avLst>
              <a:gd name="adj" fmla="val 8889"/>
            </a:avLst>
          </a:prstGeom>
          <a:solidFill>
            <a:srgbClr val="F5F5F5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560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Marketing/Customer Acq.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2560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100K-300K/mo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235440" y="2560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1.2M-3.6M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017520"/>
            <a:ext cx="5760720" cy="411480"/>
          </a:xfrm>
          <a:prstGeom prst="rect">
            <a:avLst>
              <a:gd name="adj" fmla="val 8889"/>
            </a:avLst>
          </a:prstGeom>
          <a:solidFill>
            <a:srgbClr val="F5F5F5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3640" y="3017520"/>
            <a:ext cx="2743200" cy="411480"/>
          </a:xfrm>
          <a:prstGeom prst="rect">
            <a:avLst>
              <a:gd name="adj" fmla="val 8889"/>
            </a:avLst>
          </a:prstGeom>
          <a:solidFill>
            <a:srgbClr val="F5F5F5"/>
          </a:solidFill>
          <a:ln/>
        </p:spPr>
      </p:sp>
      <p:sp>
        <p:nvSpPr>
          <p:cNvPr id="27" name="Shape 25"/>
          <p:cNvSpPr/>
          <p:nvPr/>
        </p:nvSpPr>
        <p:spPr>
          <a:xfrm>
            <a:off x="9052560" y="3017520"/>
            <a:ext cx="2834640" cy="411480"/>
          </a:xfrm>
          <a:prstGeom prst="rect">
            <a:avLst>
              <a:gd name="adj" fmla="val 8889"/>
            </a:avLst>
          </a:prstGeom>
          <a:solidFill>
            <a:srgbClr val="F5F5F5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063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Logistics/Delivery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3063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100K-250K/mo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235440" y="3063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1.2M-3.0M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520440"/>
            <a:ext cx="5760720" cy="411480"/>
          </a:xfrm>
          <a:prstGeom prst="rect">
            <a:avLst>
              <a:gd name="adj" fmla="val 8889"/>
            </a:avLst>
          </a:prstGeom>
          <a:solidFill>
            <a:srgbClr val="F5F5F5"/>
          </a:solidFill>
          <a:ln/>
        </p:spPr>
      </p:sp>
      <p:sp>
        <p:nvSpPr>
          <p:cNvPr id="32" name="Shape 30"/>
          <p:cNvSpPr/>
          <p:nvPr/>
        </p:nvSpPr>
        <p:spPr>
          <a:xfrm>
            <a:off x="6263640" y="3520440"/>
            <a:ext cx="2743200" cy="411480"/>
          </a:xfrm>
          <a:prstGeom prst="rect">
            <a:avLst>
              <a:gd name="adj" fmla="val 8889"/>
            </a:avLst>
          </a:prstGeom>
          <a:solidFill>
            <a:srgbClr val="F5F5F5"/>
          </a:solidFill>
          <a:ln/>
        </p:spPr>
      </p:sp>
      <p:sp>
        <p:nvSpPr>
          <p:cNvPr id="33" name="Shape 31"/>
          <p:cNvSpPr/>
          <p:nvPr/>
        </p:nvSpPr>
        <p:spPr>
          <a:xfrm>
            <a:off x="9052560" y="3520440"/>
            <a:ext cx="2834640" cy="411480"/>
          </a:xfrm>
          <a:prstGeom prst="rect">
            <a:avLst>
              <a:gd name="adj" fmla="val 8889"/>
            </a:avLst>
          </a:prstGeom>
          <a:solidFill>
            <a:srgbClr val="F5F5F5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Office/Admin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3566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30K-80K/mo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235440" y="3566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360K-960K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023360"/>
            <a:ext cx="5760720" cy="411480"/>
          </a:xfrm>
          <a:prstGeom prst="rect">
            <a:avLst>
              <a:gd name="adj" fmla="val 8889"/>
            </a:avLst>
          </a:prstGeom>
          <a:solidFill>
            <a:srgbClr val="F5F5F5"/>
          </a:solidFill>
          <a:ln/>
        </p:spPr>
      </p:sp>
      <p:sp>
        <p:nvSpPr>
          <p:cNvPr id="38" name="Shape 36"/>
          <p:cNvSpPr/>
          <p:nvPr/>
        </p:nvSpPr>
        <p:spPr>
          <a:xfrm>
            <a:off x="6263640" y="4023360"/>
            <a:ext cx="2743200" cy="411480"/>
          </a:xfrm>
          <a:prstGeom prst="rect">
            <a:avLst>
              <a:gd name="adj" fmla="val 8889"/>
            </a:avLst>
          </a:prstGeom>
          <a:solidFill>
            <a:srgbClr val="F5F5F5"/>
          </a:solidFill>
          <a:ln/>
        </p:spPr>
      </p:sp>
      <p:sp>
        <p:nvSpPr>
          <p:cNvPr id="39" name="Shape 37"/>
          <p:cNvSpPr/>
          <p:nvPr/>
        </p:nvSpPr>
        <p:spPr>
          <a:xfrm>
            <a:off x="9052560" y="4023360"/>
            <a:ext cx="2834640" cy="411480"/>
          </a:xfrm>
          <a:prstGeom prst="rect">
            <a:avLst>
              <a:gd name="adj" fmla="val 8889"/>
            </a:avLst>
          </a:prstGeom>
          <a:solidFill>
            <a:srgbClr val="F5F5F5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" y="4069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Admin/Collections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00800" y="4069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50K-150K/mo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235440" y="4069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600K-1.8M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4526280"/>
            <a:ext cx="5760720" cy="411480"/>
          </a:xfrm>
          <a:prstGeom prst="rect">
            <a:avLst>
              <a:gd name="adj" fmla="val 8889"/>
            </a:avLst>
          </a:prstGeom>
          <a:solidFill>
            <a:srgbClr val="B71C1C"/>
          </a:solidFill>
          <a:ln/>
        </p:spPr>
      </p:sp>
      <p:sp>
        <p:nvSpPr>
          <p:cNvPr id="44" name="Shape 42"/>
          <p:cNvSpPr/>
          <p:nvPr/>
        </p:nvSpPr>
        <p:spPr>
          <a:xfrm>
            <a:off x="6263640" y="4526280"/>
            <a:ext cx="2743200" cy="411480"/>
          </a:xfrm>
          <a:prstGeom prst="rect">
            <a:avLst>
              <a:gd name="adj" fmla="val 8889"/>
            </a:avLst>
          </a:prstGeom>
          <a:solidFill>
            <a:srgbClr val="B71C1C"/>
          </a:solidFill>
          <a:ln/>
        </p:spPr>
      </p:sp>
      <p:sp>
        <p:nvSpPr>
          <p:cNvPr id="45" name="Shape 43"/>
          <p:cNvSpPr/>
          <p:nvPr/>
        </p:nvSpPr>
        <p:spPr>
          <a:xfrm>
            <a:off x="9052560" y="4526280"/>
            <a:ext cx="2834640" cy="411480"/>
          </a:xfrm>
          <a:prstGeom prst="rect">
            <a:avLst>
              <a:gd name="adj" fmla="val 8889"/>
            </a:avLst>
          </a:prstGeom>
          <a:solidFill>
            <a:srgbClr val="B71C1C"/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" y="4572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Estimated OPEX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00800" y="4572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630K-1.73M/mo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235440" y="4572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7.6M-20.8M total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5120640"/>
            <a:ext cx="11430000" cy="1371600"/>
          </a:xfrm>
          <a:prstGeom prst="rect">
            <a:avLst>
              <a:gd name="adj" fmla="val 6667"/>
            </a:avLst>
          </a:prstGeom>
          <a:solidFill>
            <a:srgbClr val="E8F5E9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" y="52120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on Profitability: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40080" y="548640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Gross margin: 16.0M ETB over 13 months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40080" y="5687568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Estimated OPEX: 7.6M-20.8M ETB over 13 months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40080" y="5888736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Net margin range: -4.8M (worst) to +9.4M ETB (best)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0080" y="6089904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At median OPEX of ~14M, net margin is only ~2M ETB (1.7% net rate)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40080" y="6291072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 plan is borderline: high OPEX could make it entirely unprofitable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601200" y="66294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ChipChip Credit Financial Plan Analysis</dc:title>
  <dc:subject>PptxGenJS Presentation</dc:subject>
  <dc:creator>ChipChip</dc:creator>
  <cp:lastModifiedBy>ChipChip</cp:lastModifiedBy>
  <cp:revision>1</cp:revision>
  <dcterms:created xsi:type="dcterms:W3CDTF">2026-03-31T12:14:25Z</dcterms:created>
  <dcterms:modified xsi:type="dcterms:W3CDTF">2026-03-31T12:14:25Z</dcterms:modified>
</cp:coreProperties>
</file>