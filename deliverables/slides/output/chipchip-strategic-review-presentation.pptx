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6858000" y="-1097280"/>
            <a:ext cx="3200400" cy="3200400"/>
          </a:xfrm>
          <a:prstGeom prst="ellipse">
            <a:avLst/>
          </a:prstGeom>
          <a:solidFill>
            <a:srgbClr val="E53935">
              <a:alpha val="8000"/>
            </a:srgbClr>
          </a:solidFill>
          <a:ln/>
        </p:spPr>
      </p:sp>
      <p:sp>
        <p:nvSpPr>
          <p:cNvPr id="4" name="Shape 2"/>
          <p:cNvSpPr/>
          <p:nvPr/>
        </p:nvSpPr>
        <p:spPr>
          <a:xfrm>
            <a:off x="7772400" y="731520"/>
            <a:ext cx="1645920" cy="1645920"/>
          </a:xfrm>
          <a:prstGeom prst="ellipse">
            <a:avLst/>
          </a:prstGeom>
          <a:solidFill>
            <a:srgbClr val="E53935">
              <a:alpha val="12000"/>
            </a:srgbClr>
          </a:solidFill>
          <a:ln/>
        </p:spPr>
      </p:sp>
      <p:sp>
        <p:nvSpPr>
          <p:cNvPr id="5" name="Shape 3"/>
          <p:cNvSpPr/>
          <p:nvPr/>
        </p:nvSpPr>
        <p:spPr>
          <a:xfrm>
            <a:off x="-914400" y="3840480"/>
            <a:ext cx="2743200" cy="2743200"/>
          </a:xfrm>
          <a:prstGeom prst="ellipse">
            <a:avLst/>
          </a:prstGeom>
          <a:solidFill>
            <a:srgbClr val="E53935">
              <a:alpha val="6000"/>
            </a:srgbClr>
          </a:solidFill>
          <a:ln/>
        </p:spPr>
      </p:sp>
      <p:sp>
        <p:nvSpPr>
          <p:cNvPr id="6" name="Text 4"/>
          <p:cNvSpPr/>
          <p:nvPr/>
        </p:nvSpPr>
        <p:spPr>
          <a:xfrm>
            <a:off x="731520" y="457200"/>
            <a:ext cx="4572000" cy="548640"/>
          </a:xfrm>
          <a:prstGeom prst="rect">
            <a:avLst/>
          </a:prstGeom>
          <a:noFill/>
          <a:ln/>
        </p:spPr>
        <p:txBody>
          <a:bodyPr wrap="square" lIns="0" tIns="0" rIns="0" bIns="0" rtlCol="0" anchor="ctr"/>
          <a:lstStyle/>
          <a:p>
            <a:pPr indent="0" marL="0">
              <a:buNone/>
            </a:pPr>
            <a:r>
              <a:rPr lang="en-US" sz="2000" b="1" spc="800" kern="0" dirty="0">
                <a:solidFill>
                  <a:srgbClr val="E53935"/>
                </a:solidFill>
                <a:latin typeface="Arial" pitchFamily="34" charset="0"/>
                <a:ea typeface="Arial" pitchFamily="34" charset="-122"/>
                <a:cs typeface="Arial" pitchFamily="34" charset="-120"/>
              </a:rPr>
              <a:t>CHIPCHIP</a:t>
            </a:r>
            <a:endParaRPr lang="en-US" sz="2000" dirty="0"/>
          </a:p>
        </p:txBody>
      </p:sp>
      <p:sp>
        <p:nvSpPr>
          <p:cNvPr id="7" name="Shape 5"/>
          <p:cNvSpPr/>
          <p:nvPr/>
        </p:nvSpPr>
        <p:spPr>
          <a:xfrm>
            <a:off x="731520" y="1097280"/>
            <a:ext cx="1097280" cy="54864"/>
          </a:xfrm>
          <a:prstGeom prst="rect">
            <a:avLst/>
          </a:prstGeom>
          <a:solidFill>
            <a:srgbClr val="E53935"/>
          </a:solidFill>
          <a:ln/>
        </p:spPr>
      </p:sp>
      <p:sp>
        <p:nvSpPr>
          <p:cNvPr id="8" name="Text 6"/>
          <p:cNvSpPr/>
          <p:nvPr/>
        </p:nvSpPr>
        <p:spPr>
          <a:xfrm>
            <a:off x="731520" y="1463040"/>
            <a:ext cx="6400800" cy="1371600"/>
          </a:xfrm>
          <a:prstGeom prst="rect">
            <a:avLst/>
          </a:prstGeom>
          <a:noFill/>
          <a:ln/>
        </p:spPr>
        <p:txBody>
          <a:bodyPr wrap="square" lIns="0" tIns="0" rIns="0" bIns="0" rtlCol="0" anchor="ctr"/>
          <a:lstStyle/>
          <a:p>
            <a:pPr indent="0" marL="0">
              <a:buNone/>
            </a:pPr>
            <a:r>
              <a:rPr lang="en-US" sz="5200" b="1" dirty="0">
                <a:solidFill>
                  <a:srgbClr val="1A1A1A"/>
                </a:solidFill>
                <a:latin typeface="Arial" pitchFamily="34" charset="0"/>
                <a:ea typeface="Arial" pitchFamily="34" charset="-122"/>
                <a:cs typeface="Arial" pitchFamily="34" charset="-120"/>
              </a:rPr>
              <a:t>Strategic Review</a:t>
            </a:r>
            <a:endParaRPr lang="en-US" sz="5200" dirty="0"/>
          </a:p>
        </p:txBody>
      </p:sp>
      <p:sp>
        <p:nvSpPr>
          <p:cNvPr id="9" name="Text 7"/>
          <p:cNvSpPr/>
          <p:nvPr/>
        </p:nvSpPr>
        <p:spPr>
          <a:xfrm>
            <a:off x="731520" y="2834640"/>
            <a:ext cx="6400800" cy="914400"/>
          </a:xfrm>
          <a:prstGeom prst="rect">
            <a:avLst/>
          </a:prstGeom>
          <a:noFill/>
          <a:ln/>
        </p:spPr>
        <p:txBody>
          <a:bodyPr wrap="square" lIns="0" tIns="0" rIns="0" bIns="0" rtlCol="0" anchor="ctr"/>
          <a:lstStyle/>
          <a:p>
            <a:pPr indent="0" marL="0">
              <a:buNone/>
            </a:pPr>
            <a:r>
              <a:rPr lang="en-US" sz="5200" b="1" dirty="0">
                <a:solidFill>
                  <a:srgbClr val="E53935"/>
                </a:solidFill>
                <a:latin typeface="Arial" pitchFamily="34" charset="0"/>
                <a:ea typeface="Arial" pitchFamily="34" charset="-122"/>
                <a:cs typeface="Arial" pitchFamily="34" charset="-120"/>
              </a:rPr>
              <a:t>Q1 2026</a:t>
            </a:r>
            <a:endParaRPr lang="en-US" sz="5200" dirty="0"/>
          </a:p>
        </p:txBody>
      </p:sp>
      <p:sp>
        <p:nvSpPr>
          <p:cNvPr id="10" name="Text 8"/>
          <p:cNvSpPr/>
          <p:nvPr/>
        </p:nvSpPr>
        <p:spPr>
          <a:xfrm>
            <a:off x="731520" y="3749040"/>
            <a:ext cx="5943600" cy="914400"/>
          </a:xfrm>
          <a:prstGeom prst="rect">
            <a:avLst/>
          </a:prstGeom>
          <a:noFill/>
          <a:ln/>
        </p:spPr>
        <p:txBody>
          <a:bodyPr wrap="square" lIns="0" tIns="0" rIns="0" bIns="0" rtlCol="0" anchor="ctr"/>
          <a:lstStyle/>
          <a:p>
            <a:pPr indent="0" marL="0">
              <a:lnSpc>
                <a:spcPct val="140000"/>
              </a:lnSpc>
              <a:buNone/>
            </a:pPr>
            <a:r>
              <a:rPr lang="en-US" sz="1400" dirty="0">
                <a:solidFill>
                  <a:srgbClr val="666666"/>
                </a:solidFill>
                <a:latin typeface="Arial" pitchFamily="34" charset="0"/>
                <a:ea typeface="Arial" pitchFamily="34" charset="-122"/>
                <a:cs typeface="Arial" pitchFamily="34" charset="-120"/>
              </a:rPr>
              <a:t>Asset-Light Food Trade Infrastructure — Ethiopia</a:t>
            </a:r>
            <a:endParaRPr lang="en-US" sz="1400" dirty="0"/>
          </a:p>
          <a:p>
            <a:pPr indent="0" marL="0">
              <a:lnSpc>
                <a:spcPct val="140000"/>
              </a:lnSpc>
              <a:buNone/>
            </a:pPr>
            <a:r>
              <a:rPr lang="en-US" sz="1400" dirty="0">
                <a:solidFill>
                  <a:srgbClr val="666666"/>
                </a:solidFill>
                <a:latin typeface="Arial" pitchFamily="34" charset="0"/>
                <a:ea typeface="Arial" pitchFamily="34" charset="-122"/>
                <a:cs typeface="Arial" pitchFamily="34" charset="-120"/>
              </a:rPr>
              <a:t>Lead Designer: Lidya  |  DevOps: Henok</a:t>
            </a:r>
            <a:endParaRPr lang="en-US" sz="1400" dirty="0"/>
          </a:p>
        </p:txBody>
      </p:sp>
      <p:sp>
        <p:nvSpPr>
          <p:cNvPr id="11" name="Shape 9"/>
          <p:cNvSpPr/>
          <p:nvPr/>
        </p:nvSpPr>
        <p:spPr>
          <a:xfrm>
            <a:off x="6675120" y="4389120"/>
            <a:ext cx="1828800" cy="411480"/>
          </a:xfrm>
          <a:prstGeom prst="roundRect">
            <a:avLst>
              <a:gd name="adj" fmla="val 48889"/>
            </a:avLst>
          </a:prstGeom>
          <a:solidFill>
            <a:srgbClr val="E53935"/>
          </a:solidFill>
          <a:ln/>
        </p:spPr>
      </p:sp>
      <p:sp>
        <p:nvSpPr>
          <p:cNvPr id="12" name="Text 10"/>
          <p:cNvSpPr/>
          <p:nvPr/>
        </p:nvSpPr>
        <p:spPr>
          <a:xfrm>
            <a:off x="6675120" y="4389120"/>
            <a:ext cx="182880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731520" y="457200"/>
            <a:ext cx="4572000" cy="548640"/>
          </a:xfrm>
          <a:prstGeom prst="rect">
            <a:avLst/>
          </a:prstGeom>
          <a:noFill/>
          <a:ln/>
        </p:spPr>
        <p:txBody>
          <a:bodyPr wrap="square" lIns="0" tIns="0" rIns="0" bIns="0" rtlCol="0" anchor="ctr"/>
          <a:lstStyle/>
          <a:p>
            <a:pPr indent="0" marL="0">
              <a:buNone/>
            </a:pPr>
            <a:r>
              <a:rPr lang="en-US" sz="1400" b="1" spc="400" kern="0" dirty="0">
                <a:solidFill>
                  <a:srgbClr val="E53935"/>
                </a:solidFill>
                <a:latin typeface="Arial" pitchFamily="34" charset="0"/>
                <a:ea typeface="Arial" pitchFamily="34" charset="-122"/>
                <a:cs typeface="Arial" pitchFamily="34" charset="-120"/>
              </a:rPr>
              <a:t>TABLE OF CONTENTS</a:t>
            </a:r>
            <a:endParaRPr lang="en-US" sz="1400" dirty="0"/>
          </a:p>
        </p:txBody>
      </p:sp>
      <p:sp>
        <p:nvSpPr>
          <p:cNvPr id="4" name="Shape 2"/>
          <p:cNvSpPr/>
          <p:nvPr/>
        </p:nvSpPr>
        <p:spPr>
          <a:xfrm>
            <a:off x="731520" y="1188720"/>
            <a:ext cx="457200" cy="457200"/>
          </a:xfrm>
          <a:prstGeom prst="roundRect">
            <a:avLst>
              <a:gd name="adj" fmla="val 50000"/>
            </a:avLst>
          </a:prstGeom>
          <a:solidFill>
            <a:srgbClr val="E53935"/>
          </a:solidFill>
          <a:ln/>
        </p:spPr>
      </p:sp>
      <p:sp>
        <p:nvSpPr>
          <p:cNvPr id="5" name="Text 3"/>
          <p:cNvSpPr/>
          <p:nvPr/>
        </p:nvSpPr>
        <p:spPr>
          <a:xfrm>
            <a:off x="731520" y="11887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6" name="Text 4"/>
          <p:cNvSpPr/>
          <p:nvPr/>
        </p:nvSpPr>
        <p:spPr>
          <a:xfrm>
            <a:off x="1325880" y="1188720"/>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Executive Summary</a:t>
            </a:r>
            <a:endParaRPr lang="en-US" sz="1600" dirty="0"/>
          </a:p>
        </p:txBody>
      </p:sp>
      <p:sp>
        <p:nvSpPr>
          <p:cNvPr id="7" name="Shape 5"/>
          <p:cNvSpPr/>
          <p:nvPr/>
        </p:nvSpPr>
        <p:spPr>
          <a:xfrm>
            <a:off x="731520" y="1938528"/>
            <a:ext cx="457200" cy="457200"/>
          </a:xfrm>
          <a:prstGeom prst="roundRect">
            <a:avLst>
              <a:gd name="adj" fmla="val 50000"/>
            </a:avLst>
          </a:prstGeom>
          <a:solidFill>
            <a:srgbClr val="E53935">
              <a:alpha val="85000"/>
            </a:srgbClr>
          </a:solidFill>
          <a:ln/>
        </p:spPr>
      </p:sp>
      <p:sp>
        <p:nvSpPr>
          <p:cNvPr id="8" name="Text 6"/>
          <p:cNvSpPr/>
          <p:nvPr/>
        </p:nvSpPr>
        <p:spPr>
          <a:xfrm>
            <a:off x="731520" y="1938528"/>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9" name="Text 7"/>
          <p:cNvSpPr/>
          <p:nvPr/>
        </p:nvSpPr>
        <p:spPr>
          <a:xfrm>
            <a:off x="1325880" y="1938528"/>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Company Vision &amp; Identity</a:t>
            </a:r>
            <a:endParaRPr lang="en-US" sz="1600" dirty="0"/>
          </a:p>
        </p:txBody>
      </p:sp>
      <p:sp>
        <p:nvSpPr>
          <p:cNvPr id="10" name="Shape 8"/>
          <p:cNvSpPr/>
          <p:nvPr/>
        </p:nvSpPr>
        <p:spPr>
          <a:xfrm>
            <a:off x="731520" y="2688336"/>
            <a:ext cx="457200" cy="457200"/>
          </a:xfrm>
          <a:prstGeom prst="roundRect">
            <a:avLst>
              <a:gd name="adj" fmla="val 50000"/>
            </a:avLst>
          </a:prstGeom>
          <a:solidFill>
            <a:srgbClr val="E53935">
              <a:alpha val="85000"/>
            </a:srgbClr>
          </a:solidFill>
          <a:ln/>
        </p:spPr>
      </p:sp>
      <p:sp>
        <p:nvSpPr>
          <p:cNvPr id="11" name="Text 9"/>
          <p:cNvSpPr/>
          <p:nvPr/>
        </p:nvSpPr>
        <p:spPr>
          <a:xfrm>
            <a:off x="731520" y="2688336"/>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2" name="Text 10"/>
          <p:cNvSpPr/>
          <p:nvPr/>
        </p:nvSpPr>
        <p:spPr>
          <a:xfrm>
            <a:off x="1325880" y="2688336"/>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Business Model &amp; Revenue</a:t>
            </a:r>
            <a:endParaRPr lang="en-US" sz="1600" dirty="0"/>
          </a:p>
        </p:txBody>
      </p:sp>
      <p:sp>
        <p:nvSpPr>
          <p:cNvPr id="13" name="Shape 11"/>
          <p:cNvSpPr/>
          <p:nvPr/>
        </p:nvSpPr>
        <p:spPr>
          <a:xfrm>
            <a:off x="731520" y="3438144"/>
            <a:ext cx="457200" cy="457200"/>
          </a:xfrm>
          <a:prstGeom prst="roundRect">
            <a:avLst>
              <a:gd name="adj" fmla="val 50000"/>
            </a:avLst>
          </a:prstGeom>
          <a:solidFill>
            <a:srgbClr val="E53935">
              <a:alpha val="85000"/>
            </a:srgbClr>
          </a:solidFill>
          <a:ln/>
        </p:spPr>
      </p:sp>
      <p:sp>
        <p:nvSpPr>
          <p:cNvPr id="14" name="Text 12"/>
          <p:cNvSpPr/>
          <p:nvPr/>
        </p:nvSpPr>
        <p:spPr>
          <a:xfrm>
            <a:off x="731520" y="343814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15" name="Text 13"/>
          <p:cNvSpPr/>
          <p:nvPr/>
        </p:nvSpPr>
        <p:spPr>
          <a:xfrm>
            <a:off x="1325880" y="3438144"/>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Performance Analytics</a:t>
            </a:r>
            <a:endParaRPr lang="en-US" sz="1600" dirty="0"/>
          </a:p>
        </p:txBody>
      </p:sp>
      <p:sp>
        <p:nvSpPr>
          <p:cNvPr id="16" name="Shape 14"/>
          <p:cNvSpPr/>
          <p:nvPr/>
        </p:nvSpPr>
        <p:spPr>
          <a:xfrm>
            <a:off x="731520" y="4187952"/>
            <a:ext cx="457200" cy="457200"/>
          </a:xfrm>
          <a:prstGeom prst="roundRect">
            <a:avLst>
              <a:gd name="adj" fmla="val 50000"/>
            </a:avLst>
          </a:prstGeom>
          <a:solidFill>
            <a:srgbClr val="E53935">
              <a:alpha val="85000"/>
            </a:srgbClr>
          </a:solidFill>
          <a:ln/>
        </p:spPr>
      </p:sp>
      <p:sp>
        <p:nvSpPr>
          <p:cNvPr id="17" name="Text 15"/>
          <p:cNvSpPr/>
          <p:nvPr/>
        </p:nvSpPr>
        <p:spPr>
          <a:xfrm>
            <a:off x="731520" y="418795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05</a:t>
            </a:r>
            <a:endParaRPr lang="en-US" sz="1600" dirty="0"/>
          </a:p>
        </p:txBody>
      </p:sp>
      <p:sp>
        <p:nvSpPr>
          <p:cNvPr id="18" name="Text 16"/>
          <p:cNvSpPr/>
          <p:nvPr/>
        </p:nvSpPr>
        <p:spPr>
          <a:xfrm>
            <a:off x="1325880" y="4187952"/>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Channel &amp; Product Insights</a:t>
            </a:r>
            <a:endParaRPr lang="en-US" sz="1600" dirty="0"/>
          </a:p>
        </p:txBody>
      </p:sp>
      <p:sp>
        <p:nvSpPr>
          <p:cNvPr id="19" name="Shape 17"/>
          <p:cNvSpPr/>
          <p:nvPr/>
        </p:nvSpPr>
        <p:spPr>
          <a:xfrm>
            <a:off x="5029200" y="1188720"/>
            <a:ext cx="457200" cy="457200"/>
          </a:xfrm>
          <a:prstGeom prst="roundRect">
            <a:avLst>
              <a:gd name="adj" fmla="val 50000"/>
            </a:avLst>
          </a:prstGeom>
          <a:solidFill>
            <a:srgbClr val="E53935">
              <a:alpha val="80000"/>
            </a:srgbClr>
          </a:solidFill>
          <a:ln/>
        </p:spPr>
      </p:sp>
      <p:sp>
        <p:nvSpPr>
          <p:cNvPr id="20" name="Text 18"/>
          <p:cNvSpPr/>
          <p:nvPr/>
        </p:nvSpPr>
        <p:spPr>
          <a:xfrm>
            <a:off x="5029200" y="11887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06</a:t>
            </a:r>
            <a:endParaRPr lang="en-US" sz="1600" dirty="0"/>
          </a:p>
        </p:txBody>
      </p:sp>
      <p:sp>
        <p:nvSpPr>
          <p:cNvPr id="21" name="Text 19"/>
          <p:cNvSpPr/>
          <p:nvPr/>
        </p:nvSpPr>
        <p:spPr>
          <a:xfrm>
            <a:off x="5623560" y="1188720"/>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Competitive Landscape</a:t>
            </a:r>
            <a:endParaRPr lang="en-US" sz="1600" dirty="0"/>
          </a:p>
        </p:txBody>
      </p:sp>
      <p:sp>
        <p:nvSpPr>
          <p:cNvPr id="22" name="Shape 20"/>
          <p:cNvSpPr/>
          <p:nvPr/>
        </p:nvSpPr>
        <p:spPr>
          <a:xfrm>
            <a:off x="5029200" y="1938528"/>
            <a:ext cx="457200" cy="457200"/>
          </a:xfrm>
          <a:prstGeom prst="roundRect">
            <a:avLst>
              <a:gd name="adj" fmla="val 50000"/>
            </a:avLst>
          </a:prstGeom>
          <a:solidFill>
            <a:srgbClr val="E53935">
              <a:alpha val="80000"/>
            </a:srgbClr>
          </a:solidFill>
          <a:ln/>
        </p:spPr>
      </p:sp>
      <p:sp>
        <p:nvSpPr>
          <p:cNvPr id="23" name="Text 21"/>
          <p:cNvSpPr/>
          <p:nvPr/>
        </p:nvSpPr>
        <p:spPr>
          <a:xfrm>
            <a:off x="5029200" y="1938528"/>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07</a:t>
            </a:r>
            <a:endParaRPr lang="en-US" sz="1600" dirty="0"/>
          </a:p>
        </p:txBody>
      </p:sp>
      <p:sp>
        <p:nvSpPr>
          <p:cNvPr id="24" name="Text 22"/>
          <p:cNvSpPr/>
          <p:nvPr/>
        </p:nvSpPr>
        <p:spPr>
          <a:xfrm>
            <a:off x="5623560" y="1938528"/>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Risk Assessment</a:t>
            </a:r>
            <a:endParaRPr lang="en-US" sz="1600" dirty="0"/>
          </a:p>
        </p:txBody>
      </p:sp>
      <p:sp>
        <p:nvSpPr>
          <p:cNvPr id="25" name="Shape 23"/>
          <p:cNvSpPr/>
          <p:nvPr/>
        </p:nvSpPr>
        <p:spPr>
          <a:xfrm>
            <a:off x="5029200" y="2688336"/>
            <a:ext cx="457200" cy="457200"/>
          </a:xfrm>
          <a:prstGeom prst="roundRect">
            <a:avLst>
              <a:gd name="adj" fmla="val 50000"/>
            </a:avLst>
          </a:prstGeom>
          <a:solidFill>
            <a:srgbClr val="E53935">
              <a:alpha val="80000"/>
            </a:srgbClr>
          </a:solidFill>
          <a:ln/>
        </p:spPr>
      </p:sp>
      <p:sp>
        <p:nvSpPr>
          <p:cNvPr id="26" name="Text 24"/>
          <p:cNvSpPr/>
          <p:nvPr/>
        </p:nvSpPr>
        <p:spPr>
          <a:xfrm>
            <a:off x="5029200" y="2688336"/>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08</a:t>
            </a:r>
            <a:endParaRPr lang="en-US" sz="1600" dirty="0"/>
          </a:p>
        </p:txBody>
      </p:sp>
      <p:sp>
        <p:nvSpPr>
          <p:cNvPr id="27" name="Text 25"/>
          <p:cNvSpPr/>
          <p:nvPr/>
        </p:nvSpPr>
        <p:spPr>
          <a:xfrm>
            <a:off x="5623560" y="2688336"/>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Strategic Recommendations</a:t>
            </a:r>
            <a:endParaRPr lang="en-US" sz="1600" dirty="0"/>
          </a:p>
        </p:txBody>
      </p:sp>
      <p:sp>
        <p:nvSpPr>
          <p:cNvPr id="28" name="Shape 26"/>
          <p:cNvSpPr/>
          <p:nvPr/>
        </p:nvSpPr>
        <p:spPr>
          <a:xfrm>
            <a:off x="5029200" y="3438144"/>
            <a:ext cx="457200" cy="457200"/>
          </a:xfrm>
          <a:prstGeom prst="roundRect">
            <a:avLst>
              <a:gd name="adj" fmla="val 50000"/>
            </a:avLst>
          </a:prstGeom>
          <a:solidFill>
            <a:srgbClr val="E53935">
              <a:alpha val="80000"/>
            </a:srgbClr>
          </a:solidFill>
          <a:ln/>
        </p:spPr>
      </p:sp>
      <p:sp>
        <p:nvSpPr>
          <p:cNvPr id="29" name="Text 27"/>
          <p:cNvSpPr/>
          <p:nvPr/>
        </p:nvSpPr>
        <p:spPr>
          <a:xfrm>
            <a:off x="5029200" y="3438144"/>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09</a:t>
            </a:r>
            <a:endParaRPr lang="en-US" sz="1600" dirty="0"/>
          </a:p>
        </p:txBody>
      </p:sp>
      <p:sp>
        <p:nvSpPr>
          <p:cNvPr id="30" name="Text 28"/>
          <p:cNvSpPr/>
          <p:nvPr/>
        </p:nvSpPr>
        <p:spPr>
          <a:xfrm>
            <a:off x="5623560" y="3438144"/>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Implementation &amp; Targets</a:t>
            </a:r>
            <a:endParaRPr lang="en-US" sz="1600" dirty="0"/>
          </a:p>
        </p:txBody>
      </p:sp>
      <p:sp>
        <p:nvSpPr>
          <p:cNvPr id="31" name="Shape 29"/>
          <p:cNvSpPr/>
          <p:nvPr/>
        </p:nvSpPr>
        <p:spPr>
          <a:xfrm>
            <a:off x="5029200" y="4187952"/>
            <a:ext cx="457200" cy="457200"/>
          </a:xfrm>
          <a:prstGeom prst="roundRect">
            <a:avLst>
              <a:gd name="adj" fmla="val 50000"/>
            </a:avLst>
          </a:prstGeom>
          <a:solidFill>
            <a:srgbClr val="E53935">
              <a:alpha val="80000"/>
            </a:srgbClr>
          </a:solidFill>
          <a:ln/>
        </p:spPr>
      </p:sp>
      <p:sp>
        <p:nvSpPr>
          <p:cNvPr id="32" name="Text 30"/>
          <p:cNvSpPr/>
          <p:nvPr/>
        </p:nvSpPr>
        <p:spPr>
          <a:xfrm>
            <a:off x="5029200" y="4187952"/>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10</a:t>
            </a:r>
            <a:endParaRPr lang="en-US" sz="1600" dirty="0"/>
          </a:p>
        </p:txBody>
      </p:sp>
      <p:sp>
        <p:nvSpPr>
          <p:cNvPr id="33" name="Text 31"/>
          <p:cNvSpPr/>
          <p:nvPr/>
        </p:nvSpPr>
        <p:spPr>
          <a:xfrm>
            <a:off x="5623560" y="4187952"/>
            <a:ext cx="3474720" cy="457200"/>
          </a:xfrm>
          <a:prstGeom prst="rect">
            <a:avLst/>
          </a:prstGeom>
          <a:noFill/>
          <a:ln/>
        </p:spPr>
        <p:txBody>
          <a:bodyPr wrap="square" rtlCol="0" anchor="ctr"/>
          <a:lstStyle/>
          <a:p>
            <a:pPr indent="0" marL="0">
              <a:buNone/>
            </a:pPr>
            <a:r>
              <a:rPr lang="en-US" sz="1600" dirty="0">
                <a:solidFill>
                  <a:srgbClr val="1A1A1A"/>
                </a:solidFill>
                <a:latin typeface="Arial" pitchFamily="34" charset="0"/>
                <a:ea typeface="Arial" pitchFamily="34" charset="-122"/>
                <a:cs typeface="Arial" pitchFamily="34" charset="-120"/>
              </a:rPr>
              <a:t>Team &amp; Next Steps</a:t>
            </a:r>
            <a:endParaRPr lang="en-US" sz="1600" dirty="0"/>
          </a:p>
        </p:txBody>
      </p:sp>
      <p:sp>
        <p:nvSpPr>
          <p:cNvPr id="34" name="Shape 32"/>
          <p:cNvSpPr/>
          <p:nvPr/>
        </p:nvSpPr>
        <p:spPr>
          <a:xfrm>
            <a:off x="7132320" y="365760"/>
            <a:ext cx="1645920" cy="1645920"/>
          </a:xfrm>
          <a:prstGeom prst="ellipse">
            <a:avLst/>
          </a:prstGeom>
          <a:solidFill>
            <a:srgbClr val="E53935">
              <a:alpha val="7000"/>
            </a:srgbClr>
          </a:solidFill>
          <a:ln/>
        </p:spPr>
      </p:sp>
      <p:sp>
        <p:nvSpPr>
          <p:cNvPr id="35" name="Shape 33"/>
          <p:cNvSpPr/>
          <p:nvPr/>
        </p:nvSpPr>
        <p:spPr>
          <a:xfrm>
            <a:off x="8503920" y="4663440"/>
            <a:ext cx="365760" cy="365760"/>
          </a:xfrm>
          <a:prstGeom prst="ellipse">
            <a:avLst/>
          </a:prstGeom>
          <a:solidFill>
            <a:srgbClr val="E53935"/>
          </a:solidFill>
          <a:ln/>
        </p:spPr>
      </p:sp>
      <p:sp>
        <p:nvSpPr>
          <p:cNvPr id="36" name="Text 34"/>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EXECUTIVE SUMMARY</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Key Numbers at a Glance</a:t>
            </a:r>
            <a:endParaRPr lang="en-US" sz="3000" dirty="0"/>
          </a:p>
        </p:txBody>
      </p:sp>
      <p:sp>
        <p:nvSpPr>
          <p:cNvPr id="5" name="Shape 3"/>
          <p:cNvSpPr/>
          <p:nvPr/>
        </p:nvSpPr>
        <p:spPr>
          <a:xfrm>
            <a:off x="548640" y="1325880"/>
            <a:ext cx="2606040" cy="1417320"/>
          </a:xfrm>
          <a:prstGeom prst="roundRect">
            <a:avLst>
              <a:gd name="adj" fmla="val 7742"/>
            </a:avLst>
          </a:prstGeom>
          <a:solidFill>
            <a:srgbClr val="F8F8F8"/>
          </a:solidFill>
          <a:ln/>
          <a:effectLst>
            <a:outerShdw sx="100000" sy="100000" kx="0" ky="0" algn="bl" rotWithShape="0" blurRad="50800" dist="25400" dir="16200000">
              <a:srgbClr val="000000">
                <a:alpha val="6000"/>
              </a:srgbClr>
            </a:outerShdw>
          </a:effectLst>
        </p:spPr>
      </p:sp>
      <p:sp>
        <p:nvSpPr>
          <p:cNvPr id="6" name="Shape 4"/>
          <p:cNvSpPr/>
          <p:nvPr/>
        </p:nvSpPr>
        <p:spPr>
          <a:xfrm>
            <a:off x="548640" y="1325880"/>
            <a:ext cx="64008" cy="1417320"/>
          </a:xfrm>
          <a:prstGeom prst="rect">
            <a:avLst/>
          </a:prstGeom>
          <a:solidFill>
            <a:srgbClr val="E53935"/>
          </a:solidFill>
          <a:ln/>
        </p:spPr>
      </p:sp>
      <p:sp>
        <p:nvSpPr>
          <p:cNvPr id="7" name="Text 5"/>
          <p:cNvSpPr/>
          <p:nvPr/>
        </p:nvSpPr>
        <p:spPr>
          <a:xfrm>
            <a:off x="713232" y="1435608"/>
            <a:ext cx="2286000" cy="256032"/>
          </a:xfrm>
          <a:prstGeom prst="rect">
            <a:avLst/>
          </a:prstGeom>
          <a:noFill/>
          <a:ln/>
        </p:spPr>
        <p:txBody>
          <a:bodyPr wrap="square" lIns="0" tIns="0" rIns="0" bIns="0" rtlCol="0" anchor="ctr"/>
          <a:lstStyle/>
          <a:p>
            <a:pPr indent="0" marL="0">
              <a:buNone/>
            </a:pPr>
            <a:r>
              <a:rPr lang="en-US" sz="1000" dirty="0">
                <a:solidFill>
                  <a:srgbClr val="999999"/>
                </a:solidFill>
                <a:latin typeface="Arial" pitchFamily="34" charset="0"/>
                <a:ea typeface="Arial" pitchFamily="34" charset="-122"/>
                <a:cs typeface="Arial" pitchFamily="34" charset="-120"/>
              </a:rPr>
              <a:t>Monthly Sales</a:t>
            </a:r>
            <a:endParaRPr lang="en-US" sz="1000" dirty="0"/>
          </a:p>
        </p:txBody>
      </p:sp>
      <p:sp>
        <p:nvSpPr>
          <p:cNvPr id="8" name="Text 6"/>
          <p:cNvSpPr/>
          <p:nvPr/>
        </p:nvSpPr>
        <p:spPr>
          <a:xfrm>
            <a:off x="713232" y="1691640"/>
            <a:ext cx="22860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7.4M ETB</a:t>
            </a:r>
            <a:endParaRPr lang="en-US" sz="2400" dirty="0"/>
          </a:p>
        </p:txBody>
      </p:sp>
      <p:sp>
        <p:nvSpPr>
          <p:cNvPr id="9" name="Text 7"/>
          <p:cNvSpPr/>
          <p:nvPr/>
        </p:nvSpPr>
        <p:spPr>
          <a:xfrm>
            <a:off x="713232" y="2423160"/>
            <a:ext cx="228600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Target: 12M (+62%)</a:t>
            </a:r>
            <a:endParaRPr lang="en-US" sz="1000" dirty="0"/>
          </a:p>
        </p:txBody>
      </p:sp>
      <p:sp>
        <p:nvSpPr>
          <p:cNvPr id="10" name="Shape 8"/>
          <p:cNvSpPr/>
          <p:nvPr/>
        </p:nvSpPr>
        <p:spPr>
          <a:xfrm>
            <a:off x="3383280" y="1325880"/>
            <a:ext cx="2606040" cy="1417320"/>
          </a:xfrm>
          <a:prstGeom prst="roundRect">
            <a:avLst>
              <a:gd name="adj" fmla="val 7742"/>
            </a:avLst>
          </a:prstGeom>
          <a:solidFill>
            <a:srgbClr val="F8F8F8"/>
          </a:solidFill>
          <a:ln/>
          <a:effectLst>
            <a:outerShdw sx="100000" sy="100000" kx="0" ky="0" algn="bl" rotWithShape="0" blurRad="50800" dist="25400" dir="16200000">
              <a:srgbClr val="000000">
                <a:alpha val="6000"/>
              </a:srgbClr>
            </a:outerShdw>
          </a:effectLst>
        </p:spPr>
      </p:sp>
      <p:sp>
        <p:nvSpPr>
          <p:cNvPr id="11" name="Shape 9"/>
          <p:cNvSpPr/>
          <p:nvPr/>
        </p:nvSpPr>
        <p:spPr>
          <a:xfrm>
            <a:off x="3383280" y="1325880"/>
            <a:ext cx="64008" cy="1417320"/>
          </a:xfrm>
          <a:prstGeom prst="rect">
            <a:avLst/>
          </a:prstGeom>
          <a:solidFill>
            <a:srgbClr val="E53935"/>
          </a:solidFill>
          <a:ln/>
        </p:spPr>
      </p:sp>
      <p:sp>
        <p:nvSpPr>
          <p:cNvPr id="12" name="Text 10"/>
          <p:cNvSpPr/>
          <p:nvPr/>
        </p:nvSpPr>
        <p:spPr>
          <a:xfrm>
            <a:off x="3547872" y="1435608"/>
            <a:ext cx="2286000" cy="256032"/>
          </a:xfrm>
          <a:prstGeom prst="rect">
            <a:avLst/>
          </a:prstGeom>
          <a:noFill/>
          <a:ln/>
        </p:spPr>
        <p:txBody>
          <a:bodyPr wrap="square" lIns="0" tIns="0" rIns="0" bIns="0" rtlCol="0" anchor="ctr"/>
          <a:lstStyle/>
          <a:p>
            <a:pPr indent="0" marL="0">
              <a:buNone/>
            </a:pPr>
            <a:r>
              <a:rPr lang="en-US" sz="1000" dirty="0">
                <a:solidFill>
                  <a:srgbClr val="999999"/>
                </a:solidFill>
                <a:latin typeface="Arial" pitchFamily="34" charset="0"/>
                <a:ea typeface="Arial" pitchFamily="34" charset="-122"/>
                <a:cs typeface="Arial" pitchFamily="34" charset="-120"/>
              </a:rPr>
              <a:t>Gross Margin</a:t>
            </a:r>
            <a:endParaRPr lang="en-US" sz="1000" dirty="0"/>
          </a:p>
        </p:txBody>
      </p:sp>
      <p:sp>
        <p:nvSpPr>
          <p:cNvPr id="13" name="Text 11"/>
          <p:cNvSpPr/>
          <p:nvPr/>
        </p:nvSpPr>
        <p:spPr>
          <a:xfrm>
            <a:off x="3547872" y="1691640"/>
            <a:ext cx="22860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-16.68%</a:t>
            </a:r>
            <a:endParaRPr lang="en-US" sz="2400" dirty="0"/>
          </a:p>
        </p:txBody>
      </p:sp>
      <p:sp>
        <p:nvSpPr>
          <p:cNvPr id="14" name="Text 12"/>
          <p:cNvSpPr/>
          <p:nvPr/>
        </p:nvSpPr>
        <p:spPr>
          <a:xfrm>
            <a:off x="3547872" y="2423160"/>
            <a:ext cx="228600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Improved from -45.49%</a:t>
            </a:r>
            <a:endParaRPr lang="en-US" sz="1000" dirty="0"/>
          </a:p>
        </p:txBody>
      </p:sp>
      <p:sp>
        <p:nvSpPr>
          <p:cNvPr id="15" name="Shape 13"/>
          <p:cNvSpPr/>
          <p:nvPr/>
        </p:nvSpPr>
        <p:spPr>
          <a:xfrm>
            <a:off x="6217920" y="1325880"/>
            <a:ext cx="2606040" cy="1417320"/>
          </a:xfrm>
          <a:prstGeom prst="roundRect">
            <a:avLst>
              <a:gd name="adj" fmla="val 7742"/>
            </a:avLst>
          </a:prstGeom>
          <a:solidFill>
            <a:srgbClr val="F8F8F8"/>
          </a:solidFill>
          <a:ln/>
          <a:effectLst>
            <a:outerShdw sx="100000" sy="100000" kx="0" ky="0" algn="bl" rotWithShape="0" blurRad="50800" dist="25400" dir="16200000">
              <a:srgbClr val="000000">
                <a:alpha val="6000"/>
              </a:srgbClr>
            </a:outerShdw>
          </a:effectLst>
        </p:spPr>
      </p:sp>
      <p:sp>
        <p:nvSpPr>
          <p:cNvPr id="16" name="Shape 14"/>
          <p:cNvSpPr/>
          <p:nvPr/>
        </p:nvSpPr>
        <p:spPr>
          <a:xfrm>
            <a:off x="6217920" y="1325880"/>
            <a:ext cx="64008" cy="1417320"/>
          </a:xfrm>
          <a:prstGeom prst="rect">
            <a:avLst/>
          </a:prstGeom>
          <a:solidFill>
            <a:srgbClr val="E53935"/>
          </a:solidFill>
          <a:ln/>
        </p:spPr>
      </p:sp>
      <p:sp>
        <p:nvSpPr>
          <p:cNvPr id="17" name="Text 15"/>
          <p:cNvSpPr/>
          <p:nvPr/>
        </p:nvSpPr>
        <p:spPr>
          <a:xfrm>
            <a:off x="6382512" y="1435608"/>
            <a:ext cx="2286000" cy="256032"/>
          </a:xfrm>
          <a:prstGeom prst="rect">
            <a:avLst/>
          </a:prstGeom>
          <a:noFill/>
          <a:ln/>
        </p:spPr>
        <p:txBody>
          <a:bodyPr wrap="square" lIns="0" tIns="0" rIns="0" bIns="0" rtlCol="0" anchor="ctr"/>
          <a:lstStyle/>
          <a:p>
            <a:pPr indent="0" marL="0">
              <a:buNone/>
            </a:pPr>
            <a:r>
              <a:rPr lang="en-US" sz="1000" dirty="0">
                <a:solidFill>
                  <a:srgbClr val="999999"/>
                </a:solidFill>
                <a:latin typeface="Arial" pitchFamily="34" charset="0"/>
                <a:ea typeface="Arial" pitchFamily="34" charset="-122"/>
                <a:cs typeface="Arial" pitchFamily="34" charset="-120"/>
              </a:rPr>
              <a:t>Monthly Burn</a:t>
            </a:r>
            <a:endParaRPr lang="en-US" sz="1000" dirty="0"/>
          </a:p>
        </p:txBody>
      </p:sp>
      <p:sp>
        <p:nvSpPr>
          <p:cNvPr id="18" name="Text 16"/>
          <p:cNvSpPr/>
          <p:nvPr/>
        </p:nvSpPr>
        <p:spPr>
          <a:xfrm>
            <a:off x="6382512" y="1691640"/>
            <a:ext cx="22860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10.16M ETB</a:t>
            </a:r>
            <a:endParaRPr lang="en-US" sz="2400" dirty="0"/>
          </a:p>
        </p:txBody>
      </p:sp>
      <p:sp>
        <p:nvSpPr>
          <p:cNvPr id="19" name="Text 17"/>
          <p:cNvSpPr/>
          <p:nvPr/>
        </p:nvSpPr>
        <p:spPr>
          <a:xfrm>
            <a:off x="6382512" y="2423160"/>
            <a:ext cx="228600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Reduced 48% MoM</a:t>
            </a:r>
            <a:endParaRPr lang="en-US" sz="1000" dirty="0"/>
          </a:p>
        </p:txBody>
      </p:sp>
      <p:sp>
        <p:nvSpPr>
          <p:cNvPr id="20" name="Shape 18"/>
          <p:cNvSpPr/>
          <p:nvPr/>
        </p:nvSpPr>
        <p:spPr>
          <a:xfrm>
            <a:off x="548640" y="2926080"/>
            <a:ext cx="2606040" cy="1280160"/>
          </a:xfrm>
          <a:prstGeom prst="roundRect">
            <a:avLst>
              <a:gd name="adj" fmla="val 8571"/>
            </a:avLst>
          </a:prstGeom>
          <a:solidFill>
            <a:srgbClr val="F8F8F8"/>
          </a:solidFill>
          <a:ln/>
          <a:effectLst>
            <a:outerShdw sx="100000" sy="100000" kx="0" ky="0" algn="bl" rotWithShape="0" blurRad="50800" dist="25400" dir="16200000">
              <a:srgbClr val="000000">
                <a:alpha val="6000"/>
              </a:srgbClr>
            </a:outerShdw>
          </a:effectLst>
        </p:spPr>
      </p:sp>
      <p:sp>
        <p:nvSpPr>
          <p:cNvPr id="21" name="Shape 19"/>
          <p:cNvSpPr/>
          <p:nvPr/>
        </p:nvSpPr>
        <p:spPr>
          <a:xfrm>
            <a:off x="548640" y="2926080"/>
            <a:ext cx="64008" cy="1280160"/>
          </a:xfrm>
          <a:prstGeom prst="rect">
            <a:avLst/>
          </a:prstGeom>
          <a:solidFill>
            <a:srgbClr val="E53935"/>
          </a:solidFill>
          <a:ln/>
        </p:spPr>
      </p:sp>
      <p:sp>
        <p:nvSpPr>
          <p:cNvPr id="22" name="Text 20"/>
          <p:cNvSpPr/>
          <p:nvPr/>
        </p:nvSpPr>
        <p:spPr>
          <a:xfrm>
            <a:off x="713232" y="3035808"/>
            <a:ext cx="2286000" cy="256032"/>
          </a:xfrm>
          <a:prstGeom prst="rect">
            <a:avLst/>
          </a:prstGeom>
          <a:noFill/>
          <a:ln/>
        </p:spPr>
        <p:txBody>
          <a:bodyPr wrap="square" lIns="0" tIns="0" rIns="0" bIns="0" rtlCol="0" anchor="ctr"/>
          <a:lstStyle/>
          <a:p>
            <a:pPr indent="0" marL="0">
              <a:buNone/>
            </a:pPr>
            <a:r>
              <a:rPr lang="en-US" sz="1000" dirty="0">
                <a:solidFill>
                  <a:srgbClr val="999999"/>
                </a:solidFill>
                <a:latin typeface="Arial" pitchFamily="34" charset="0"/>
                <a:ea typeface="Arial" pitchFamily="34" charset="-122"/>
                <a:cs typeface="Arial" pitchFamily="34" charset="-120"/>
              </a:rPr>
              <a:t>Monthly Orders</a:t>
            </a:r>
            <a:endParaRPr lang="en-US" sz="1000" dirty="0"/>
          </a:p>
        </p:txBody>
      </p:sp>
      <p:sp>
        <p:nvSpPr>
          <p:cNvPr id="23" name="Text 21"/>
          <p:cNvSpPr/>
          <p:nvPr/>
        </p:nvSpPr>
        <p:spPr>
          <a:xfrm>
            <a:off x="713232" y="3291840"/>
            <a:ext cx="22860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83,731</a:t>
            </a:r>
            <a:endParaRPr lang="en-US" sz="2400" dirty="0"/>
          </a:p>
        </p:txBody>
      </p:sp>
      <p:sp>
        <p:nvSpPr>
          <p:cNvPr id="24" name="Text 22"/>
          <p:cNvSpPr/>
          <p:nvPr/>
        </p:nvSpPr>
        <p:spPr>
          <a:xfrm>
            <a:off x="713232" y="3886200"/>
            <a:ext cx="228600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Target: 120,000</a:t>
            </a:r>
            <a:endParaRPr lang="en-US" sz="1000" dirty="0"/>
          </a:p>
        </p:txBody>
      </p:sp>
      <p:sp>
        <p:nvSpPr>
          <p:cNvPr id="25" name="Shape 23"/>
          <p:cNvSpPr/>
          <p:nvPr/>
        </p:nvSpPr>
        <p:spPr>
          <a:xfrm>
            <a:off x="3383280" y="2926080"/>
            <a:ext cx="2606040" cy="1280160"/>
          </a:xfrm>
          <a:prstGeom prst="roundRect">
            <a:avLst>
              <a:gd name="adj" fmla="val 8571"/>
            </a:avLst>
          </a:prstGeom>
          <a:solidFill>
            <a:srgbClr val="F8F8F8"/>
          </a:solidFill>
          <a:ln/>
          <a:effectLst>
            <a:outerShdw sx="100000" sy="100000" kx="0" ky="0" algn="bl" rotWithShape="0" blurRad="50800" dist="25400" dir="16200000">
              <a:srgbClr val="000000">
                <a:alpha val="6000"/>
              </a:srgbClr>
            </a:outerShdw>
          </a:effectLst>
        </p:spPr>
      </p:sp>
      <p:sp>
        <p:nvSpPr>
          <p:cNvPr id="26" name="Shape 24"/>
          <p:cNvSpPr/>
          <p:nvPr/>
        </p:nvSpPr>
        <p:spPr>
          <a:xfrm>
            <a:off x="3383280" y="2926080"/>
            <a:ext cx="64008" cy="1280160"/>
          </a:xfrm>
          <a:prstGeom prst="rect">
            <a:avLst/>
          </a:prstGeom>
          <a:solidFill>
            <a:srgbClr val="E53935"/>
          </a:solidFill>
          <a:ln/>
        </p:spPr>
      </p:sp>
      <p:sp>
        <p:nvSpPr>
          <p:cNvPr id="27" name="Text 25"/>
          <p:cNvSpPr/>
          <p:nvPr/>
        </p:nvSpPr>
        <p:spPr>
          <a:xfrm>
            <a:off x="3547872" y="3035808"/>
            <a:ext cx="2286000" cy="256032"/>
          </a:xfrm>
          <a:prstGeom prst="rect">
            <a:avLst/>
          </a:prstGeom>
          <a:noFill/>
          <a:ln/>
        </p:spPr>
        <p:txBody>
          <a:bodyPr wrap="square" lIns="0" tIns="0" rIns="0" bIns="0" rtlCol="0" anchor="ctr"/>
          <a:lstStyle/>
          <a:p>
            <a:pPr indent="0" marL="0">
              <a:buNone/>
            </a:pPr>
            <a:r>
              <a:rPr lang="en-US" sz="1000" dirty="0">
                <a:solidFill>
                  <a:srgbClr val="999999"/>
                </a:solidFill>
                <a:latin typeface="Arial" pitchFamily="34" charset="0"/>
                <a:ea typeface="Arial" pitchFamily="34" charset="-122"/>
                <a:cs typeface="Arial" pitchFamily="34" charset="-120"/>
              </a:rPr>
              <a:t>B2B Revenue Share</a:t>
            </a:r>
            <a:endParaRPr lang="en-US" sz="1000" dirty="0"/>
          </a:p>
        </p:txBody>
      </p:sp>
      <p:sp>
        <p:nvSpPr>
          <p:cNvPr id="28" name="Text 26"/>
          <p:cNvSpPr/>
          <p:nvPr/>
        </p:nvSpPr>
        <p:spPr>
          <a:xfrm>
            <a:off x="3547872" y="3291840"/>
            <a:ext cx="22860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16%</a:t>
            </a:r>
            <a:endParaRPr lang="en-US" sz="2400" dirty="0"/>
          </a:p>
        </p:txBody>
      </p:sp>
      <p:sp>
        <p:nvSpPr>
          <p:cNvPr id="29" name="Text 27"/>
          <p:cNvSpPr/>
          <p:nvPr/>
        </p:nvSpPr>
        <p:spPr>
          <a:xfrm>
            <a:off x="3547872" y="3886200"/>
            <a:ext cx="228600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Target: 40%</a:t>
            </a:r>
            <a:endParaRPr lang="en-US" sz="1000" dirty="0"/>
          </a:p>
        </p:txBody>
      </p:sp>
      <p:sp>
        <p:nvSpPr>
          <p:cNvPr id="30" name="Shape 28"/>
          <p:cNvSpPr/>
          <p:nvPr/>
        </p:nvSpPr>
        <p:spPr>
          <a:xfrm>
            <a:off x="6217920" y="2926080"/>
            <a:ext cx="2606040" cy="1280160"/>
          </a:xfrm>
          <a:prstGeom prst="roundRect">
            <a:avLst>
              <a:gd name="adj" fmla="val 8571"/>
            </a:avLst>
          </a:prstGeom>
          <a:solidFill>
            <a:srgbClr val="F8F8F8"/>
          </a:solidFill>
          <a:ln/>
          <a:effectLst>
            <a:outerShdw sx="100000" sy="100000" kx="0" ky="0" algn="bl" rotWithShape="0" blurRad="50800" dist="25400" dir="16200000">
              <a:srgbClr val="000000">
                <a:alpha val="6000"/>
              </a:srgbClr>
            </a:outerShdw>
          </a:effectLst>
        </p:spPr>
      </p:sp>
      <p:sp>
        <p:nvSpPr>
          <p:cNvPr id="31" name="Shape 29"/>
          <p:cNvSpPr/>
          <p:nvPr/>
        </p:nvSpPr>
        <p:spPr>
          <a:xfrm>
            <a:off x="6217920" y="2926080"/>
            <a:ext cx="64008" cy="1280160"/>
          </a:xfrm>
          <a:prstGeom prst="rect">
            <a:avLst/>
          </a:prstGeom>
          <a:solidFill>
            <a:srgbClr val="E53935"/>
          </a:solidFill>
          <a:ln/>
        </p:spPr>
      </p:sp>
      <p:sp>
        <p:nvSpPr>
          <p:cNvPr id="32" name="Text 30"/>
          <p:cNvSpPr/>
          <p:nvPr/>
        </p:nvSpPr>
        <p:spPr>
          <a:xfrm>
            <a:off x="6382512" y="3035808"/>
            <a:ext cx="2286000" cy="256032"/>
          </a:xfrm>
          <a:prstGeom prst="rect">
            <a:avLst/>
          </a:prstGeom>
          <a:noFill/>
          <a:ln/>
        </p:spPr>
        <p:txBody>
          <a:bodyPr wrap="square" lIns="0" tIns="0" rIns="0" bIns="0" rtlCol="0" anchor="ctr"/>
          <a:lstStyle/>
          <a:p>
            <a:pPr indent="0" marL="0">
              <a:buNone/>
            </a:pPr>
            <a:r>
              <a:rPr lang="en-US" sz="1000" dirty="0">
                <a:solidFill>
                  <a:srgbClr val="999999"/>
                </a:solidFill>
                <a:latin typeface="Arial" pitchFamily="34" charset="0"/>
                <a:ea typeface="Arial" pitchFamily="34" charset="-122"/>
                <a:cs typeface="Arial" pitchFamily="34" charset="-120"/>
              </a:rPr>
              <a:t>Active SGLs</a:t>
            </a:r>
            <a:endParaRPr lang="en-US" sz="1000" dirty="0"/>
          </a:p>
        </p:txBody>
      </p:sp>
      <p:sp>
        <p:nvSpPr>
          <p:cNvPr id="33" name="Text 31"/>
          <p:cNvSpPr/>
          <p:nvPr/>
        </p:nvSpPr>
        <p:spPr>
          <a:xfrm>
            <a:off x="6382512" y="3291840"/>
            <a:ext cx="228600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~35 active</a:t>
            </a:r>
            <a:endParaRPr lang="en-US" sz="2400" dirty="0"/>
          </a:p>
        </p:txBody>
      </p:sp>
      <p:sp>
        <p:nvSpPr>
          <p:cNvPr id="34" name="Text 32"/>
          <p:cNvSpPr/>
          <p:nvPr/>
        </p:nvSpPr>
        <p:spPr>
          <a:xfrm>
            <a:off x="6382512" y="3886200"/>
            <a:ext cx="228600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Target: 70+ (Q2)</a:t>
            </a:r>
            <a:endParaRPr lang="en-US" sz="1000" dirty="0"/>
          </a:p>
        </p:txBody>
      </p:sp>
      <p:sp>
        <p:nvSpPr>
          <p:cNvPr id="35" name="Shape 33"/>
          <p:cNvSpPr/>
          <p:nvPr/>
        </p:nvSpPr>
        <p:spPr>
          <a:xfrm>
            <a:off x="7772400" y="3474720"/>
            <a:ext cx="1280160" cy="1280160"/>
          </a:xfrm>
          <a:prstGeom prst="ellipse">
            <a:avLst/>
          </a:prstGeom>
          <a:solidFill>
            <a:srgbClr val="E53935">
              <a:alpha val="7000"/>
            </a:srgbClr>
          </a:solidFill>
          <a:ln/>
        </p:spPr>
      </p:sp>
      <p:sp>
        <p:nvSpPr>
          <p:cNvPr id="36" name="Shape 34"/>
          <p:cNvSpPr/>
          <p:nvPr/>
        </p:nvSpPr>
        <p:spPr>
          <a:xfrm>
            <a:off x="8503920" y="4663440"/>
            <a:ext cx="365760" cy="365760"/>
          </a:xfrm>
          <a:prstGeom prst="ellipse">
            <a:avLst/>
          </a:prstGeom>
          <a:solidFill>
            <a:srgbClr val="E53935"/>
          </a:solidFill>
          <a:ln/>
        </p:spPr>
      </p:sp>
      <p:sp>
        <p:nvSpPr>
          <p:cNvPr id="37" name="Text 35"/>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731520" y="1097280"/>
            <a:ext cx="7315200" cy="731520"/>
          </a:xfrm>
          <a:prstGeom prst="rect">
            <a:avLst/>
          </a:prstGeom>
          <a:noFill/>
          <a:ln/>
        </p:spPr>
        <p:txBody>
          <a:bodyPr wrap="square" lIns="0" tIns="0" rIns="0" bIns="0" rtlCol="0" anchor="ctr"/>
          <a:lstStyle/>
          <a:p>
            <a:pPr indent="0" marL="0">
              <a:buNone/>
            </a:pPr>
            <a:r>
              <a:rPr lang="en-US" sz="5000" b="1" dirty="0">
                <a:solidFill>
                  <a:srgbClr val="FFFFFF"/>
                </a:solidFill>
                <a:latin typeface="Arial" pitchFamily="34" charset="0"/>
                <a:ea typeface="Arial" pitchFamily="34" charset="-122"/>
                <a:cs typeface="Arial" pitchFamily="34" charset="-120"/>
              </a:rPr>
              <a:t>COMPANY</a:t>
            </a:r>
            <a:endParaRPr lang="en-US" sz="5000" dirty="0"/>
          </a:p>
        </p:txBody>
      </p:sp>
      <p:sp>
        <p:nvSpPr>
          <p:cNvPr id="4" name="Text 2"/>
          <p:cNvSpPr/>
          <p:nvPr/>
        </p:nvSpPr>
        <p:spPr>
          <a:xfrm>
            <a:off x="731520" y="1828800"/>
            <a:ext cx="7315200" cy="731520"/>
          </a:xfrm>
          <a:prstGeom prst="rect">
            <a:avLst/>
          </a:prstGeom>
          <a:noFill/>
          <a:ln/>
        </p:spPr>
        <p:txBody>
          <a:bodyPr wrap="square" lIns="0" tIns="0" rIns="0" bIns="0" rtlCol="0" anchor="ctr"/>
          <a:lstStyle/>
          <a:p>
            <a:pPr indent="0" marL="0">
              <a:buNone/>
            </a:pPr>
            <a:r>
              <a:rPr lang="en-US" sz="5000" b="1" dirty="0">
                <a:solidFill>
                  <a:srgbClr val="E53935"/>
                </a:solidFill>
                <a:latin typeface="Arial" pitchFamily="34" charset="0"/>
                <a:ea typeface="Arial" pitchFamily="34" charset="-122"/>
                <a:cs typeface="Arial" pitchFamily="34" charset="-120"/>
              </a:rPr>
              <a:t>VISION</a:t>
            </a:r>
            <a:endParaRPr lang="en-US" sz="5000" dirty="0"/>
          </a:p>
        </p:txBody>
      </p:sp>
      <p:sp>
        <p:nvSpPr>
          <p:cNvPr id="5" name="Text 3"/>
          <p:cNvSpPr/>
          <p:nvPr/>
        </p:nvSpPr>
        <p:spPr>
          <a:xfrm>
            <a:off x="731520" y="3017520"/>
            <a:ext cx="7315200" cy="548640"/>
          </a:xfrm>
          <a:prstGeom prst="rect">
            <a:avLst/>
          </a:prstGeom>
          <a:noFill/>
          <a:ln/>
        </p:spPr>
        <p:txBody>
          <a:bodyPr wrap="square" lIns="0" tIns="0" rIns="0" bIns="0" rtlCol="0" anchor="ctr"/>
          <a:lstStyle/>
          <a:p>
            <a:pPr indent="0" marL="0">
              <a:buNone/>
            </a:pPr>
            <a:r>
              <a:rPr lang="en-US" sz="2000" i="1" dirty="0">
                <a:solidFill>
                  <a:srgbClr val="CCCCCC"/>
                </a:solidFill>
                <a:latin typeface="Arial" pitchFamily="34" charset="0"/>
                <a:ea typeface="Arial" pitchFamily="34" charset="-122"/>
                <a:cs typeface="Arial" pitchFamily="34" charset="-120"/>
              </a:rPr>
              <a:t>"We don't touch products. We control flows."</a:t>
            </a:r>
            <a:endParaRPr lang="en-US" sz="2000" dirty="0"/>
          </a:p>
        </p:txBody>
      </p:sp>
      <p:sp>
        <p:nvSpPr>
          <p:cNvPr id="6" name="Text 4"/>
          <p:cNvSpPr/>
          <p:nvPr/>
        </p:nvSpPr>
        <p:spPr>
          <a:xfrm>
            <a:off x="731520" y="3657600"/>
            <a:ext cx="7315200" cy="365760"/>
          </a:xfrm>
          <a:prstGeom prst="rect">
            <a:avLst/>
          </a:prstGeom>
          <a:noFill/>
          <a:ln/>
        </p:spPr>
        <p:txBody>
          <a:bodyPr wrap="square" lIns="0" tIns="0" rIns="0" bIns="0" rtlCol="0" anchor="ctr"/>
          <a:lstStyle/>
          <a:p>
            <a:pPr indent="0" marL="0">
              <a:buNone/>
            </a:pPr>
            <a:r>
              <a:rPr lang="en-US" sz="1400" dirty="0">
                <a:solidFill>
                  <a:srgbClr val="999999"/>
                </a:solidFill>
                <a:latin typeface="Arial" pitchFamily="34" charset="0"/>
                <a:ea typeface="Arial" pitchFamily="34" charset="-122"/>
                <a:cs typeface="Arial" pitchFamily="34" charset="-120"/>
              </a:rPr>
              <a:t>Ethiopia's first asset-light food trade infrastructure platform</a:t>
            </a:r>
            <a:endParaRPr lang="en-US" sz="1400" dirty="0"/>
          </a:p>
        </p:txBody>
      </p:sp>
      <p:sp>
        <p:nvSpPr>
          <p:cNvPr id="7" name="Shape 5"/>
          <p:cNvSpPr/>
          <p:nvPr/>
        </p:nvSpPr>
        <p:spPr>
          <a:xfrm>
            <a:off x="8503920" y="4663440"/>
            <a:ext cx="365760" cy="365760"/>
          </a:xfrm>
          <a:prstGeom prst="ellipse">
            <a:avLst/>
          </a:prstGeom>
          <a:solidFill>
            <a:srgbClr val="E53935"/>
          </a:solidFill>
          <a:ln/>
        </p:spPr>
      </p:sp>
      <p:sp>
        <p:nvSpPr>
          <p:cNvPr id="8" name="Text 6"/>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OUR MARKET IDENTITY</a:t>
            </a:r>
            <a:endParaRPr lang="en-US" sz="1200" dirty="0"/>
          </a:p>
        </p:txBody>
      </p:sp>
      <p:sp>
        <p:nvSpPr>
          <p:cNvPr id="4" name="Text 2"/>
          <p:cNvSpPr/>
          <p:nvPr/>
        </p:nvSpPr>
        <p:spPr>
          <a:xfrm>
            <a:off x="548640" y="594360"/>
            <a:ext cx="8229600" cy="5029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Asset-Light Control Tower Positioning</a:t>
            </a:r>
            <a:endParaRPr lang="en-US" sz="2800" dirty="0"/>
          </a:p>
        </p:txBody>
      </p:sp>
      <p:sp>
        <p:nvSpPr>
          <p:cNvPr id="5" name="Shape 3"/>
          <p:cNvSpPr/>
          <p:nvPr/>
        </p:nvSpPr>
        <p:spPr>
          <a:xfrm>
            <a:off x="548640" y="1371600"/>
            <a:ext cx="3474720" cy="2926080"/>
          </a:xfrm>
          <a:prstGeom prst="roundRect">
            <a:avLst>
              <a:gd name="adj" fmla="val 3750"/>
            </a:avLst>
          </a:prstGeom>
          <a:solidFill>
            <a:srgbClr val="F8F8F8"/>
          </a:solidFill>
          <a:ln/>
        </p:spPr>
      </p:sp>
      <p:sp>
        <p:nvSpPr>
          <p:cNvPr id="6" name="Shape 4"/>
          <p:cNvSpPr/>
          <p:nvPr/>
        </p:nvSpPr>
        <p:spPr>
          <a:xfrm>
            <a:off x="548640" y="1371600"/>
            <a:ext cx="3474720" cy="457200"/>
          </a:xfrm>
          <a:prstGeom prst="rect">
            <a:avLst/>
          </a:prstGeom>
          <a:solidFill>
            <a:srgbClr val="999999"/>
          </a:solidFill>
          <a:ln/>
        </p:spPr>
      </p:sp>
      <p:sp>
        <p:nvSpPr>
          <p:cNvPr id="7" name="Text 5"/>
          <p:cNvSpPr/>
          <p:nvPr/>
        </p:nvSpPr>
        <p:spPr>
          <a:xfrm>
            <a:off x="548640" y="1371600"/>
            <a:ext cx="34747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OLD IDENTITY</a:t>
            </a:r>
            <a:endParaRPr lang="en-US" sz="1400" dirty="0"/>
          </a:p>
        </p:txBody>
      </p:sp>
      <p:sp>
        <p:nvSpPr>
          <p:cNvPr id="8" name="Shape 6"/>
          <p:cNvSpPr/>
          <p:nvPr/>
        </p:nvSpPr>
        <p:spPr>
          <a:xfrm>
            <a:off x="777240" y="1938528"/>
            <a:ext cx="128016" cy="128016"/>
          </a:xfrm>
          <a:prstGeom prst="ellipse">
            <a:avLst/>
          </a:prstGeom>
          <a:solidFill>
            <a:srgbClr val="999999"/>
          </a:solidFill>
          <a:ln/>
        </p:spPr>
      </p:sp>
      <p:sp>
        <p:nvSpPr>
          <p:cNvPr id="9" name="Text 7"/>
          <p:cNvSpPr/>
          <p:nvPr/>
        </p:nvSpPr>
        <p:spPr>
          <a:xfrm>
            <a:off x="1005840" y="1901952"/>
            <a:ext cx="2834640" cy="292608"/>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Warehouse operator</a:t>
            </a:r>
            <a:endParaRPr lang="en-US" sz="1200" dirty="0"/>
          </a:p>
        </p:txBody>
      </p:sp>
      <p:sp>
        <p:nvSpPr>
          <p:cNvPr id="10" name="Shape 8"/>
          <p:cNvSpPr/>
          <p:nvPr/>
        </p:nvSpPr>
        <p:spPr>
          <a:xfrm>
            <a:off x="777240" y="2304288"/>
            <a:ext cx="128016" cy="128016"/>
          </a:xfrm>
          <a:prstGeom prst="ellipse">
            <a:avLst/>
          </a:prstGeom>
          <a:solidFill>
            <a:srgbClr val="999999"/>
          </a:solidFill>
          <a:ln/>
        </p:spPr>
      </p:sp>
      <p:sp>
        <p:nvSpPr>
          <p:cNvPr id="11" name="Text 9"/>
          <p:cNvSpPr/>
          <p:nvPr/>
        </p:nvSpPr>
        <p:spPr>
          <a:xfrm>
            <a:off x="1005840" y="2267712"/>
            <a:ext cx="2834640" cy="292608"/>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B2C delivery company</a:t>
            </a:r>
            <a:endParaRPr lang="en-US" sz="1200" dirty="0"/>
          </a:p>
        </p:txBody>
      </p:sp>
      <p:sp>
        <p:nvSpPr>
          <p:cNvPr id="12" name="Shape 10"/>
          <p:cNvSpPr/>
          <p:nvPr/>
        </p:nvSpPr>
        <p:spPr>
          <a:xfrm>
            <a:off x="777240" y="2670048"/>
            <a:ext cx="128016" cy="128016"/>
          </a:xfrm>
          <a:prstGeom prst="ellipse">
            <a:avLst/>
          </a:prstGeom>
          <a:solidFill>
            <a:srgbClr val="999999"/>
          </a:solidFill>
          <a:ln/>
        </p:spPr>
      </p:sp>
      <p:sp>
        <p:nvSpPr>
          <p:cNvPr id="13" name="Text 11"/>
          <p:cNvSpPr/>
          <p:nvPr/>
        </p:nvSpPr>
        <p:spPr>
          <a:xfrm>
            <a:off x="1005840" y="2633472"/>
            <a:ext cx="2834640" cy="292608"/>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Physical handler</a:t>
            </a:r>
            <a:endParaRPr lang="en-US" sz="1200" dirty="0"/>
          </a:p>
        </p:txBody>
      </p:sp>
      <p:sp>
        <p:nvSpPr>
          <p:cNvPr id="14" name="Shape 12"/>
          <p:cNvSpPr/>
          <p:nvPr/>
        </p:nvSpPr>
        <p:spPr>
          <a:xfrm>
            <a:off x="777240" y="3035808"/>
            <a:ext cx="128016" cy="128016"/>
          </a:xfrm>
          <a:prstGeom prst="ellipse">
            <a:avLst/>
          </a:prstGeom>
          <a:solidFill>
            <a:srgbClr val="999999"/>
          </a:solidFill>
          <a:ln/>
        </p:spPr>
      </p:sp>
      <p:sp>
        <p:nvSpPr>
          <p:cNvPr id="15" name="Text 13"/>
          <p:cNvSpPr/>
          <p:nvPr/>
        </p:nvSpPr>
        <p:spPr>
          <a:xfrm>
            <a:off x="1005840" y="2999232"/>
            <a:ext cx="2834640" cy="292608"/>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Negotiation-driven</a:t>
            </a:r>
            <a:endParaRPr lang="en-US" sz="1200" dirty="0"/>
          </a:p>
        </p:txBody>
      </p:sp>
      <p:sp>
        <p:nvSpPr>
          <p:cNvPr id="16" name="Shape 14"/>
          <p:cNvSpPr/>
          <p:nvPr/>
        </p:nvSpPr>
        <p:spPr>
          <a:xfrm>
            <a:off x="777240" y="3401568"/>
            <a:ext cx="128016" cy="128016"/>
          </a:xfrm>
          <a:prstGeom prst="ellipse">
            <a:avLst/>
          </a:prstGeom>
          <a:solidFill>
            <a:srgbClr val="999999"/>
          </a:solidFill>
          <a:ln/>
        </p:spPr>
      </p:sp>
      <p:sp>
        <p:nvSpPr>
          <p:cNvPr id="17" name="Text 15"/>
          <p:cNvSpPr/>
          <p:nvPr/>
        </p:nvSpPr>
        <p:spPr>
          <a:xfrm>
            <a:off x="1005840" y="3364992"/>
            <a:ext cx="2834640" cy="292608"/>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Speculative inventory</a:t>
            </a:r>
            <a:endParaRPr lang="en-US" sz="1200" dirty="0"/>
          </a:p>
        </p:txBody>
      </p:sp>
      <p:sp>
        <p:nvSpPr>
          <p:cNvPr id="18" name="Shape 16"/>
          <p:cNvSpPr/>
          <p:nvPr/>
        </p:nvSpPr>
        <p:spPr>
          <a:xfrm>
            <a:off x="777240" y="3767328"/>
            <a:ext cx="128016" cy="128016"/>
          </a:xfrm>
          <a:prstGeom prst="ellipse">
            <a:avLst/>
          </a:prstGeom>
          <a:solidFill>
            <a:srgbClr val="999999"/>
          </a:solidFill>
          <a:ln/>
        </p:spPr>
      </p:sp>
      <p:sp>
        <p:nvSpPr>
          <p:cNvPr id="19" name="Text 17"/>
          <p:cNvSpPr/>
          <p:nvPr/>
        </p:nvSpPr>
        <p:spPr>
          <a:xfrm>
            <a:off x="1005840" y="3730752"/>
            <a:ext cx="2834640" cy="292608"/>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Manual operations</a:t>
            </a:r>
            <a:endParaRPr lang="en-US" sz="1200" dirty="0"/>
          </a:p>
        </p:txBody>
      </p:sp>
      <p:sp>
        <p:nvSpPr>
          <p:cNvPr id="20" name="Shape 18"/>
          <p:cNvSpPr/>
          <p:nvPr/>
        </p:nvSpPr>
        <p:spPr>
          <a:xfrm>
            <a:off x="4251960" y="2103120"/>
            <a:ext cx="640080" cy="640080"/>
          </a:xfrm>
          <a:prstGeom prst="ellipse">
            <a:avLst/>
          </a:prstGeom>
          <a:solidFill>
            <a:srgbClr val="E53935"/>
          </a:solidFill>
          <a:ln/>
        </p:spPr>
      </p:sp>
      <p:sp>
        <p:nvSpPr>
          <p:cNvPr id="21" name="Text 19"/>
          <p:cNvSpPr/>
          <p:nvPr/>
        </p:nvSpPr>
        <p:spPr>
          <a:xfrm>
            <a:off x="4251960" y="2103120"/>
            <a:ext cx="64008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22" name="Shape 20"/>
          <p:cNvSpPr/>
          <p:nvPr/>
        </p:nvSpPr>
        <p:spPr>
          <a:xfrm>
            <a:off x="5120640" y="1371600"/>
            <a:ext cx="3657600" cy="2926080"/>
          </a:xfrm>
          <a:prstGeom prst="roundRect">
            <a:avLst>
              <a:gd name="adj" fmla="val 3750"/>
            </a:avLst>
          </a:prstGeom>
          <a:solidFill>
            <a:srgbClr val="FFF5F5"/>
          </a:solidFill>
          <a:ln/>
        </p:spPr>
      </p:sp>
      <p:sp>
        <p:nvSpPr>
          <p:cNvPr id="23" name="Shape 21"/>
          <p:cNvSpPr/>
          <p:nvPr/>
        </p:nvSpPr>
        <p:spPr>
          <a:xfrm>
            <a:off x="5120640" y="1371600"/>
            <a:ext cx="3657600" cy="457200"/>
          </a:xfrm>
          <a:prstGeom prst="rect">
            <a:avLst/>
          </a:prstGeom>
          <a:solidFill>
            <a:srgbClr val="E53935"/>
          </a:solidFill>
          <a:ln/>
        </p:spPr>
      </p:sp>
      <p:sp>
        <p:nvSpPr>
          <p:cNvPr id="24" name="Text 22"/>
          <p:cNvSpPr/>
          <p:nvPr/>
        </p:nvSpPr>
        <p:spPr>
          <a:xfrm>
            <a:off x="5120640" y="1371600"/>
            <a:ext cx="3657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NEW IDENTITY</a:t>
            </a:r>
            <a:endParaRPr lang="en-US" sz="1400" dirty="0"/>
          </a:p>
        </p:txBody>
      </p:sp>
      <p:sp>
        <p:nvSpPr>
          <p:cNvPr id="25" name="Shape 23"/>
          <p:cNvSpPr/>
          <p:nvPr/>
        </p:nvSpPr>
        <p:spPr>
          <a:xfrm>
            <a:off x="5349240" y="1938528"/>
            <a:ext cx="128016" cy="128016"/>
          </a:xfrm>
          <a:prstGeom prst="ellipse">
            <a:avLst/>
          </a:prstGeom>
          <a:solidFill>
            <a:srgbClr val="E53935"/>
          </a:solidFill>
          <a:ln/>
        </p:spPr>
      </p:sp>
      <p:sp>
        <p:nvSpPr>
          <p:cNvPr id="26" name="Text 24"/>
          <p:cNvSpPr/>
          <p:nvPr/>
        </p:nvSpPr>
        <p:spPr>
          <a:xfrm>
            <a:off x="5577840" y="1901952"/>
            <a:ext cx="301752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Asset-light flow designer</a:t>
            </a:r>
            <a:endParaRPr lang="en-US" sz="1200" dirty="0"/>
          </a:p>
        </p:txBody>
      </p:sp>
      <p:sp>
        <p:nvSpPr>
          <p:cNvPr id="27" name="Shape 25"/>
          <p:cNvSpPr/>
          <p:nvPr/>
        </p:nvSpPr>
        <p:spPr>
          <a:xfrm>
            <a:off x="5349240" y="2304288"/>
            <a:ext cx="128016" cy="128016"/>
          </a:xfrm>
          <a:prstGeom prst="ellipse">
            <a:avLst/>
          </a:prstGeom>
          <a:solidFill>
            <a:srgbClr val="E53935"/>
          </a:solidFill>
          <a:ln/>
        </p:spPr>
      </p:sp>
      <p:sp>
        <p:nvSpPr>
          <p:cNvPr id="28" name="Text 26"/>
          <p:cNvSpPr/>
          <p:nvPr/>
        </p:nvSpPr>
        <p:spPr>
          <a:xfrm>
            <a:off x="5577840" y="2267712"/>
            <a:ext cx="301752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Multi-sided marketplace</a:t>
            </a:r>
            <a:endParaRPr lang="en-US" sz="1200" dirty="0"/>
          </a:p>
        </p:txBody>
      </p:sp>
      <p:sp>
        <p:nvSpPr>
          <p:cNvPr id="29" name="Shape 27"/>
          <p:cNvSpPr/>
          <p:nvPr/>
        </p:nvSpPr>
        <p:spPr>
          <a:xfrm>
            <a:off x="5349240" y="2670048"/>
            <a:ext cx="128016" cy="128016"/>
          </a:xfrm>
          <a:prstGeom prst="ellipse">
            <a:avLst/>
          </a:prstGeom>
          <a:solidFill>
            <a:srgbClr val="E53935"/>
          </a:solidFill>
          <a:ln/>
        </p:spPr>
      </p:sp>
      <p:sp>
        <p:nvSpPr>
          <p:cNvPr id="30" name="Text 28"/>
          <p:cNvSpPr/>
          <p:nvPr/>
        </p:nvSpPr>
        <p:spPr>
          <a:xfrm>
            <a:off x="5577840" y="2633472"/>
            <a:ext cx="301752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Digital control tower</a:t>
            </a:r>
            <a:endParaRPr lang="en-US" sz="1200" dirty="0"/>
          </a:p>
        </p:txBody>
      </p:sp>
      <p:sp>
        <p:nvSpPr>
          <p:cNvPr id="31" name="Shape 29"/>
          <p:cNvSpPr/>
          <p:nvPr/>
        </p:nvSpPr>
        <p:spPr>
          <a:xfrm>
            <a:off x="5349240" y="3035808"/>
            <a:ext cx="128016" cy="128016"/>
          </a:xfrm>
          <a:prstGeom prst="ellipse">
            <a:avLst/>
          </a:prstGeom>
          <a:solidFill>
            <a:srgbClr val="E53935"/>
          </a:solidFill>
          <a:ln/>
        </p:spPr>
      </p:sp>
      <p:sp>
        <p:nvSpPr>
          <p:cNvPr id="32" name="Text 30"/>
          <p:cNvSpPr/>
          <p:nvPr/>
        </p:nvSpPr>
        <p:spPr>
          <a:xfrm>
            <a:off x="5577840" y="2999232"/>
            <a:ext cx="301752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Algorithmic pricing discipline</a:t>
            </a:r>
            <a:endParaRPr lang="en-US" sz="1200" dirty="0"/>
          </a:p>
        </p:txBody>
      </p:sp>
      <p:sp>
        <p:nvSpPr>
          <p:cNvPr id="33" name="Shape 31"/>
          <p:cNvSpPr/>
          <p:nvPr/>
        </p:nvSpPr>
        <p:spPr>
          <a:xfrm>
            <a:off x="5349240" y="3401568"/>
            <a:ext cx="128016" cy="128016"/>
          </a:xfrm>
          <a:prstGeom prst="ellipse">
            <a:avLst/>
          </a:prstGeom>
          <a:solidFill>
            <a:srgbClr val="E53935"/>
          </a:solidFill>
          <a:ln/>
        </p:spPr>
      </p:sp>
      <p:sp>
        <p:nvSpPr>
          <p:cNvPr id="34" name="Text 32"/>
          <p:cNvSpPr/>
          <p:nvPr/>
        </p:nvSpPr>
        <p:spPr>
          <a:xfrm>
            <a:off x="5577840" y="3364992"/>
            <a:ext cx="301752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Just-in-time demand-backed sourcing</a:t>
            </a:r>
            <a:endParaRPr lang="en-US" sz="1200" dirty="0"/>
          </a:p>
        </p:txBody>
      </p:sp>
      <p:sp>
        <p:nvSpPr>
          <p:cNvPr id="35" name="Shape 33"/>
          <p:cNvSpPr/>
          <p:nvPr/>
        </p:nvSpPr>
        <p:spPr>
          <a:xfrm>
            <a:off x="5349240" y="3767328"/>
            <a:ext cx="128016" cy="128016"/>
          </a:xfrm>
          <a:prstGeom prst="ellipse">
            <a:avLst/>
          </a:prstGeom>
          <a:solidFill>
            <a:srgbClr val="E53935"/>
          </a:solidFill>
          <a:ln/>
        </p:spPr>
      </p:sp>
      <p:sp>
        <p:nvSpPr>
          <p:cNvPr id="36" name="Text 34"/>
          <p:cNvSpPr/>
          <p:nvPr/>
        </p:nvSpPr>
        <p:spPr>
          <a:xfrm>
            <a:off x="5577840" y="3730752"/>
            <a:ext cx="3017520" cy="292608"/>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Automated enforcement systems</a:t>
            </a:r>
            <a:endParaRPr lang="en-US" sz="1200" dirty="0"/>
          </a:p>
        </p:txBody>
      </p:sp>
      <p:sp>
        <p:nvSpPr>
          <p:cNvPr id="37" name="Shape 35"/>
          <p:cNvSpPr/>
          <p:nvPr/>
        </p:nvSpPr>
        <p:spPr>
          <a:xfrm>
            <a:off x="548640" y="4434840"/>
            <a:ext cx="8229600" cy="457200"/>
          </a:xfrm>
          <a:prstGeom prst="roundRect">
            <a:avLst>
              <a:gd name="adj" fmla="val 16000"/>
            </a:avLst>
          </a:prstGeom>
          <a:solidFill>
            <a:srgbClr val="E53935"/>
          </a:solidFill>
          <a:ln/>
        </p:spPr>
      </p:sp>
      <p:sp>
        <p:nvSpPr>
          <p:cNvPr id="38" name="Text 36"/>
          <p:cNvSpPr/>
          <p:nvPr/>
        </p:nvSpPr>
        <p:spPr>
          <a:xfrm>
            <a:off x="548640" y="4434840"/>
            <a:ext cx="82296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End-State Target: 0% direct B2C volume — 100% B2B + B2B2C mix through Smart Souks &amp; Captains</a:t>
            </a:r>
            <a:endParaRPr lang="en-US" sz="1200" dirty="0"/>
          </a:p>
        </p:txBody>
      </p:sp>
      <p:sp>
        <p:nvSpPr>
          <p:cNvPr id="39" name="Shape 37"/>
          <p:cNvSpPr/>
          <p:nvPr/>
        </p:nvSpPr>
        <p:spPr>
          <a:xfrm>
            <a:off x="8046720" y="182880"/>
            <a:ext cx="1280160" cy="1280160"/>
          </a:xfrm>
          <a:prstGeom prst="ellipse">
            <a:avLst/>
          </a:prstGeom>
          <a:solidFill>
            <a:srgbClr val="E53935">
              <a:alpha val="7000"/>
            </a:srgbClr>
          </a:solidFill>
          <a:ln/>
        </p:spPr>
      </p:sp>
      <p:sp>
        <p:nvSpPr>
          <p:cNvPr id="40" name="Shape 38"/>
          <p:cNvSpPr/>
          <p:nvPr/>
        </p:nvSpPr>
        <p:spPr>
          <a:xfrm>
            <a:off x="8503920" y="4663440"/>
            <a:ext cx="365760" cy="365760"/>
          </a:xfrm>
          <a:prstGeom prst="ellipse">
            <a:avLst/>
          </a:prstGeom>
          <a:solidFill>
            <a:srgbClr val="E53935"/>
          </a:solidFill>
          <a:ln/>
        </p:spPr>
      </p:sp>
      <p:sp>
        <p:nvSpPr>
          <p:cNvPr id="41" name="Text 39"/>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BUSINESS MODEL OVERVIEW</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Three Revenue Streams, One Platform</a:t>
            </a:r>
            <a:endParaRPr lang="en-US" sz="3000" dirty="0"/>
          </a:p>
        </p:txBody>
      </p:sp>
      <p:sp>
        <p:nvSpPr>
          <p:cNvPr id="5" name="Shape 3"/>
          <p:cNvSpPr/>
          <p:nvPr/>
        </p:nvSpPr>
        <p:spPr>
          <a:xfrm>
            <a:off x="548640" y="1371600"/>
            <a:ext cx="2606040" cy="2926080"/>
          </a:xfrm>
          <a:prstGeom prst="roundRect">
            <a:avLst>
              <a:gd name="adj" fmla="val 5263"/>
            </a:avLst>
          </a:prstGeom>
          <a:solidFill>
            <a:srgbClr val="FFF5F5"/>
          </a:solidFill>
          <a:ln/>
          <a:effectLst>
            <a:outerShdw sx="100000" sy="100000" kx="0" ky="0" algn="bl" rotWithShape="0" blurRad="50800" dist="25400" dir="16200000">
              <a:srgbClr val="000000">
                <a:alpha val="6000"/>
              </a:srgbClr>
            </a:outerShdw>
          </a:effectLst>
        </p:spPr>
      </p:sp>
      <p:sp>
        <p:nvSpPr>
          <p:cNvPr id="6" name="Shape 4"/>
          <p:cNvSpPr/>
          <p:nvPr/>
        </p:nvSpPr>
        <p:spPr>
          <a:xfrm>
            <a:off x="548640" y="1371600"/>
            <a:ext cx="2606040" cy="64008"/>
          </a:xfrm>
          <a:prstGeom prst="rect">
            <a:avLst/>
          </a:prstGeom>
          <a:solidFill>
            <a:srgbClr val="E53935"/>
          </a:solidFill>
          <a:ln/>
        </p:spPr>
      </p:sp>
      <p:sp>
        <p:nvSpPr>
          <p:cNvPr id="7" name="Text 5"/>
          <p:cNvSpPr/>
          <p:nvPr/>
        </p:nvSpPr>
        <p:spPr>
          <a:xfrm>
            <a:off x="548640" y="1554480"/>
            <a:ext cx="260604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Arial" pitchFamily="34" charset="0"/>
                <a:ea typeface="Arial" pitchFamily="34" charset="-122"/>
                <a:cs typeface="Arial" pitchFamily="34" charset="-120"/>
              </a:rPr>
              <a:t>📦</a:t>
            </a:r>
            <a:endParaRPr lang="en-US" sz="3000" dirty="0"/>
          </a:p>
        </p:txBody>
      </p:sp>
      <p:sp>
        <p:nvSpPr>
          <p:cNvPr id="8" name="Text 6"/>
          <p:cNvSpPr/>
          <p:nvPr/>
        </p:nvSpPr>
        <p:spPr>
          <a:xfrm>
            <a:off x="731520" y="2011680"/>
            <a:ext cx="2286000" cy="36576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Trade Margin</a:t>
            </a:r>
            <a:endParaRPr lang="en-US" sz="1800" dirty="0"/>
          </a:p>
        </p:txBody>
      </p:sp>
      <p:sp>
        <p:nvSpPr>
          <p:cNvPr id="9" name="Text 7"/>
          <p:cNvSpPr/>
          <p:nvPr/>
        </p:nvSpPr>
        <p:spPr>
          <a:xfrm>
            <a:off x="731520" y="2331720"/>
            <a:ext cx="2286000" cy="365760"/>
          </a:xfrm>
          <a:prstGeom prst="rect">
            <a:avLst/>
          </a:prstGeom>
          <a:noFill/>
          <a:ln/>
        </p:spPr>
        <p:txBody>
          <a:bodyPr wrap="square" lIns="0" tIns="0" rIns="0" bIns="0" rtlCol="0" anchor="ctr"/>
          <a:lstStyle/>
          <a:p>
            <a:pPr algn="ctr" indent="0" marL="0">
              <a:buNone/>
            </a:pPr>
            <a:r>
              <a:rPr lang="en-US" sz="2200" b="1" dirty="0">
                <a:solidFill>
                  <a:srgbClr val="E53935"/>
                </a:solidFill>
                <a:latin typeface="Arial" pitchFamily="34" charset="0"/>
                <a:ea typeface="Arial" pitchFamily="34" charset="-122"/>
                <a:cs typeface="Arial" pitchFamily="34" charset="-120"/>
              </a:rPr>
              <a:t>~50%</a:t>
            </a:r>
            <a:endParaRPr lang="en-US" sz="2200" dirty="0"/>
          </a:p>
        </p:txBody>
      </p:sp>
      <p:sp>
        <p:nvSpPr>
          <p:cNvPr id="10" name="Shape 8"/>
          <p:cNvSpPr/>
          <p:nvPr/>
        </p:nvSpPr>
        <p:spPr>
          <a:xfrm>
            <a:off x="914400" y="2743200"/>
            <a:ext cx="1874520" cy="27432"/>
          </a:xfrm>
          <a:prstGeom prst="rect">
            <a:avLst/>
          </a:prstGeom>
          <a:solidFill>
            <a:srgbClr val="E5E5E5"/>
          </a:solidFill>
          <a:ln/>
        </p:spPr>
      </p:sp>
      <p:sp>
        <p:nvSpPr>
          <p:cNvPr id="11" name="Text 9"/>
          <p:cNvSpPr/>
          <p:nvPr/>
        </p:nvSpPr>
        <p:spPr>
          <a:xfrm>
            <a:off x="731520" y="2834640"/>
            <a:ext cx="2286000" cy="548640"/>
          </a:xfrm>
          <a:prstGeom prst="rect">
            <a:avLst/>
          </a:prstGeom>
          <a:noFill/>
          <a:ln/>
        </p:spPr>
        <p:txBody>
          <a:bodyPr wrap="square" lIns="0" tIns="0" rIns="0" bIns="0" rtlCol="0" anchor="ctr"/>
          <a:lstStyle/>
          <a:p>
            <a:pPr algn="ctr" indent="0" marL="0">
              <a:buNone/>
            </a:pPr>
            <a:r>
              <a:rPr lang="en-US" sz="1200" dirty="0">
                <a:solidFill>
                  <a:srgbClr val="444444"/>
                </a:solidFill>
                <a:latin typeface="Arial" pitchFamily="34" charset="0"/>
                <a:ea typeface="Arial" pitchFamily="34" charset="-122"/>
                <a:cs typeface="Arial" pitchFamily="34" charset="-120"/>
              </a:rPr>
              <a:t>Spread between supplier buy price and platform sell price</a:t>
            </a:r>
            <a:endParaRPr lang="en-US" sz="1200" dirty="0"/>
          </a:p>
        </p:txBody>
      </p:sp>
      <p:sp>
        <p:nvSpPr>
          <p:cNvPr id="12" name="Text 10"/>
          <p:cNvSpPr/>
          <p:nvPr/>
        </p:nvSpPr>
        <p:spPr>
          <a:xfrm>
            <a:off x="731520" y="3429000"/>
            <a:ext cx="2286000" cy="457200"/>
          </a:xfrm>
          <a:prstGeom prst="rect">
            <a:avLst/>
          </a:prstGeom>
          <a:noFill/>
          <a:ln/>
        </p:spPr>
        <p:txBody>
          <a:bodyPr wrap="square" lIns="0" tIns="0" rIns="0" bIns="0" rtlCol="0" anchor="ctr"/>
          <a:lstStyle/>
          <a:p>
            <a:pPr algn="ctr" indent="0" marL="0">
              <a:buNone/>
            </a:pPr>
            <a:r>
              <a:rPr lang="en-US" sz="1100" i="1" dirty="0">
                <a:solidFill>
                  <a:srgbClr val="888888"/>
                </a:solidFill>
                <a:latin typeface="Arial" pitchFamily="34" charset="0"/>
                <a:ea typeface="Arial" pitchFamily="34" charset="-122"/>
                <a:cs typeface="Arial" pitchFamily="34" charset="-120"/>
              </a:rPr>
              <a:t>Buy: 40 ETB/kg → Sell: 46 ETB/kg → Net: ~2 ETB/kg</a:t>
            </a:r>
            <a:endParaRPr lang="en-US" sz="1100" dirty="0"/>
          </a:p>
        </p:txBody>
      </p:sp>
      <p:sp>
        <p:nvSpPr>
          <p:cNvPr id="13" name="Shape 11"/>
          <p:cNvSpPr/>
          <p:nvPr/>
        </p:nvSpPr>
        <p:spPr>
          <a:xfrm>
            <a:off x="3383280" y="1371600"/>
            <a:ext cx="2606040" cy="2926080"/>
          </a:xfrm>
          <a:prstGeom prst="roundRect">
            <a:avLst>
              <a:gd name="adj" fmla="val 5263"/>
            </a:avLst>
          </a:prstGeom>
          <a:solidFill>
            <a:srgbClr val="F8F8F8"/>
          </a:solidFill>
          <a:ln/>
          <a:effectLst>
            <a:outerShdw sx="100000" sy="100000" kx="0" ky="0" algn="bl" rotWithShape="0" blurRad="50800" dist="25400" dir="16200000">
              <a:srgbClr val="000000">
                <a:alpha val="6000"/>
              </a:srgbClr>
            </a:outerShdw>
          </a:effectLst>
        </p:spPr>
      </p:sp>
      <p:sp>
        <p:nvSpPr>
          <p:cNvPr id="14" name="Shape 12"/>
          <p:cNvSpPr/>
          <p:nvPr/>
        </p:nvSpPr>
        <p:spPr>
          <a:xfrm>
            <a:off x="3383280" y="1371600"/>
            <a:ext cx="2606040" cy="64008"/>
          </a:xfrm>
          <a:prstGeom prst="rect">
            <a:avLst/>
          </a:prstGeom>
          <a:solidFill>
            <a:srgbClr val="E53935"/>
          </a:solidFill>
          <a:ln/>
        </p:spPr>
      </p:sp>
      <p:sp>
        <p:nvSpPr>
          <p:cNvPr id="15" name="Text 13"/>
          <p:cNvSpPr/>
          <p:nvPr/>
        </p:nvSpPr>
        <p:spPr>
          <a:xfrm>
            <a:off x="3383280" y="1554480"/>
            <a:ext cx="260604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Arial" pitchFamily="34" charset="0"/>
                <a:ea typeface="Arial" pitchFamily="34" charset="-122"/>
                <a:cs typeface="Arial" pitchFamily="34" charset="-120"/>
              </a:rPr>
              <a:t>💳</a:t>
            </a:r>
            <a:endParaRPr lang="en-US" sz="3000" dirty="0"/>
          </a:p>
        </p:txBody>
      </p:sp>
      <p:sp>
        <p:nvSpPr>
          <p:cNvPr id="16" name="Text 14"/>
          <p:cNvSpPr/>
          <p:nvPr/>
        </p:nvSpPr>
        <p:spPr>
          <a:xfrm>
            <a:off x="3566160" y="2011680"/>
            <a:ext cx="2286000" cy="36576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BNPL Financing</a:t>
            </a:r>
            <a:endParaRPr lang="en-US" sz="1800" dirty="0"/>
          </a:p>
        </p:txBody>
      </p:sp>
      <p:sp>
        <p:nvSpPr>
          <p:cNvPr id="17" name="Text 15"/>
          <p:cNvSpPr/>
          <p:nvPr/>
        </p:nvSpPr>
        <p:spPr>
          <a:xfrm>
            <a:off x="3566160" y="2331720"/>
            <a:ext cx="2286000" cy="365760"/>
          </a:xfrm>
          <a:prstGeom prst="rect">
            <a:avLst/>
          </a:prstGeom>
          <a:noFill/>
          <a:ln/>
        </p:spPr>
        <p:txBody>
          <a:bodyPr wrap="square" lIns="0" tIns="0" rIns="0" bIns="0" rtlCol="0" anchor="ctr"/>
          <a:lstStyle/>
          <a:p>
            <a:pPr algn="ctr" indent="0" marL="0">
              <a:buNone/>
            </a:pPr>
            <a:r>
              <a:rPr lang="en-US" sz="2200" b="1" dirty="0">
                <a:solidFill>
                  <a:srgbClr val="E53935"/>
                </a:solidFill>
                <a:latin typeface="Arial" pitchFamily="34" charset="0"/>
                <a:ea typeface="Arial" pitchFamily="34" charset="-122"/>
                <a:cs typeface="Arial" pitchFamily="34" charset="-120"/>
              </a:rPr>
              <a:t>~35%</a:t>
            </a:r>
            <a:endParaRPr lang="en-US" sz="2200" dirty="0"/>
          </a:p>
        </p:txBody>
      </p:sp>
      <p:sp>
        <p:nvSpPr>
          <p:cNvPr id="18" name="Shape 16"/>
          <p:cNvSpPr/>
          <p:nvPr/>
        </p:nvSpPr>
        <p:spPr>
          <a:xfrm>
            <a:off x="3749040" y="2743200"/>
            <a:ext cx="1874520" cy="27432"/>
          </a:xfrm>
          <a:prstGeom prst="rect">
            <a:avLst/>
          </a:prstGeom>
          <a:solidFill>
            <a:srgbClr val="E5E5E5"/>
          </a:solidFill>
          <a:ln/>
        </p:spPr>
      </p:sp>
      <p:sp>
        <p:nvSpPr>
          <p:cNvPr id="19" name="Text 17"/>
          <p:cNvSpPr/>
          <p:nvPr/>
        </p:nvSpPr>
        <p:spPr>
          <a:xfrm>
            <a:off x="3566160" y="2834640"/>
            <a:ext cx="2286000" cy="548640"/>
          </a:xfrm>
          <a:prstGeom prst="rect">
            <a:avLst/>
          </a:prstGeom>
          <a:noFill/>
          <a:ln/>
        </p:spPr>
        <p:txBody>
          <a:bodyPr wrap="square" lIns="0" tIns="0" rIns="0" bIns="0" rtlCol="0" anchor="ctr"/>
          <a:lstStyle/>
          <a:p>
            <a:pPr algn="ctr" indent="0" marL="0">
              <a:buNone/>
            </a:pPr>
            <a:r>
              <a:rPr lang="en-US" sz="1200" dirty="0">
                <a:solidFill>
                  <a:srgbClr val="444444"/>
                </a:solidFill>
                <a:latin typeface="Arial" pitchFamily="34" charset="0"/>
                <a:ea typeface="Arial" pitchFamily="34" charset="-122"/>
                <a:cs typeface="Arial" pitchFamily="34" charset="-120"/>
              </a:rPr>
              <a:t>Credit products for SGLs, restaurants, suppliers, drivers</a:t>
            </a:r>
            <a:endParaRPr lang="en-US" sz="1200" dirty="0"/>
          </a:p>
        </p:txBody>
      </p:sp>
      <p:sp>
        <p:nvSpPr>
          <p:cNvPr id="20" name="Text 18"/>
          <p:cNvSpPr/>
          <p:nvPr/>
        </p:nvSpPr>
        <p:spPr>
          <a:xfrm>
            <a:off x="3566160" y="3429000"/>
            <a:ext cx="2286000" cy="457200"/>
          </a:xfrm>
          <a:prstGeom prst="rect">
            <a:avLst/>
          </a:prstGeom>
          <a:noFill/>
          <a:ln/>
        </p:spPr>
        <p:txBody>
          <a:bodyPr wrap="square" lIns="0" tIns="0" rIns="0" bIns="0" rtlCol="0" anchor="ctr"/>
          <a:lstStyle/>
          <a:p>
            <a:pPr algn="ctr" indent="0" marL="0">
              <a:buNone/>
            </a:pPr>
            <a:r>
              <a:rPr lang="en-US" sz="1100" i="1" dirty="0">
                <a:solidFill>
                  <a:srgbClr val="888888"/>
                </a:solidFill>
                <a:latin typeface="Arial" pitchFamily="34" charset="0"/>
                <a:ea typeface="Arial" pitchFamily="34" charset="-122"/>
                <a:cs typeface="Arial" pitchFamily="34" charset="-120"/>
              </a:rPr>
              <a:t>7-14 day cycles, 3% fee per transaction</a:t>
            </a:r>
            <a:endParaRPr lang="en-US" sz="1100" dirty="0"/>
          </a:p>
        </p:txBody>
      </p:sp>
      <p:sp>
        <p:nvSpPr>
          <p:cNvPr id="21" name="Shape 19"/>
          <p:cNvSpPr/>
          <p:nvPr/>
        </p:nvSpPr>
        <p:spPr>
          <a:xfrm>
            <a:off x="6217920" y="1371600"/>
            <a:ext cx="2606040" cy="2926080"/>
          </a:xfrm>
          <a:prstGeom prst="roundRect">
            <a:avLst>
              <a:gd name="adj" fmla="val 5263"/>
            </a:avLst>
          </a:prstGeom>
          <a:solidFill>
            <a:srgbClr val="F8F8F8"/>
          </a:solidFill>
          <a:ln/>
          <a:effectLst>
            <a:outerShdw sx="100000" sy="100000" kx="0" ky="0" algn="bl" rotWithShape="0" blurRad="50800" dist="25400" dir="16200000">
              <a:srgbClr val="000000">
                <a:alpha val="6000"/>
              </a:srgbClr>
            </a:outerShdw>
          </a:effectLst>
        </p:spPr>
      </p:sp>
      <p:sp>
        <p:nvSpPr>
          <p:cNvPr id="22" name="Shape 20"/>
          <p:cNvSpPr/>
          <p:nvPr/>
        </p:nvSpPr>
        <p:spPr>
          <a:xfrm>
            <a:off x="6217920" y="1371600"/>
            <a:ext cx="2606040" cy="64008"/>
          </a:xfrm>
          <a:prstGeom prst="rect">
            <a:avLst/>
          </a:prstGeom>
          <a:solidFill>
            <a:srgbClr val="E53935"/>
          </a:solidFill>
          <a:ln/>
        </p:spPr>
      </p:sp>
      <p:sp>
        <p:nvSpPr>
          <p:cNvPr id="23" name="Text 21"/>
          <p:cNvSpPr/>
          <p:nvPr/>
        </p:nvSpPr>
        <p:spPr>
          <a:xfrm>
            <a:off x="6217920" y="1554480"/>
            <a:ext cx="260604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Arial" pitchFamily="34" charset="0"/>
                <a:ea typeface="Arial" pitchFamily="34" charset="-122"/>
                <a:cs typeface="Arial" pitchFamily="34" charset="-120"/>
              </a:rPr>
              <a:t>🛠</a:t>
            </a:r>
            <a:endParaRPr lang="en-US" sz="3000" dirty="0"/>
          </a:p>
        </p:txBody>
      </p:sp>
      <p:sp>
        <p:nvSpPr>
          <p:cNvPr id="24" name="Text 22"/>
          <p:cNvSpPr/>
          <p:nvPr/>
        </p:nvSpPr>
        <p:spPr>
          <a:xfrm>
            <a:off x="6400800" y="2011680"/>
            <a:ext cx="2286000" cy="36576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Platform SaaS</a:t>
            </a:r>
            <a:endParaRPr lang="en-US" sz="1800" dirty="0"/>
          </a:p>
        </p:txBody>
      </p:sp>
      <p:sp>
        <p:nvSpPr>
          <p:cNvPr id="25" name="Text 23"/>
          <p:cNvSpPr/>
          <p:nvPr/>
        </p:nvSpPr>
        <p:spPr>
          <a:xfrm>
            <a:off x="6400800" y="2331720"/>
            <a:ext cx="2286000" cy="365760"/>
          </a:xfrm>
          <a:prstGeom prst="rect">
            <a:avLst/>
          </a:prstGeom>
          <a:noFill/>
          <a:ln/>
        </p:spPr>
        <p:txBody>
          <a:bodyPr wrap="square" lIns="0" tIns="0" rIns="0" bIns="0" rtlCol="0" anchor="ctr"/>
          <a:lstStyle/>
          <a:p>
            <a:pPr algn="ctr" indent="0" marL="0">
              <a:buNone/>
            </a:pPr>
            <a:r>
              <a:rPr lang="en-US" sz="2200" b="1" dirty="0">
                <a:solidFill>
                  <a:srgbClr val="E53935"/>
                </a:solidFill>
                <a:latin typeface="Arial" pitchFamily="34" charset="0"/>
                <a:ea typeface="Arial" pitchFamily="34" charset="-122"/>
                <a:cs typeface="Arial" pitchFamily="34" charset="-120"/>
              </a:rPr>
              <a:t>~15%</a:t>
            </a:r>
            <a:endParaRPr lang="en-US" sz="2200" dirty="0"/>
          </a:p>
        </p:txBody>
      </p:sp>
      <p:sp>
        <p:nvSpPr>
          <p:cNvPr id="26" name="Shape 24"/>
          <p:cNvSpPr/>
          <p:nvPr/>
        </p:nvSpPr>
        <p:spPr>
          <a:xfrm>
            <a:off x="6583680" y="2743200"/>
            <a:ext cx="1874520" cy="27432"/>
          </a:xfrm>
          <a:prstGeom prst="rect">
            <a:avLst/>
          </a:prstGeom>
          <a:solidFill>
            <a:srgbClr val="E5E5E5"/>
          </a:solidFill>
          <a:ln/>
        </p:spPr>
      </p:sp>
      <p:sp>
        <p:nvSpPr>
          <p:cNvPr id="27" name="Text 25"/>
          <p:cNvSpPr/>
          <p:nvPr/>
        </p:nvSpPr>
        <p:spPr>
          <a:xfrm>
            <a:off x="6400800" y="2834640"/>
            <a:ext cx="2286000" cy="548640"/>
          </a:xfrm>
          <a:prstGeom prst="rect">
            <a:avLst/>
          </a:prstGeom>
          <a:noFill/>
          <a:ln/>
        </p:spPr>
        <p:txBody>
          <a:bodyPr wrap="square" lIns="0" tIns="0" rIns="0" bIns="0" rtlCol="0" anchor="ctr"/>
          <a:lstStyle/>
          <a:p>
            <a:pPr algn="ctr" indent="0" marL="0">
              <a:buNone/>
            </a:pPr>
            <a:r>
              <a:rPr lang="en-US" sz="1200" dirty="0">
                <a:solidFill>
                  <a:srgbClr val="444444"/>
                </a:solidFill>
                <a:latin typeface="Arial" pitchFamily="34" charset="0"/>
                <a:ea typeface="Arial" pitchFamily="34" charset="-122"/>
                <a:cs typeface="Arial" pitchFamily="34" charset="-120"/>
              </a:rPr>
              <a:t>Supplier tools, price benchmarking, demand forecasts, ads</a:t>
            </a:r>
            <a:endParaRPr lang="en-US" sz="1200" dirty="0"/>
          </a:p>
        </p:txBody>
      </p:sp>
      <p:sp>
        <p:nvSpPr>
          <p:cNvPr id="28" name="Text 26"/>
          <p:cNvSpPr/>
          <p:nvPr/>
        </p:nvSpPr>
        <p:spPr>
          <a:xfrm>
            <a:off x="6400800" y="3429000"/>
            <a:ext cx="2286000" cy="457200"/>
          </a:xfrm>
          <a:prstGeom prst="rect">
            <a:avLst/>
          </a:prstGeom>
          <a:noFill/>
          <a:ln/>
        </p:spPr>
        <p:txBody>
          <a:bodyPr wrap="square" lIns="0" tIns="0" rIns="0" bIns="0" rtlCol="0" anchor="ctr"/>
          <a:lstStyle/>
          <a:p>
            <a:pPr algn="ctr" indent="0" marL="0">
              <a:buNone/>
            </a:pPr>
            <a:r>
              <a:rPr lang="en-US" sz="1100" i="1" dirty="0">
                <a:solidFill>
                  <a:srgbClr val="888888"/>
                </a:solidFill>
                <a:latin typeface="Arial" pitchFamily="34" charset="0"/>
                <a:ea typeface="Arial" pitchFamily="34" charset="-122"/>
                <a:cs typeface="Arial" pitchFamily="34" charset="-120"/>
              </a:rPr>
              <a:t>Marketplace ads, data products, white-label licensing</a:t>
            </a:r>
            <a:endParaRPr lang="en-US" sz="1100" dirty="0"/>
          </a:p>
        </p:txBody>
      </p:sp>
      <p:sp>
        <p:nvSpPr>
          <p:cNvPr id="29" name="Shape 27"/>
          <p:cNvSpPr/>
          <p:nvPr/>
        </p:nvSpPr>
        <p:spPr>
          <a:xfrm>
            <a:off x="548640" y="4480560"/>
            <a:ext cx="8229600" cy="411480"/>
          </a:xfrm>
          <a:prstGeom prst="roundRect">
            <a:avLst>
              <a:gd name="adj" fmla="val 17778"/>
            </a:avLst>
          </a:prstGeom>
          <a:solidFill>
            <a:srgbClr val="1A1A1A"/>
          </a:solidFill>
          <a:ln/>
        </p:spPr>
      </p:sp>
      <p:sp>
        <p:nvSpPr>
          <p:cNvPr id="30" name="Text 28"/>
          <p:cNvSpPr/>
          <p:nvPr/>
        </p:nvSpPr>
        <p:spPr>
          <a:xfrm>
            <a:off x="548640" y="4480560"/>
            <a:ext cx="8229600" cy="41148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"ChipChip does not negotiate demand. ChipChip prices demand into discipline."</a:t>
            </a:r>
            <a:endParaRPr lang="en-US" sz="1300" dirty="0"/>
          </a:p>
        </p:txBody>
      </p:sp>
      <p:sp>
        <p:nvSpPr>
          <p:cNvPr id="31" name="Shape 29"/>
          <p:cNvSpPr/>
          <p:nvPr/>
        </p:nvSpPr>
        <p:spPr>
          <a:xfrm>
            <a:off x="8503920" y="4663440"/>
            <a:ext cx="365760" cy="365760"/>
          </a:xfrm>
          <a:prstGeom prst="ellipse">
            <a:avLst/>
          </a:prstGeom>
          <a:solidFill>
            <a:srgbClr val="E53935"/>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REVENUE STREAMS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Unit Economics &amp; Gate Pricing</a:t>
            </a:r>
            <a:endParaRPr lang="en-US" sz="3000" dirty="0"/>
          </a:p>
        </p:txBody>
      </p:sp>
      <p:sp>
        <p:nvSpPr>
          <p:cNvPr id="5" name="Shape 3"/>
          <p:cNvSpPr/>
          <p:nvPr/>
        </p:nvSpPr>
        <p:spPr>
          <a:xfrm>
            <a:off x="548640" y="1325880"/>
            <a:ext cx="3840480" cy="2560320"/>
          </a:xfrm>
          <a:prstGeom prst="roundRect">
            <a:avLst>
              <a:gd name="adj" fmla="val 3571"/>
            </a:avLst>
          </a:prstGeom>
          <a:solidFill>
            <a:srgbClr val="F8F8F8"/>
          </a:solidFill>
          <a:ln/>
        </p:spPr>
      </p:sp>
      <p:sp>
        <p:nvSpPr>
          <p:cNvPr id="6" name="Text 4"/>
          <p:cNvSpPr/>
          <p:nvPr/>
        </p:nvSpPr>
        <p:spPr>
          <a:xfrm>
            <a:off x="548640" y="1325880"/>
            <a:ext cx="3840480" cy="320040"/>
          </a:xfrm>
          <a:prstGeom prst="rect">
            <a:avLst/>
          </a:prstGeom>
          <a:noFill/>
          <a:ln/>
        </p:spPr>
        <p:txBody>
          <a:bodyPr wrap="square" lIns="0" tIns="0" rIns="0" bIns="0" rtlCol="0" anchor="t"/>
          <a:lstStyle/>
          <a:p>
            <a:pPr algn="ctr" indent="0" marL="0">
              <a:buNone/>
            </a:pPr>
            <a:r>
              <a:rPr lang="en-US" sz="1100" b="1" dirty="0">
                <a:solidFill>
                  <a:srgbClr val="E53935"/>
                </a:solidFill>
                <a:latin typeface="Arial" pitchFamily="34" charset="0"/>
                <a:ea typeface="Arial" pitchFamily="34" charset="-122"/>
                <a:cs typeface="Arial" pitchFamily="34" charset="-120"/>
              </a:rPr>
              <a:t>PER-KG SPREAD</a:t>
            </a:r>
            <a:endParaRPr lang="en-US" sz="1100" dirty="0"/>
          </a:p>
        </p:txBody>
      </p:sp>
      <p:sp>
        <p:nvSpPr>
          <p:cNvPr id="7" name="Text 5"/>
          <p:cNvSpPr/>
          <p:nvPr/>
        </p:nvSpPr>
        <p:spPr>
          <a:xfrm>
            <a:off x="731520" y="1664208"/>
            <a:ext cx="2194560" cy="256032"/>
          </a:xfrm>
          <a:prstGeom prst="rect">
            <a:avLst/>
          </a:prstGeom>
          <a:noFill/>
          <a:ln/>
        </p:spPr>
        <p:txBody>
          <a:bodyPr wrap="square" lIns="0" tIns="0" rIns="0" bIns="0" rtlCol="0" anchor="ctr"/>
          <a:lstStyle/>
          <a:p>
            <a:pPr indent="0" marL="0">
              <a:buNone/>
            </a:pPr>
            <a:r>
              <a:rPr lang="en-US" sz="1200" dirty="0">
                <a:solidFill>
                  <a:srgbClr val="1A1A1A"/>
                </a:solidFill>
                <a:latin typeface="Arial" pitchFamily="34" charset="0"/>
                <a:ea typeface="Arial" pitchFamily="34" charset="-122"/>
                <a:cs typeface="Arial" pitchFamily="34" charset="-120"/>
              </a:rPr>
              <a:t>Supplier buy price</a:t>
            </a:r>
            <a:endParaRPr lang="en-US" sz="1200" dirty="0"/>
          </a:p>
        </p:txBody>
      </p:sp>
      <p:sp>
        <p:nvSpPr>
          <p:cNvPr id="8" name="Text 6"/>
          <p:cNvSpPr/>
          <p:nvPr/>
        </p:nvSpPr>
        <p:spPr>
          <a:xfrm>
            <a:off x="2926080" y="1664208"/>
            <a:ext cx="1280160" cy="256032"/>
          </a:xfrm>
          <a:prstGeom prst="rect">
            <a:avLst/>
          </a:prstGeom>
          <a:noFill/>
          <a:ln/>
        </p:spPr>
        <p:txBody>
          <a:bodyPr wrap="square" lIns="0" tIns="0" rIns="0" bIns="0" rtlCol="0" anchor="ctr"/>
          <a:lstStyle/>
          <a:p>
            <a:pPr algn="r" indent="0" marL="0">
              <a:buNone/>
            </a:pPr>
            <a:r>
              <a:rPr lang="en-US" sz="1200" dirty="0">
                <a:solidFill>
                  <a:srgbClr val="333333"/>
                </a:solidFill>
                <a:latin typeface="Arial" pitchFamily="34" charset="0"/>
                <a:ea typeface="Arial" pitchFamily="34" charset="-122"/>
                <a:cs typeface="Arial" pitchFamily="34" charset="-120"/>
              </a:rPr>
              <a:t>40 ETB</a:t>
            </a:r>
            <a:endParaRPr lang="en-US" sz="1200" dirty="0"/>
          </a:p>
        </p:txBody>
      </p:sp>
      <p:sp>
        <p:nvSpPr>
          <p:cNvPr id="9" name="Text 7"/>
          <p:cNvSpPr/>
          <p:nvPr/>
        </p:nvSpPr>
        <p:spPr>
          <a:xfrm>
            <a:off x="731520" y="1975104"/>
            <a:ext cx="2194560" cy="256032"/>
          </a:xfrm>
          <a:prstGeom prst="rect">
            <a:avLst/>
          </a:prstGeom>
          <a:noFill/>
          <a:ln/>
        </p:spPr>
        <p:txBody>
          <a:bodyPr wrap="square" lIns="0" tIns="0" rIns="0" bIns="0" rtlCol="0" anchor="ctr"/>
          <a:lstStyle/>
          <a:p>
            <a:pPr indent="0" marL="0">
              <a:buNone/>
            </a:pPr>
            <a:r>
              <a:rPr lang="en-US" sz="1200" dirty="0">
                <a:solidFill>
                  <a:srgbClr val="1A1A1A"/>
                </a:solidFill>
                <a:latin typeface="Arial" pitchFamily="34" charset="0"/>
                <a:ea typeface="Arial" pitchFamily="34" charset="-122"/>
                <a:cs typeface="Arial" pitchFamily="34" charset="-120"/>
              </a:rPr>
              <a:t>Platform sell price</a:t>
            </a:r>
            <a:endParaRPr lang="en-US" sz="1200" dirty="0"/>
          </a:p>
        </p:txBody>
      </p:sp>
      <p:sp>
        <p:nvSpPr>
          <p:cNvPr id="10" name="Text 8"/>
          <p:cNvSpPr/>
          <p:nvPr/>
        </p:nvSpPr>
        <p:spPr>
          <a:xfrm>
            <a:off x="2926080" y="1975104"/>
            <a:ext cx="1280160" cy="256032"/>
          </a:xfrm>
          <a:prstGeom prst="rect">
            <a:avLst/>
          </a:prstGeom>
          <a:noFill/>
          <a:ln/>
        </p:spPr>
        <p:txBody>
          <a:bodyPr wrap="square" lIns="0" tIns="0" rIns="0" bIns="0" rtlCol="0" anchor="ctr"/>
          <a:lstStyle/>
          <a:p>
            <a:pPr algn="r" indent="0" marL="0">
              <a:buNone/>
            </a:pPr>
            <a:r>
              <a:rPr lang="en-US" sz="1200" dirty="0">
                <a:solidFill>
                  <a:srgbClr val="333333"/>
                </a:solidFill>
                <a:latin typeface="Arial" pitchFamily="34" charset="0"/>
                <a:ea typeface="Arial" pitchFamily="34" charset="-122"/>
                <a:cs typeface="Arial" pitchFamily="34" charset="-120"/>
              </a:rPr>
              <a:t>46 ETB</a:t>
            </a:r>
            <a:endParaRPr lang="en-US" sz="1200" dirty="0"/>
          </a:p>
        </p:txBody>
      </p:sp>
      <p:sp>
        <p:nvSpPr>
          <p:cNvPr id="11" name="Text 9"/>
          <p:cNvSpPr/>
          <p:nvPr/>
        </p:nvSpPr>
        <p:spPr>
          <a:xfrm>
            <a:off x="731520" y="2286000"/>
            <a:ext cx="2194560" cy="25603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Total spread</a:t>
            </a:r>
            <a:endParaRPr lang="en-US" sz="1200" dirty="0"/>
          </a:p>
        </p:txBody>
      </p:sp>
      <p:sp>
        <p:nvSpPr>
          <p:cNvPr id="12" name="Text 10"/>
          <p:cNvSpPr/>
          <p:nvPr/>
        </p:nvSpPr>
        <p:spPr>
          <a:xfrm>
            <a:off x="2926080" y="2286000"/>
            <a:ext cx="1280160" cy="256032"/>
          </a:xfrm>
          <a:prstGeom prst="rect">
            <a:avLst/>
          </a:prstGeom>
          <a:noFill/>
          <a:ln/>
        </p:spPr>
        <p:txBody>
          <a:bodyPr wrap="square" lIns="0" tIns="0" rIns="0" bIns="0" rtlCol="0" anchor="ctr"/>
          <a:lstStyle/>
          <a:p>
            <a:pPr algn="r" indent="0" marL="0">
              <a:buNone/>
            </a:pPr>
            <a:r>
              <a:rPr lang="en-US" sz="1300" b="1" dirty="0">
                <a:solidFill>
                  <a:srgbClr val="E53935"/>
                </a:solidFill>
                <a:latin typeface="Arial" pitchFamily="34" charset="0"/>
                <a:ea typeface="Arial" pitchFamily="34" charset="-122"/>
                <a:cs typeface="Arial" pitchFamily="34" charset="-120"/>
              </a:rPr>
              <a:t>6 ETB/kg</a:t>
            </a:r>
            <a:endParaRPr lang="en-US" sz="1300" dirty="0"/>
          </a:p>
        </p:txBody>
      </p:sp>
      <p:sp>
        <p:nvSpPr>
          <p:cNvPr id="13" name="Text 11"/>
          <p:cNvSpPr/>
          <p:nvPr/>
        </p:nvSpPr>
        <p:spPr>
          <a:xfrm>
            <a:off x="731520" y="2596896"/>
            <a:ext cx="2194560" cy="256032"/>
          </a:xfrm>
          <a:prstGeom prst="rect">
            <a:avLst/>
          </a:prstGeom>
          <a:noFill/>
          <a:ln/>
        </p:spPr>
        <p:txBody>
          <a:bodyPr wrap="square" lIns="0" tIns="0" rIns="0" bIns="0" rtlCol="0" anchor="ctr"/>
          <a:lstStyle/>
          <a:p>
            <a:pPr indent="0" marL="0">
              <a:buNone/>
            </a:pPr>
            <a:r>
              <a:rPr lang="en-US" sz="1200" dirty="0">
                <a:solidFill>
                  <a:srgbClr val="1A1A1A"/>
                </a:solidFill>
                <a:latin typeface="Arial" pitchFamily="34" charset="0"/>
                <a:ea typeface="Arial" pitchFamily="34" charset="-122"/>
                <a:cs typeface="Arial" pitchFamily="34" charset="-120"/>
              </a:rPr>
              <a:t>→ Leader/Captain cut</a:t>
            </a:r>
            <a:endParaRPr lang="en-US" sz="1200" dirty="0"/>
          </a:p>
        </p:txBody>
      </p:sp>
      <p:sp>
        <p:nvSpPr>
          <p:cNvPr id="14" name="Text 12"/>
          <p:cNvSpPr/>
          <p:nvPr/>
        </p:nvSpPr>
        <p:spPr>
          <a:xfrm>
            <a:off x="2926080" y="2596896"/>
            <a:ext cx="1280160" cy="256032"/>
          </a:xfrm>
          <a:prstGeom prst="rect">
            <a:avLst/>
          </a:prstGeom>
          <a:noFill/>
          <a:ln/>
        </p:spPr>
        <p:txBody>
          <a:bodyPr wrap="square" lIns="0" tIns="0" rIns="0" bIns="0" rtlCol="0" anchor="ctr"/>
          <a:lstStyle/>
          <a:p>
            <a:pPr algn="r" indent="0" marL="0">
              <a:buNone/>
            </a:pPr>
            <a:r>
              <a:rPr lang="en-US" sz="1200" dirty="0">
                <a:solidFill>
                  <a:srgbClr val="333333"/>
                </a:solidFill>
                <a:latin typeface="Arial" pitchFamily="34" charset="0"/>
                <a:ea typeface="Arial" pitchFamily="34" charset="-122"/>
                <a:cs typeface="Arial" pitchFamily="34" charset="-120"/>
              </a:rPr>
              <a:t>2-3 ETB</a:t>
            </a:r>
            <a:endParaRPr lang="en-US" sz="1200" dirty="0"/>
          </a:p>
        </p:txBody>
      </p:sp>
      <p:sp>
        <p:nvSpPr>
          <p:cNvPr id="15" name="Text 13"/>
          <p:cNvSpPr/>
          <p:nvPr/>
        </p:nvSpPr>
        <p:spPr>
          <a:xfrm>
            <a:off x="731520" y="2907792"/>
            <a:ext cx="2194560" cy="256032"/>
          </a:xfrm>
          <a:prstGeom prst="rect">
            <a:avLst/>
          </a:prstGeom>
          <a:noFill/>
          <a:ln/>
        </p:spPr>
        <p:txBody>
          <a:bodyPr wrap="square" lIns="0" tIns="0" rIns="0" bIns="0" rtlCol="0" anchor="ctr"/>
          <a:lstStyle/>
          <a:p>
            <a:pPr indent="0" marL="0">
              <a:buNone/>
            </a:pPr>
            <a:r>
              <a:rPr lang="en-US" sz="1200" dirty="0">
                <a:solidFill>
                  <a:srgbClr val="1A1A1A"/>
                </a:solidFill>
                <a:latin typeface="Arial" pitchFamily="34" charset="0"/>
                <a:ea typeface="Arial" pitchFamily="34" charset="-122"/>
                <a:cs typeface="Arial" pitchFamily="34" charset="-120"/>
              </a:rPr>
              <a:t>→ ChipChip share</a:t>
            </a:r>
            <a:endParaRPr lang="en-US" sz="1200" dirty="0"/>
          </a:p>
        </p:txBody>
      </p:sp>
      <p:sp>
        <p:nvSpPr>
          <p:cNvPr id="16" name="Text 14"/>
          <p:cNvSpPr/>
          <p:nvPr/>
        </p:nvSpPr>
        <p:spPr>
          <a:xfrm>
            <a:off x="2926080" y="2907792"/>
            <a:ext cx="1280160" cy="256032"/>
          </a:xfrm>
          <a:prstGeom prst="rect">
            <a:avLst/>
          </a:prstGeom>
          <a:noFill/>
          <a:ln/>
        </p:spPr>
        <p:txBody>
          <a:bodyPr wrap="square" lIns="0" tIns="0" rIns="0" bIns="0" rtlCol="0" anchor="ctr"/>
          <a:lstStyle/>
          <a:p>
            <a:pPr algn="r" indent="0" marL="0">
              <a:buNone/>
            </a:pPr>
            <a:r>
              <a:rPr lang="en-US" sz="1200" dirty="0">
                <a:solidFill>
                  <a:srgbClr val="333333"/>
                </a:solidFill>
                <a:latin typeface="Arial" pitchFamily="34" charset="0"/>
                <a:ea typeface="Arial" pitchFamily="34" charset="-122"/>
                <a:cs typeface="Arial" pitchFamily="34" charset="-120"/>
              </a:rPr>
              <a:t>~2 ETB</a:t>
            </a:r>
            <a:endParaRPr lang="en-US" sz="1200" dirty="0"/>
          </a:p>
        </p:txBody>
      </p:sp>
      <p:sp>
        <p:nvSpPr>
          <p:cNvPr id="17" name="Text 15"/>
          <p:cNvSpPr/>
          <p:nvPr/>
        </p:nvSpPr>
        <p:spPr>
          <a:xfrm>
            <a:off x="731520" y="3218688"/>
            <a:ext cx="2194560" cy="256032"/>
          </a:xfrm>
          <a:prstGeom prst="rect">
            <a:avLst/>
          </a:prstGeom>
          <a:noFill/>
          <a:ln/>
        </p:spPr>
        <p:txBody>
          <a:bodyPr wrap="square" lIns="0" tIns="0" rIns="0" bIns="0" rtlCol="0" anchor="ctr"/>
          <a:lstStyle/>
          <a:p>
            <a:pPr indent="0" marL="0">
              <a:buNone/>
            </a:pPr>
            <a:r>
              <a:rPr lang="en-US" sz="1200" dirty="0">
                <a:solidFill>
                  <a:srgbClr val="1A1A1A"/>
                </a:solidFill>
                <a:latin typeface="Arial" pitchFamily="34" charset="0"/>
                <a:ea typeface="Arial" pitchFamily="34" charset="-122"/>
                <a:cs typeface="Arial" pitchFamily="34" charset="-120"/>
              </a:rPr>
              <a:t>→ Operations buffer</a:t>
            </a:r>
            <a:endParaRPr lang="en-US" sz="1200" dirty="0"/>
          </a:p>
        </p:txBody>
      </p:sp>
      <p:sp>
        <p:nvSpPr>
          <p:cNvPr id="18" name="Text 16"/>
          <p:cNvSpPr/>
          <p:nvPr/>
        </p:nvSpPr>
        <p:spPr>
          <a:xfrm>
            <a:off x="2926080" y="3218688"/>
            <a:ext cx="1280160" cy="256032"/>
          </a:xfrm>
          <a:prstGeom prst="rect">
            <a:avLst/>
          </a:prstGeom>
          <a:noFill/>
          <a:ln/>
        </p:spPr>
        <p:txBody>
          <a:bodyPr wrap="square" lIns="0" tIns="0" rIns="0" bIns="0" rtlCol="0" anchor="ctr"/>
          <a:lstStyle/>
          <a:p>
            <a:pPr algn="r" indent="0" marL="0">
              <a:buNone/>
            </a:pPr>
            <a:r>
              <a:rPr lang="en-US" sz="1200" dirty="0">
                <a:solidFill>
                  <a:srgbClr val="333333"/>
                </a:solidFill>
                <a:latin typeface="Arial" pitchFamily="34" charset="0"/>
                <a:ea typeface="Arial" pitchFamily="34" charset="-122"/>
                <a:cs typeface="Arial" pitchFamily="34" charset="-120"/>
              </a:rPr>
              <a:t>~1 ETB</a:t>
            </a:r>
            <a:endParaRPr lang="en-US" sz="1200" dirty="0"/>
          </a:p>
        </p:txBody>
      </p:sp>
      <p:sp>
        <p:nvSpPr>
          <p:cNvPr id="19" name="Shape 17"/>
          <p:cNvSpPr/>
          <p:nvPr/>
        </p:nvSpPr>
        <p:spPr>
          <a:xfrm>
            <a:off x="4572000" y="1325880"/>
            <a:ext cx="4206240" cy="2560320"/>
          </a:xfrm>
          <a:prstGeom prst="roundRect">
            <a:avLst>
              <a:gd name="adj" fmla="val 3571"/>
            </a:avLst>
          </a:prstGeom>
          <a:solidFill>
            <a:srgbClr val="F8F8F8"/>
          </a:solidFill>
          <a:ln/>
        </p:spPr>
      </p:sp>
      <p:sp>
        <p:nvSpPr>
          <p:cNvPr id="20" name="Text 18"/>
          <p:cNvSpPr/>
          <p:nvPr/>
        </p:nvSpPr>
        <p:spPr>
          <a:xfrm>
            <a:off x="4572000" y="1325880"/>
            <a:ext cx="4206240" cy="320040"/>
          </a:xfrm>
          <a:prstGeom prst="rect">
            <a:avLst/>
          </a:prstGeom>
          <a:noFill/>
          <a:ln/>
        </p:spPr>
        <p:txBody>
          <a:bodyPr wrap="square" lIns="0" tIns="0" rIns="0" bIns="0" rtlCol="0" anchor="t"/>
          <a:lstStyle/>
          <a:p>
            <a:pPr algn="ctr" indent="0" marL="0">
              <a:buNone/>
            </a:pPr>
            <a:r>
              <a:rPr lang="en-US" sz="1100" b="1" dirty="0">
                <a:solidFill>
                  <a:srgbClr val="E53935"/>
                </a:solidFill>
                <a:latin typeface="Arial" pitchFamily="34" charset="0"/>
                <a:ea typeface="Arial" pitchFamily="34" charset="-122"/>
                <a:cs typeface="Arial" pitchFamily="34" charset="-120"/>
              </a:rPr>
              <a:t>GATE PRICING MODEL</a:t>
            </a:r>
            <a:endParaRPr lang="en-US" sz="1100" dirty="0"/>
          </a:p>
        </p:txBody>
      </p:sp>
      <p:sp>
        <p:nvSpPr>
          <p:cNvPr id="21" name="Text 19"/>
          <p:cNvSpPr/>
          <p:nvPr/>
        </p:nvSpPr>
        <p:spPr>
          <a:xfrm>
            <a:off x="4709160" y="1700784"/>
            <a:ext cx="1371600" cy="457200"/>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Individual B2C</a:t>
            </a:r>
            <a:endParaRPr lang="en-US" sz="1100" dirty="0"/>
          </a:p>
        </p:txBody>
      </p:sp>
      <p:sp>
        <p:nvSpPr>
          <p:cNvPr id="22" name="Text 20"/>
          <p:cNvSpPr/>
          <p:nvPr/>
        </p:nvSpPr>
        <p:spPr>
          <a:xfrm>
            <a:off x="6080760" y="1700784"/>
            <a:ext cx="1005840"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+25% markup</a:t>
            </a:r>
            <a:endParaRPr lang="en-US" sz="1000" dirty="0"/>
          </a:p>
        </p:txBody>
      </p:sp>
      <p:sp>
        <p:nvSpPr>
          <p:cNvPr id="23" name="Text 21"/>
          <p:cNvSpPr/>
          <p:nvPr/>
        </p:nvSpPr>
        <p:spPr>
          <a:xfrm>
            <a:off x="7086600" y="1700784"/>
            <a:ext cx="640080" cy="457200"/>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150 ETB</a:t>
            </a:r>
            <a:endParaRPr lang="en-US" sz="1000" dirty="0"/>
          </a:p>
        </p:txBody>
      </p:sp>
      <p:sp>
        <p:nvSpPr>
          <p:cNvPr id="24" name="Text 22"/>
          <p:cNvSpPr/>
          <p:nvPr/>
        </p:nvSpPr>
        <p:spPr>
          <a:xfrm>
            <a:off x="7726680" y="1700784"/>
            <a:ext cx="1005840" cy="457200"/>
          </a:xfrm>
          <a:prstGeom prst="rect">
            <a:avLst/>
          </a:prstGeom>
          <a:noFill/>
          <a:ln/>
        </p:spPr>
        <p:txBody>
          <a:bodyPr wrap="square" lIns="0" tIns="0" rIns="0" bIns="0" rtlCol="0" anchor="ctr"/>
          <a:lstStyle/>
          <a:p>
            <a:pPr indent="0" marL="0">
              <a:buNone/>
            </a:pPr>
            <a:r>
              <a:rPr lang="en-US" sz="900" i="1" dirty="0">
                <a:solidFill>
                  <a:srgbClr val="888888"/>
                </a:solidFill>
                <a:latin typeface="Arial" pitchFamily="34" charset="0"/>
                <a:ea typeface="Arial" pitchFamily="34" charset="-122"/>
                <a:cs typeface="Arial" pitchFamily="34" charset="-120"/>
              </a:rPr>
              <a:t>Discourage</a:t>
            </a:r>
            <a:endParaRPr lang="en-US" sz="900" dirty="0"/>
          </a:p>
        </p:txBody>
      </p:sp>
      <p:sp>
        <p:nvSpPr>
          <p:cNvPr id="25" name="Text 23"/>
          <p:cNvSpPr/>
          <p:nvPr/>
        </p:nvSpPr>
        <p:spPr>
          <a:xfrm>
            <a:off x="4709160" y="2249424"/>
            <a:ext cx="1371600" cy="457200"/>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Group Member</a:t>
            </a:r>
            <a:endParaRPr lang="en-US" sz="1100" dirty="0"/>
          </a:p>
        </p:txBody>
      </p:sp>
      <p:sp>
        <p:nvSpPr>
          <p:cNvPr id="26" name="Text 24"/>
          <p:cNvSpPr/>
          <p:nvPr/>
        </p:nvSpPr>
        <p:spPr>
          <a:xfrm>
            <a:off x="6080760" y="2249424"/>
            <a:ext cx="1005840"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-15% discount</a:t>
            </a:r>
            <a:endParaRPr lang="en-US" sz="1000" dirty="0"/>
          </a:p>
        </p:txBody>
      </p:sp>
      <p:sp>
        <p:nvSpPr>
          <p:cNvPr id="27" name="Text 25"/>
          <p:cNvSpPr/>
          <p:nvPr/>
        </p:nvSpPr>
        <p:spPr>
          <a:xfrm>
            <a:off x="7086600" y="2249424"/>
            <a:ext cx="640080" cy="457200"/>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10 ETB</a:t>
            </a:r>
            <a:endParaRPr lang="en-US" sz="1000" dirty="0"/>
          </a:p>
        </p:txBody>
      </p:sp>
      <p:sp>
        <p:nvSpPr>
          <p:cNvPr id="28" name="Text 26"/>
          <p:cNvSpPr/>
          <p:nvPr/>
        </p:nvSpPr>
        <p:spPr>
          <a:xfrm>
            <a:off x="7726680" y="2249424"/>
            <a:ext cx="1005840" cy="457200"/>
          </a:xfrm>
          <a:prstGeom prst="rect">
            <a:avLst/>
          </a:prstGeom>
          <a:noFill/>
          <a:ln/>
        </p:spPr>
        <p:txBody>
          <a:bodyPr wrap="square" lIns="0" tIns="0" rIns="0" bIns="0" rtlCol="0" anchor="ctr"/>
          <a:lstStyle/>
          <a:p>
            <a:pPr indent="0" marL="0">
              <a:buNone/>
            </a:pPr>
            <a:r>
              <a:rPr lang="en-US" sz="900" i="1" dirty="0">
                <a:solidFill>
                  <a:srgbClr val="888888"/>
                </a:solidFill>
                <a:latin typeface="Arial" pitchFamily="34" charset="0"/>
                <a:ea typeface="Arial" pitchFamily="34" charset="-122"/>
                <a:cs typeface="Arial" pitchFamily="34" charset="-120"/>
              </a:rPr>
              <a:t>Incentivize</a:t>
            </a:r>
            <a:endParaRPr lang="en-US" sz="900" dirty="0"/>
          </a:p>
        </p:txBody>
      </p:sp>
      <p:sp>
        <p:nvSpPr>
          <p:cNvPr id="29" name="Text 27"/>
          <p:cNvSpPr/>
          <p:nvPr/>
        </p:nvSpPr>
        <p:spPr>
          <a:xfrm>
            <a:off x="4709160" y="2798064"/>
            <a:ext cx="1371600" cy="457200"/>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High-Volume (5kg+)</a:t>
            </a:r>
            <a:endParaRPr lang="en-US" sz="1100" dirty="0"/>
          </a:p>
        </p:txBody>
      </p:sp>
      <p:sp>
        <p:nvSpPr>
          <p:cNvPr id="30" name="Text 28"/>
          <p:cNvSpPr/>
          <p:nvPr/>
        </p:nvSpPr>
        <p:spPr>
          <a:xfrm>
            <a:off x="6080760" y="2798064"/>
            <a:ext cx="1005840"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Tiered discount</a:t>
            </a:r>
            <a:endParaRPr lang="en-US" sz="1000" dirty="0"/>
          </a:p>
        </p:txBody>
      </p:sp>
      <p:sp>
        <p:nvSpPr>
          <p:cNvPr id="31" name="Text 29"/>
          <p:cNvSpPr/>
          <p:nvPr/>
        </p:nvSpPr>
        <p:spPr>
          <a:xfrm>
            <a:off x="7086600" y="2798064"/>
            <a:ext cx="640080" cy="457200"/>
          </a:xfrm>
          <a:prstGeom prst="rect">
            <a:avLst/>
          </a:prstGeom>
          <a:noFill/>
          <a:ln/>
        </p:spPr>
        <p:txBody>
          <a:bodyPr wrap="square" lIns="0" tIns="0" rIns="0" bIns="0" rtlCol="0" anchor="ctr"/>
          <a:lstStyle/>
          <a:p>
            <a:pPr algn="ctr" indent="0" marL="0">
              <a:buNone/>
            </a:pPr>
            <a:r>
              <a:rPr lang="en-US" sz="1000" b="1" dirty="0">
                <a:solidFill>
                  <a:srgbClr val="E53935"/>
                </a:solidFill>
                <a:latin typeface="Arial" pitchFamily="34" charset="0"/>
                <a:ea typeface="Arial" pitchFamily="34" charset="-122"/>
                <a:cs typeface="Arial" pitchFamily="34" charset="-120"/>
              </a:rPr>
              <a:t>FREE</a:t>
            </a:r>
            <a:endParaRPr lang="en-US" sz="1000" dirty="0"/>
          </a:p>
        </p:txBody>
      </p:sp>
      <p:sp>
        <p:nvSpPr>
          <p:cNvPr id="32" name="Text 30"/>
          <p:cNvSpPr/>
          <p:nvPr/>
        </p:nvSpPr>
        <p:spPr>
          <a:xfrm>
            <a:off x="7726680" y="2798064"/>
            <a:ext cx="1005840" cy="457200"/>
          </a:xfrm>
          <a:prstGeom prst="rect">
            <a:avLst/>
          </a:prstGeom>
          <a:noFill/>
          <a:ln/>
        </p:spPr>
        <p:txBody>
          <a:bodyPr wrap="square" lIns="0" tIns="0" rIns="0" bIns="0" rtlCol="0" anchor="ctr"/>
          <a:lstStyle/>
          <a:p>
            <a:pPr indent="0" marL="0">
              <a:buNone/>
            </a:pPr>
            <a:r>
              <a:rPr lang="en-US" sz="900" i="1" dirty="0">
                <a:solidFill>
                  <a:srgbClr val="888888"/>
                </a:solidFill>
                <a:latin typeface="Arial" pitchFamily="34" charset="0"/>
                <a:ea typeface="Arial" pitchFamily="34" charset="-122"/>
                <a:cs typeface="Arial" pitchFamily="34" charset="-120"/>
              </a:rPr>
              <a:t>Reward basket size</a:t>
            </a:r>
            <a:endParaRPr lang="en-US" sz="900" dirty="0"/>
          </a:p>
        </p:txBody>
      </p:sp>
      <p:sp>
        <p:nvSpPr>
          <p:cNvPr id="33" name="Text 31"/>
          <p:cNvSpPr/>
          <p:nvPr/>
        </p:nvSpPr>
        <p:spPr>
          <a:xfrm>
            <a:off x="4709160" y="3346704"/>
            <a:ext cx="1371600" cy="457200"/>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Super Groups (50kg+)</a:t>
            </a:r>
            <a:endParaRPr lang="en-US" sz="1100" dirty="0"/>
          </a:p>
        </p:txBody>
      </p:sp>
      <p:sp>
        <p:nvSpPr>
          <p:cNvPr id="34" name="Text 32"/>
          <p:cNvSpPr/>
          <p:nvPr/>
        </p:nvSpPr>
        <p:spPr>
          <a:xfrm>
            <a:off x="6080760" y="3346704"/>
            <a:ext cx="1005840"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Bulk discount</a:t>
            </a:r>
            <a:endParaRPr lang="en-US" sz="1000" dirty="0"/>
          </a:p>
        </p:txBody>
      </p:sp>
      <p:sp>
        <p:nvSpPr>
          <p:cNvPr id="35" name="Text 33"/>
          <p:cNvSpPr/>
          <p:nvPr/>
        </p:nvSpPr>
        <p:spPr>
          <a:xfrm>
            <a:off x="7086600" y="3346704"/>
            <a:ext cx="640080" cy="457200"/>
          </a:xfrm>
          <a:prstGeom prst="rect">
            <a:avLst/>
          </a:prstGeom>
          <a:noFill/>
          <a:ln/>
        </p:spPr>
        <p:txBody>
          <a:bodyPr wrap="square" lIns="0" tIns="0" rIns="0" bIns="0" rtlCol="0" anchor="ctr"/>
          <a:lstStyle/>
          <a:p>
            <a:pPr algn="ctr" indent="0" marL="0">
              <a:buNone/>
            </a:pPr>
            <a:r>
              <a:rPr lang="en-US" sz="1000" b="1" dirty="0">
                <a:solidFill>
                  <a:srgbClr val="E53935"/>
                </a:solidFill>
                <a:latin typeface="Arial" pitchFamily="34" charset="0"/>
                <a:ea typeface="Arial" pitchFamily="34" charset="-122"/>
                <a:cs typeface="Arial" pitchFamily="34" charset="-120"/>
              </a:rPr>
              <a:t>FREE</a:t>
            </a:r>
            <a:endParaRPr lang="en-US" sz="1000" dirty="0"/>
          </a:p>
        </p:txBody>
      </p:sp>
      <p:sp>
        <p:nvSpPr>
          <p:cNvPr id="36" name="Text 34"/>
          <p:cNvSpPr/>
          <p:nvPr/>
        </p:nvSpPr>
        <p:spPr>
          <a:xfrm>
            <a:off x="7726680" y="3346704"/>
            <a:ext cx="1005840" cy="457200"/>
          </a:xfrm>
          <a:prstGeom prst="rect">
            <a:avLst/>
          </a:prstGeom>
          <a:noFill/>
          <a:ln/>
        </p:spPr>
        <p:txBody>
          <a:bodyPr wrap="square" lIns="0" tIns="0" rIns="0" bIns="0" rtlCol="0" anchor="ctr"/>
          <a:lstStyle/>
          <a:p>
            <a:pPr indent="0" marL="0">
              <a:buNone/>
            </a:pPr>
            <a:r>
              <a:rPr lang="en-US" sz="900" i="1" dirty="0">
                <a:solidFill>
                  <a:srgbClr val="888888"/>
                </a:solidFill>
                <a:latin typeface="Arial" pitchFamily="34" charset="0"/>
                <a:ea typeface="Arial" pitchFamily="34" charset="-122"/>
                <a:cs typeface="Arial" pitchFamily="34" charset="-120"/>
              </a:rPr>
              <a:t>Maximize efficiency</a:t>
            </a:r>
            <a:endParaRPr lang="en-US" sz="900" dirty="0"/>
          </a:p>
        </p:txBody>
      </p:sp>
      <p:sp>
        <p:nvSpPr>
          <p:cNvPr id="37" name="Shape 35"/>
          <p:cNvSpPr/>
          <p:nvPr/>
        </p:nvSpPr>
        <p:spPr>
          <a:xfrm>
            <a:off x="548640" y="4069080"/>
            <a:ext cx="8229600" cy="777240"/>
          </a:xfrm>
          <a:prstGeom prst="roundRect">
            <a:avLst>
              <a:gd name="adj" fmla="val 11765"/>
            </a:avLst>
          </a:prstGeom>
          <a:solidFill>
            <a:srgbClr val="FFF5F5"/>
          </a:solidFill>
          <a:ln/>
        </p:spPr>
      </p:sp>
      <p:sp>
        <p:nvSpPr>
          <p:cNvPr id="38" name="Text 36"/>
          <p:cNvSpPr/>
          <p:nvPr/>
        </p:nvSpPr>
        <p:spPr>
          <a:xfrm>
            <a:off x="548640" y="4133088"/>
            <a:ext cx="8229600" cy="274320"/>
          </a:xfrm>
          <a:prstGeom prst="rect">
            <a:avLst/>
          </a:prstGeom>
          <a:noFill/>
          <a:ln/>
        </p:spPr>
        <p:txBody>
          <a:bodyPr wrap="square" lIns="0" tIns="0" rIns="0" bIns="0" rtlCol="0" anchor="ctr"/>
          <a:lstStyle/>
          <a:p>
            <a:pPr indent="0" marL="0">
              <a:buNone/>
            </a:pPr>
            <a:r>
              <a:rPr lang="en-US" sz="1000" dirty="0">
                <a:solidFill>
                  <a:srgbClr val="888888"/>
                </a:solidFill>
                <a:latin typeface="Arial" pitchFamily="34" charset="0"/>
                <a:ea typeface="Arial" pitchFamily="34" charset="-122"/>
                <a:cs typeface="Arial" pitchFamily="34" charset="-120"/>
              </a:rPr>
              <a:t>REVENUE MIX TARGET    </a:t>
            </a:r>
            <a:endParaRPr lang="en-US" sz="1000" dirty="0"/>
          </a:p>
        </p:txBody>
      </p:sp>
      <p:sp>
        <p:nvSpPr>
          <p:cNvPr id="39" name="Shape 37"/>
          <p:cNvSpPr/>
          <p:nvPr/>
        </p:nvSpPr>
        <p:spPr>
          <a:xfrm>
            <a:off x="548640" y="4407408"/>
            <a:ext cx="4069080" cy="292608"/>
          </a:xfrm>
          <a:prstGeom prst="rect">
            <a:avLst/>
          </a:prstGeom>
          <a:solidFill>
            <a:srgbClr val="E53935"/>
          </a:solidFill>
          <a:ln/>
        </p:spPr>
      </p:sp>
      <p:sp>
        <p:nvSpPr>
          <p:cNvPr id="40" name="Text 38"/>
          <p:cNvSpPr/>
          <p:nvPr/>
        </p:nvSpPr>
        <p:spPr>
          <a:xfrm>
            <a:off x="548640" y="4160520"/>
            <a:ext cx="2560320" cy="256032"/>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Trade Margin: 50%</a:t>
            </a:r>
            <a:endParaRPr lang="en-US" sz="900" dirty="0"/>
          </a:p>
        </p:txBody>
      </p:sp>
      <p:sp>
        <p:nvSpPr>
          <p:cNvPr id="41" name="Shape 39"/>
          <p:cNvSpPr/>
          <p:nvPr/>
        </p:nvSpPr>
        <p:spPr>
          <a:xfrm>
            <a:off x="4663440" y="4407408"/>
            <a:ext cx="2848356" cy="292608"/>
          </a:xfrm>
          <a:prstGeom prst="rect">
            <a:avLst/>
          </a:prstGeom>
          <a:solidFill>
            <a:srgbClr val="FF6B6B"/>
          </a:solidFill>
          <a:ln/>
        </p:spPr>
      </p:sp>
      <p:sp>
        <p:nvSpPr>
          <p:cNvPr id="42" name="Text 40"/>
          <p:cNvSpPr/>
          <p:nvPr/>
        </p:nvSpPr>
        <p:spPr>
          <a:xfrm>
            <a:off x="4663440" y="4160520"/>
            <a:ext cx="2560320" cy="256032"/>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BNPL Financing: 35%</a:t>
            </a:r>
            <a:endParaRPr lang="en-US" sz="900" dirty="0"/>
          </a:p>
        </p:txBody>
      </p:sp>
      <p:sp>
        <p:nvSpPr>
          <p:cNvPr id="43" name="Shape 41"/>
          <p:cNvSpPr/>
          <p:nvPr/>
        </p:nvSpPr>
        <p:spPr>
          <a:xfrm>
            <a:off x="7557516" y="4407408"/>
            <a:ext cx="1220724" cy="292608"/>
          </a:xfrm>
          <a:prstGeom prst="rect">
            <a:avLst/>
          </a:prstGeom>
          <a:solidFill>
            <a:srgbClr val="FFB3B3"/>
          </a:solidFill>
          <a:ln/>
        </p:spPr>
      </p:sp>
      <p:sp>
        <p:nvSpPr>
          <p:cNvPr id="44" name="Text 42"/>
          <p:cNvSpPr/>
          <p:nvPr/>
        </p:nvSpPr>
        <p:spPr>
          <a:xfrm>
            <a:off x="7557516" y="4160520"/>
            <a:ext cx="2560320" cy="256032"/>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SaaS/Platform: 15%</a:t>
            </a:r>
            <a:endParaRPr lang="en-US" sz="900" dirty="0"/>
          </a:p>
        </p:txBody>
      </p:sp>
      <p:sp>
        <p:nvSpPr>
          <p:cNvPr id="45" name="Shape 43"/>
          <p:cNvSpPr/>
          <p:nvPr/>
        </p:nvSpPr>
        <p:spPr>
          <a:xfrm>
            <a:off x="8503920" y="4663440"/>
            <a:ext cx="365760" cy="365760"/>
          </a:xfrm>
          <a:prstGeom prst="ellipse">
            <a:avLst/>
          </a:prstGeom>
          <a:solidFill>
            <a:srgbClr val="E53935"/>
          </a:solidFill>
          <a:ln/>
        </p:spPr>
      </p:sp>
      <p:sp>
        <p:nvSpPr>
          <p:cNvPr id="46" name="Text 44"/>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6-WEEK SALES PERFORMANCE</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Weekly Sales Trend</a:t>
            </a:r>
            <a:endParaRPr lang="en-US" sz="3000" dirty="0"/>
          </a:p>
        </p:txBody>
      </p:sp>
      <p:sp>
        <p:nvSpPr>
          <p:cNvPr id="5" name="Shape 3"/>
          <p:cNvSpPr/>
          <p:nvPr/>
        </p:nvSpPr>
        <p:spPr>
          <a:xfrm>
            <a:off x="548640" y="1280160"/>
            <a:ext cx="8229600" cy="2286000"/>
          </a:xfrm>
          <a:prstGeom prst="rect">
            <a:avLst>
              <a:gd name="adj" fmla="val 2000"/>
            </a:avLst>
          </a:prstGeom>
          <a:solidFill>
            <a:srgbClr val="FAFAFA"/>
          </a:solidFill>
          <a:ln/>
        </p:spPr>
      </p:sp>
      <p:sp>
        <p:nvSpPr>
          <p:cNvPr id="6" name="Shape 4"/>
          <p:cNvSpPr/>
          <p:nvPr/>
        </p:nvSpPr>
        <p:spPr>
          <a:xfrm>
            <a:off x="640080" y="2743200"/>
            <a:ext cx="8046720" cy="0"/>
          </a:xfrm>
          <a:prstGeom prst="line">
            <a:avLst/>
          </a:prstGeom>
          <a:noFill/>
          <a:ln w="12700">
            <a:solidFill>
              <a:srgbClr val="E53935"/>
            </a:solidFill>
            <a:prstDash val="dash"/>
          </a:ln>
        </p:spPr>
      </p:sp>
      <p:sp>
        <p:nvSpPr>
          <p:cNvPr id="7" name="Text 5"/>
          <p:cNvSpPr/>
          <p:nvPr/>
        </p:nvSpPr>
        <p:spPr>
          <a:xfrm>
            <a:off x="640080" y="2788920"/>
            <a:ext cx="3200400" cy="228600"/>
          </a:xfrm>
          <a:prstGeom prst="rect">
            <a:avLst/>
          </a:prstGeom>
          <a:noFill/>
          <a:ln/>
        </p:spPr>
        <p:txBody>
          <a:bodyPr wrap="square" lIns="0" tIns="0" rIns="0" bIns="0" rtlCol="0" anchor="ctr"/>
          <a:lstStyle/>
          <a:p>
            <a:pPr indent="0" marL="0">
              <a:buNone/>
            </a:pPr>
            <a:r>
              <a:rPr lang="en-US" sz="900" dirty="0">
                <a:solidFill>
                  <a:srgbClr val="E53935"/>
                </a:solidFill>
                <a:latin typeface="Arial" pitchFamily="34" charset="0"/>
                <a:ea typeface="Arial" pitchFamily="34" charset="-122"/>
                <a:cs typeface="Arial" pitchFamily="34" charset="-120"/>
              </a:rPr>
              <a:t>Target: 1,788,779 ETB/week</a:t>
            </a:r>
            <a:endParaRPr lang="en-US" sz="900" dirty="0"/>
          </a:p>
        </p:txBody>
      </p:sp>
      <p:sp>
        <p:nvSpPr>
          <p:cNvPr id="8" name="Shape 6"/>
          <p:cNvSpPr/>
          <p:nvPr/>
        </p:nvSpPr>
        <p:spPr>
          <a:xfrm>
            <a:off x="914400" y="2196869"/>
            <a:ext cx="1280160" cy="1186411"/>
          </a:xfrm>
          <a:prstGeom prst="rect">
            <a:avLst/>
          </a:prstGeom>
          <a:solidFill>
            <a:srgbClr val="FF8A8A"/>
          </a:solidFill>
          <a:ln/>
        </p:spPr>
      </p:sp>
      <p:sp>
        <p:nvSpPr>
          <p:cNvPr id="9" name="Text 7"/>
          <p:cNvSpPr/>
          <p:nvPr/>
        </p:nvSpPr>
        <p:spPr>
          <a:xfrm>
            <a:off x="914400" y="1968269"/>
            <a:ext cx="1280160" cy="20116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1.05M</a:t>
            </a:r>
            <a:endParaRPr lang="en-US" sz="1100" dirty="0"/>
          </a:p>
        </p:txBody>
      </p:sp>
      <p:sp>
        <p:nvSpPr>
          <p:cNvPr id="10" name="Text 8"/>
          <p:cNvSpPr/>
          <p:nvPr/>
        </p:nvSpPr>
        <p:spPr>
          <a:xfrm>
            <a:off x="914400" y="3429000"/>
            <a:ext cx="1280160" cy="411480"/>
          </a:xfrm>
          <a:prstGeom prst="rect">
            <a:avLst/>
          </a:prstGeom>
          <a:noFill/>
          <a:ln/>
        </p:spPr>
        <p:txBody>
          <a:bodyPr wrap="square" lIns="0" tIns="0" rIns="0" bIns="0" rtlCol="0" anchor="t"/>
          <a:lstStyle/>
          <a:p>
            <a:pPr algn="ctr" indent="0" marL="0">
              <a:buNone/>
            </a:pPr>
            <a:r>
              <a:rPr lang="en-US" sz="900" dirty="0">
                <a:solidFill>
                  <a:srgbClr val="666666"/>
                </a:solidFill>
                <a:latin typeface="Arial" pitchFamily="34" charset="0"/>
                <a:ea typeface="Arial" pitchFamily="34" charset="-122"/>
                <a:cs typeface="Arial" pitchFamily="34" charset="-120"/>
              </a:rPr>
              <a:t>W1</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Feb 9-15</a:t>
            </a:r>
            <a:endParaRPr lang="en-US" sz="900" dirty="0"/>
          </a:p>
        </p:txBody>
      </p:sp>
      <p:sp>
        <p:nvSpPr>
          <p:cNvPr id="11" name="Shape 9"/>
          <p:cNvSpPr/>
          <p:nvPr/>
        </p:nvSpPr>
        <p:spPr>
          <a:xfrm>
            <a:off x="2423160" y="2127416"/>
            <a:ext cx="1280160" cy="1255864"/>
          </a:xfrm>
          <a:prstGeom prst="rect">
            <a:avLst/>
          </a:prstGeom>
          <a:solidFill>
            <a:srgbClr val="FF8A8A"/>
          </a:solidFill>
          <a:ln/>
        </p:spPr>
      </p:sp>
      <p:sp>
        <p:nvSpPr>
          <p:cNvPr id="12" name="Text 10"/>
          <p:cNvSpPr/>
          <p:nvPr/>
        </p:nvSpPr>
        <p:spPr>
          <a:xfrm>
            <a:off x="2423160" y="1898816"/>
            <a:ext cx="1280160" cy="20116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1.12M</a:t>
            </a:r>
            <a:endParaRPr lang="en-US" sz="1100" dirty="0"/>
          </a:p>
        </p:txBody>
      </p:sp>
      <p:sp>
        <p:nvSpPr>
          <p:cNvPr id="13" name="Text 11"/>
          <p:cNvSpPr/>
          <p:nvPr/>
        </p:nvSpPr>
        <p:spPr>
          <a:xfrm>
            <a:off x="2423160" y="3429000"/>
            <a:ext cx="1280160" cy="411480"/>
          </a:xfrm>
          <a:prstGeom prst="rect">
            <a:avLst/>
          </a:prstGeom>
          <a:noFill/>
          <a:ln/>
        </p:spPr>
        <p:txBody>
          <a:bodyPr wrap="square" lIns="0" tIns="0" rIns="0" bIns="0" rtlCol="0" anchor="t"/>
          <a:lstStyle/>
          <a:p>
            <a:pPr algn="ctr" indent="0" marL="0">
              <a:buNone/>
            </a:pPr>
            <a:r>
              <a:rPr lang="en-US" sz="900" dirty="0">
                <a:solidFill>
                  <a:srgbClr val="666666"/>
                </a:solidFill>
                <a:latin typeface="Arial" pitchFamily="34" charset="0"/>
                <a:ea typeface="Arial" pitchFamily="34" charset="-122"/>
                <a:cs typeface="Arial" pitchFamily="34" charset="-120"/>
              </a:rPr>
              <a:t>W2</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Feb 16-22</a:t>
            </a:r>
            <a:endParaRPr lang="en-US" sz="900" dirty="0"/>
          </a:p>
        </p:txBody>
      </p:sp>
      <p:sp>
        <p:nvSpPr>
          <p:cNvPr id="14" name="Shape 12"/>
          <p:cNvSpPr/>
          <p:nvPr/>
        </p:nvSpPr>
        <p:spPr>
          <a:xfrm>
            <a:off x="3931920" y="1633993"/>
            <a:ext cx="1280160" cy="1749287"/>
          </a:xfrm>
          <a:prstGeom prst="rect">
            <a:avLst/>
          </a:prstGeom>
          <a:solidFill>
            <a:srgbClr val="FF8A8A"/>
          </a:solidFill>
          <a:ln/>
        </p:spPr>
      </p:sp>
      <p:sp>
        <p:nvSpPr>
          <p:cNvPr id="15" name="Text 13"/>
          <p:cNvSpPr/>
          <p:nvPr/>
        </p:nvSpPr>
        <p:spPr>
          <a:xfrm>
            <a:off x="3931920" y="1405393"/>
            <a:ext cx="1280160" cy="20116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1.56M</a:t>
            </a:r>
            <a:endParaRPr lang="en-US" sz="1100" dirty="0"/>
          </a:p>
        </p:txBody>
      </p:sp>
      <p:sp>
        <p:nvSpPr>
          <p:cNvPr id="16" name="Text 14"/>
          <p:cNvSpPr/>
          <p:nvPr/>
        </p:nvSpPr>
        <p:spPr>
          <a:xfrm>
            <a:off x="3931920" y="3429000"/>
            <a:ext cx="1280160" cy="411480"/>
          </a:xfrm>
          <a:prstGeom prst="rect">
            <a:avLst/>
          </a:prstGeom>
          <a:noFill/>
          <a:ln/>
        </p:spPr>
        <p:txBody>
          <a:bodyPr wrap="square" lIns="0" tIns="0" rIns="0" bIns="0" rtlCol="0" anchor="t"/>
          <a:lstStyle/>
          <a:p>
            <a:pPr algn="ctr" indent="0" marL="0">
              <a:buNone/>
            </a:pPr>
            <a:r>
              <a:rPr lang="en-US" sz="900" dirty="0">
                <a:solidFill>
                  <a:srgbClr val="666666"/>
                </a:solidFill>
                <a:latin typeface="Arial" pitchFamily="34" charset="0"/>
                <a:ea typeface="Arial" pitchFamily="34" charset="-122"/>
                <a:cs typeface="Arial" pitchFamily="34" charset="-120"/>
              </a:rPr>
              <a:t>W3</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Feb 23-Mar 1</a:t>
            </a:r>
            <a:endParaRPr lang="en-US" sz="900" dirty="0"/>
          </a:p>
        </p:txBody>
      </p:sp>
      <p:sp>
        <p:nvSpPr>
          <p:cNvPr id="17" name="Shape 15"/>
          <p:cNvSpPr/>
          <p:nvPr/>
        </p:nvSpPr>
        <p:spPr>
          <a:xfrm>
            <a:off x="5440680" y="1593936"/>
            <a:ext cx="1280160" cy="1789344"/>
          </a:xfrm>
          <a:prstGeom prst="rect">
            <a:avLst/>
          </a:prstGeom>
          <a:solidFill>
            <a:srgbClr val="FF8A8A"/>
          </a:solidFill>
          <a:ln/>
        </p:spPr>
      </p:sp>
      <p:sp>
        <p:nvSpPr>
          <p:cNvPr id="18" name="Text 16"/>
          <p:cNvSpPr/>
          <p:nvPr/>
        </p:nvSpPr>
        <p:spPr>
          <a:xfrm>
            <a:off x="5440680" y="1365336"/>
            <a:ext cx="1280160" cy="20116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1.59M</a:t>
            </a:r>
            <a:endParaRPr lang="en-US" sz="1100" dirty="0"/>
          </a:p>
        </p:txBody>
      </p:sp>
      <p:sp>
        <p:nvSpPr>
          <p:cNvPr id="19" name="Text 17"/>
          <p:cNvSpPr/>
          <p:nvPr/>
        </p:nvSpPr>
        <p:spPr>
          <a:xfrm>
            <a:off x="5440680" y="3429000"/>
            <a:ext cx="1280160" cy="411480"/>
          </a:xfrm>
          <a:prstGeom prst="rect">
            <a:avLst/>
          </a:prstGeom>
          <a:noFill/>
          <a:ln/>
        </p:spPr>
        <p:txBody>
          <a:bodyPr wrap="square" lIns="0" tIns="0" rIns="0" bIns="0" rtlCol="0" anchor="t"/>
          <a:lstStyle/>
          <a:p>
            <a:pPr algn="ctr" indent="0" marL="0">
              <a:buNone/>
            </a:pPr>
            <a:r>
              <a:rPr lang="en-US" sz="900" dirty="0">
                <a:solidFill>
                  <a:srgbClr val="666666"/>
                </a:solidFill>
                <a:latin typeface="Arial" pitchFamily="34" charset="0"/>
                <a:ea typeface="Arial" pitchFamily="34" charset="-122"/>
                <a:cs typeface="Arial" pitchFamily="34" charset="-120"/>
              </a:rPr>
              <a:t>W5</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Mar 2-8</a:t>
            </a:r>
            <a:endParaRPr lang="en-US" sz="900" dirty="0"/>
          </a:p>
        </p:txBody>
      </p:sp>
      <p:sp>
        <p:nvSpPr>
          <p:cNvPr id="20" name="Shape 18"/>
          <p:cNvSpPr/>
          <p:nvPr/>
        </p:nvSpPr>
        <p:spPr>
          <a:xfrm>
            <a:off x="6949440" y="1510267"/>
            <a:ext cx="1280160" cy="1873013"/>
          </a:xfrm>
          <a:prstGeom prst="rect">
            <a:avLst/>
          </a:prstGeom>
          <a:solidFill>
            <a:srgbClr val="FF8A8A"/>
          </a:solidFill>
          <a:ln/>
        </p:spPr>
      </p:sp>
      <p:sp>
        <p:nvSpPr>
          <p:cNvPr id="21" name="Text 19"/>
          <p:cNvSpPr/>
          <p:nvPr/>
        </p:nvSpPr>
        <p:spPr>
          <a:xfrm>
            <a:off x="6949440" y="1281667"/>
            <a:ext cx="1280160" cy="201168"/>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1.67M</a:t>
            </a:r>
            <a:endParaRPr lang="en-US" sz="1100" dirty="0"/>
          </a:p>
        </p:txBody>
      </p:sp>
      <p:sp>
        <p:nvSpPr>
          <p:cNvPr id="22" name="Text 20"/>
          <p:cNvSpPr/>
          <p:nvPr/>
        </p:nvSpPr>
        <p:spPr>
          <a:xfrm>
            <a:off x="6949440" y="3429000"/>
            <a:ext cx="1280160" cy="411480"/>
          </a:xfrm>
          <a:prstGeom prst="rect">
            <a:avLst/>
          </a:prstGeom>
          <a:noFill/>
          <a:ln/>
        </p:spPr>
        <p:txBody>
          <a:bodyPr wrap="square" lIns="0" tIns="0" rIns="0" bIns="0" rtlCol="0" anchor="t"/>
          <a:lstStyle/>
          <a:p>
            <a:pPr algn="ctr" indent="0" marL="0">
              <a:buNone/>
            </a:pPr>
            <a:r>
              <a:rPr lang="en-US" sz="900" dirty="0">
                <a:solidFill>
                  <a:srgbClr val="666666"/>
                </a:solidFill>
                <a:latin typeface="Arial" pitchFamily="34" charset="0"/>
                <a:ea typeface="Arial" pitchFamily="34" charset="-122"/>
                <a:cs typeface="Arial" pitchFamily="34" charset="-120"/>
              </a:rPr>
              <a:t>W6</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Mar 9-15</a:t>
            </a:r>
            <a:endParaRPr lang="en-US" sz="900" dirty="0"/>
          </a:p>
        </p:txBody>
      </p:sp>
      <p:sp>
        <p:nvSpPr>
          <p:cNvPr id="23" name="Shape 21"/>
          <p:cNvSpPr/>
          <p:nvPr/>
        </p:nvSpPr>
        <p:spPr>
          <a:xfrm>
            <a:off x="548640" y="3794760"/>
            <a:ext cx="8229600" cy="1097280"/>
          </a:xfrm>
          <a:prstGeom prst="roundRect">
            <a:avLst>
              <a:gd name="adj" fmla="val 8333"/>
            </a:avLst>
          </a:prstGeom>
          <a:solidFill>
            <a:srgbClr val="FFF5F5"/>
          </a:solidFill>
          <a:ln/>
        </p:spPr>
      </p:sp>
      <p:sp>
        <p:nvSpPr>
          <p:cNvPr id="24" name="Text 22"/>
          <p:cNvSpPr/>
          <p:nvPr/>
        </p:nvSpPr>
        <p:spPr>
          <a:xfrm>
            <a:off x="731520" y="3822192"/>
            <a:ext cx="1828800" cy="22860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KEY INSIGHTS</a:t>
            </a:r>
            <a:endParaRPr lang="en-US" sz="1000" dirty="0"/>
          </a:p>
        </p:txBody>
      </p:sp>
      <p:sp>
        <p:nvSpPr>
          <p:cNvPr id="25" name="Text 23"/>
          <p:cNvSpPr/>
          <p:nvPr/>
        </p:nvSpPr>
        <p:spPr>
          <a:xfrm>
            <a:off x="731520" y="4069080"/>
            <a:ext cx="3840480" cy="2743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Sales grew 58% from W1 to W6 — 1.05M → 1.67M ETB/week</a:t>
            </a:r>
            <a:endParaRPr lang="en-US" sz="1100" dirty="0"/>
          </a:p>
        </p:txBody>
      </p:sp>
      <p:sp>
        <p:nvSpPr>
          <p:cNvPr id="26" name="Text 24"/>
          <p:cNvSpPr/>
          <p:nvPr/>
        </p:nvSpPr>
        <p:spPr>
          <a:xfrm>
            <a:off x="4846320" y="4069080"/>
            <a:ext cx="3840480" cy="2743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Target of 1,788,779 ETB still unmet — W6 achieved only 93.1%</a:t>
            </a:r>
            <a:endParaRPr lang="en-US" sz="1100" dirty="0"/>
          </a:p>
        </p:txBody>
      </p:sp>
      <p:sp>
        <p:nvSpPr>
          <p:cNvPr id="27" name="Text 25"/>
          <p:cNvSpPr/>
          <p:nvPr/>
        </p:nvSpPr>
        <p:spPr>
          <a:xfrm>
            <a:off x="731520" y="4389120"/>
            <a:ext cx="3840480" cy="2743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W5→W6 growth slowed to 4.7% (vs W2→W3's 39%) — momentum fading</a:t>
            </a:r>
            <a:endParaRPr lang="en-US" sz="1100" dirty="0"/>
          </a:p>
        </p:txBody>
      </p:sp>
      <p:sp>
        <p:nvSpPr>
          <p:cNvPr id="28" name="Text 26"/>
          <p:cNvSpPr/>
          <p:nvPr/>
        </p:nvSpPr>
        <p:spPr>
          <a:xfrm>
            <a:off x="4846320" y="4389120"/>
            <a:ext cx="3840480" cy="2743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Daily run rate declined from 5,997 to 5,419 (-9.6%) — needs investigation</a:t>
            </a:r>
            <a:endParaRPr lang="en-US" sz="1100" dirty="0"/>
          </a:p>
        </p:txBody>
      </p:sp>
      <p:sp>
        <p:nvSpPr>
          <p:cNvPr id="29" name="Shape 27"/>
          <p:cNvSpPr/>
          <p:nvPr/>
        </p:nvSpPr>
        <p:spPr>
          <a:xfrm>
            <a:off x="8503920" y="4663440"/>
            <a:ext cx="365760" cy="365760"/>
          </a:xfrm>
          <a:prstGeom prst="ellipse">
            <a:avLst/>
          </a:prstGeom>
          <a:solidFill>
            <a:srgbClr val="E53935"/>
          </a:solidFill>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REVENUE &amp; PROFIT ANALYSIS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January → February 2026 — Financial Performance</a:t>
            </a:r>
            <a:endParaRPr lang="en-US" sz="2800" dirty="0"/>
          </a:p>
        </p:txBody>
      </p:sp>
      <p:sp>
        <p:nvSpPr>
          <p:cNvPr id="5" name="Shape 3"/>
          <p:cNvSpPr/>
          <p:nvPr/>
        </p:nvSpPr>
        <p:spPr>
          <a:xfrm>
            <a:off x="548640" y="1325880"/>
            <a:ext cx="3840480" cy="365760"/>
          </a:xfrm>
          <a:prstGeom prst="rect">
            <a:avLst/>
          </a:prstGeom>
          <a:solidFill>
            <a:srgbClr val="F0F0F0"/>
          </a:solidFill>
          <a:ln/>
        </p:spPr>
      </p:sp>
      <p:sp>
        <p:nvSpPr>
          <p:cNvPr id="6" name="Shape 4"/>
          <p:cNvSpPr/>
          <p:nvPr/>
        </p:nvSpPr>
        <p:spPr>
          <a:xfrm>
            <a:off x="4389120" y="1325880"/>
            <a:ext cx="1828800" cy="365760"/>
          </a:xfrm>
          <a:prstGeom prst="rect">
            <a:avLst/>
          </a:prstGeom>
          <a:solidFill>
            <a:srgbClr val="F0F0F0"/>
          </a:solidFill>
          <a:ln/>
        </p:spPr>
      </p:sp>
      <p:sp>
        <p:nvSpPr>
          <p:cNvPr id="7" name="Shape 5"/>
          <p:cNvSpPr/>
          <p:nvPr/>
        </p:nvSpPr>
        <p:spPr>
          <a:xfrm>
            <a:off x="6217920" y="1325880"/>
            <a:ext cx="2560320" cy="365760"/>
          </a:xfrm>
          <a:prstGeom prst="rect">
            <a:avLst/>
          </a:prstGeom>
          <a:solidFill>
            <a:srgbClr val="F0F0F0"/>
          </a:solidFill>
          <a:ln/>
        </p:spPr>
      </p:sp>
      <p:sp>
        <p:nvSpPr>
          <p:cNvPr id="8" name="Text 6"/>
          <p:cNvSpPr/>
          <p:nvPr/>
        </p:nvSpPr>
        <p:spPr>
          <a:xfrm>
            <a:off x="548640" y="1325880"/>
            <a:ext cx="3840480" cy="365760"/>
          </a:xfrm>
          <a:prstGeom prst="rect">
            <a:avLst/>
          </a:prstGeom>
          <a:noFill/>
          <a:ln/>
        </p:spPr>
        <p:txBody>
          <a:bodyPr wrap="square" lIns="0" tIns="0" rIns="0" bIns="0" rtlCol="0" anchor="ctr"/>
          <a:lstStyle/>
          <a:p>
            <a:pPr algn="ctr" indent="0" marL="0">
              <a:buNone/>
            </a:pPr>
            <a:r>
              <a:rPr lang="en-US" sz="1000" b="1" dirty="0">
                <a:solidFill>
                  <a:srgbClr val="666666"/>
                </a:solidFill>
                <a:latin typeface="Arial" pitchFamily="34" charset="0"/>
                <a:ea typeface="Arial" pitchFamily="34" charset="-122"/>
                <a:cs typeface="Arial" pitchFamily="34" charset="-120"/>
              </a:rPr>
              <a:t>METRIC</a:t>
            </a:r>
            <a:endParaRPr lang="en-US" sz="1000" dirty="0"/>
          </a:p>
        </p:txBody>
      </p:sp>
      <p:sp>
        <p:nvSpPr>
          <p:cNvPr id="9" name="Text 7"/>
          <p:cNvSpPr/>
          <p:nvPr/>
        </p:nvSpPr>
        <p:spPr>
          <a:xfrm>
            <a:off x="4389120" y="1325880"/>
            <a:ext cx="1828800" cy="365760"/>
          </a:xfrm>
          <a:prstGeom prst="rect">
            <a:avLst/>
          </a:prstGeom>
          <a:noFill/>
          <a:ln/>
        </p:spPr>
        <p:txBody>
          <a:bodyPr wrap="square" lIns="0" tIns="0" rIns="0" bIns="0" rtlCol="0" anchor="ctr"/>
          <a:lstStyle/>
          <a:p>
            <a:pPr algn="ctr" indent="0" marL="0">
              <a:buNone/>
            </a:pPr>
            <a:r>
              <a:rPr lang="en-US" sz="1000" b="1" dirty="0">
                <a:solidFill>
                  <a:srgbClr val="E53935"/>
                </a:solidFill>
                <a:latin typeface="Arial" pitchFamily="34" charset="0"/>
                <a:ea typeface="Arial" pitchFamily="34" charset="-122"/>
                <a:cs typeface="Arial" pitchFamily="34" charset="-120"/>
              </a:rPr>
              <a:t>FEBRUARY</a:t>
            </a:r>
            <a:endParaRPr lang="en-US" sz="1000" dirty="0"/>
          </a:p>
        </p:txBody>
      </p:sp>
      <p:sp>
        <p:nvSpPr>
          <p:cNvPr id="10" name="Text 8"/>
          <p:cNvSpPr/>
          <p:nvPr/>
        </p:nvSpPr>
        <p:spPr>
          <a:xfrm>
            <a:off x="6217920" y="1325880"/>
            <a:ext cx="2560320" cy="365760"/>
          </a:xfrm>
          <a:prstGeom prst="rect">
            <a:avLst/>
          </a:prstGeom>
          <a:noFill/>
          <a:ln/>
        </p:spPr>
        <p:txBody>
          <a:bodyPr wrap="square" lIns="0" tIns="0" rIns="0" bIns="0" rtlCol="0" anchor="ctr"/>
          <a:lstStyle/>
          <a:p>
            <a:pPr algn="ctr" indent="0" marL="0">
              <a:buNone/>
            </a:pPr>
            <a:r>
              <a:rPr lang="en-US" sz="1000" b="1" dirty="0">
                <a:solidFill>
                  <a:srgbClr val="666666"/>
                </a:solidFill>
                <a:latin typeface="Arial" pitchFamily="34" charset="0"/>
                <a:ea typeface="Arial" pitchFamily="34" charset="-122"/>
                <a:cs typeface="Arial" pitchFamily="34" charset="-120"/>
              </a:rPr>
              <a:t>CHANGE</a:t>
            </a:r>
            <a:endParaRPr lang="en-US" sz="1000" dirty="0"/>
          </a:p>
        </p:txBody>
      </p:sp>
      <p:sp>
        <p:nvSpPr>
          <p:cNvPr id="11" name="Shape 9"/>
          <p:cNvSpPr/>
          <p:nvPr/>
        </p:nvSpPr>
        <p:spPr>
          <a:xfrm>
            <a:off x="548640" y="1719072"/>
            <a:ext cx="8229600" cy="365760"/>
          </a:xfrm>
          <a:prstGeom prst="rect">
            <a:avLst/>
          </a:prstGeom>
          <a:solidFill>
            <a:srgbClr val="FAFAFA"/>
          </a:solidFill>
          <a:ln/>
        </p:spPr>
      </p:sp>
      <p:sp>
        <p:nvSpPr>
          <p:cNvPr id="12" name="Text 10"/>
          <p:cNvSpPr/>
          <p:nvPr/>
        </p:nvSpPr>
        <p:spPr>
          <a:xfrm>
            <a:off x="548640" y="1719072"/>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Monthly Sales</a:t>
            </a:r>
            <a:endParaRPr lang="en-US" sz="1200" dirty="0"/>
          </a:p>
        </p:txBody>
      </p:sp>
      <p:sp>
        <p:nvSpPr>
          <p:cNvPr id="13" name="Text 11"/>
          <p:cNvSpPr/>
          <p:nvPr/>
        </p:nvSpPr>
        <p:spPr>
          <a:xfrm>
            <a:off x="4389120" y="1719072"/>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7,400,000 ETB</a:t>
            </a:r>
            <a:endParaRPr lang="en-US" sz="1200" dirty="0"/>
          </a:p>
        </p:txBody>
      </p:sp>
      <p:sp>
        <p:nvSpPr>
          <p:cNvPr id="14" name="Text 12"/>
          <p:cNvSpPr/>
          <p:nvPr/>
        </p:nvSpPr>
        <p:spPr>
          <a:xfrm>
            <a:off x="6217920" y="1719072"/>
            <a:ext cx="2560320" cy="36576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Tracking</a:t>
            </a:r>
            <a:endParaRPr lang="en-US" sz="1100" dirty="0"/>
          </a:p>
        </p:txBody>
      </p:sp>
      <p:sp>
        <p:nvSpPr>
          <p:cNvPr id="15" name="Text 13"/>
          <p:cNvSpPr/>
          <p:nvPr/>
        </p:nvSpPr>
        <p:spPr>
          <a:xfrm>
            <a:off x="548640" y="2103120"/>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Gross Margin</a:t>
            </a:r>
            <a:endParaRPr lang="en-US" sz="1200" dirty="0"/>
          </a:p>
        </p:txBody>
      </p:sp>
      <p:sp>
        <p:nvSpPr>
          <p:cNvPr id="16" name="Text 14"/>
          <p:cNvSpPr/>
          <p:nvPr/>
        </p:nvSpPr>
        <p:spPr>
          <a:xfrm>
            <a:off x="4389120" y="2103120"/>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-16.68%</a:t>
            </a:r>
            <a:endParaRPr lang="en-US" sz="1200" dirty="0"/>
          </a:p>
        </p:txBody>
      </p:sp>
      <p:sp>
        <p:nvSpPr>
          <p:cNvPr id="17" name="Text 15"/>
          <p:cNvSpPr/>
          <p:nvPr/>
        </p:nvSpPr>
        <p:spPr>
          <a:xfrm>
            <a:off x="6217920" y="2103120"/>
            <a:ext cx="2560320" cy="365760"/>
          </a:xfrm>
          <a:prstGeom prst="rect">
            <a:avLst/>
          </a:prstGeom>
          <a:noFill/>
          <a:ln/>
        </p:spPr>
        <p:txBody>
          <a:bodyPr wrap="square" lIns="0" tIns="0" rIns="0" bIns="0" rtlCol="0" anchor="ctr"/>
          <a:lstStyle/>
          <a:p>
            <a:pPr indent="0" marL="0">
              <a:buNone/>
            </a:pPr>
            <a:r>
              <a:rPr lang="en-US" sz="1100" dirty="0">
                <a:solidFill>
                  <a:srgbClr val="E53935"/>
                </a:solidFill>
                <a:latin typeface="Arial" pitchFamily="34" charset="0"/>
                <a:ea typeface="Arial" pitchFamily="34" charset="-122"/>
                <a:cs typeface="Arial" pitchFamily="34" charset="-120"/>
              </a:rPr>
              <a:t>+29pp improvement ✅</a:t>
            </a:r>
            <a:endParaRPr lang="en-US" sz="1100" dirty="0"/>
          </a:p>
        </p:txBody>
      </p:sp>
      <p:sp>
        <p:nvSpPr>
          <p:cNvPr id="18" name="Shape 16"/>
          <p:cNvSpPr/>
          <p:nvPr/>
        </p:nvSpPr>
        <p:spPr>
          <a:xfrm>
            <a:off x="548640" y="2487168"/>
            <a:ext cx="8229600" cy="365760"/>
          </a:xfrm>
          <a:prstGeom prst="rect">
            <a:avLst/>
          </a:prstGeom>
          <a:solidFill>
            <a:srgbClr val="FAFAFA"/>
          </a:solidFill>
          <a:ln/>
        </p:spPr>
      </p:sp>
      <p:sp>
        <p:nvSpPr>
          <p:cNvPr id="19" name="Text 17"/>
          <p:cNvSpPr/>
          <p:nvPr/>
        </p:nvSpPr>
        <p:spPr>
          <a:xfrm>
            <a:off x="548640" y="2487168"/>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Monthly Burn</a:t>
            </a:r>
            <a:endParaRPr lang="en-US" sz="1200" dirty="0"/>
          </a:p>
        </p:txBody>
      </p:sp>
      <p:sp>
        <p:nvSpPr>
          <p:cNvPr id="20" name="Text 18"/>
          <p:cNvSpPr/>
          <p:nvPr/>
        </p:nvSpPr>
        <p:spPr>
          <a:xfrm>
            <a:off x="4389120" y="2487168"/>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10,160,000 ETB</a:t>
            </a:r>
            <a:endParaRPr lang="en-US" sz="1200" dirty="0"/>
          </a:p>
        </p:txBody>
      </p:sp>
      <p:sp>
        <p:nvSpPr>
          <p:cNvPr id="21" name="Text 19"/>
          <p:cNvSpPr/>
          <p:nvPr/>
        </p:nvSpPr>
        <p:spPr>
          <a:xfrm>
            <a:off x="6217920" y="2487168"/>
            <a:ext cx="2560320" cy="365760"/>
          </a:xfrm>
          <a:prstGeom prst="rect">
            <a:avLst/>
          </a:prstGeom>
          <a:noFill/>
          <a:ln/>
        </p:spPr>
        <p:txBody>
          <a:bodyPr wrap="square" lIns="0" tIns="0" rIns="0" bIns="0" rtlCol="0" anchor="ctr"/>
          <a:lstStyle/>
          <a:p>
            <a:pPr indent="0" marL="0">
              <a:buNone/>
            </a:pPr>
            <a:r>
              <a:rPr lang="en-US" sz="1100" dirty="0">
                <a:solidFill>
                  <a:srgbClr val="E53935"/>
                </a:solidFill>
                <a:latin typeface="Arial" pitchFamily="34" charset="0"/>
                <a:ea typeface="Arial" pitchFamily="34" charset="-122"/>
                <a:cs typeface="Arial" pitchFamily="34" charset="-120"/>
              </a:rPr>
              <a:t>-48% reduction ✅</a:t>
            </a:r>
            <a:endParaRPr lang="en-US" sz="1100" dirty="0"/>
          </a:p>
        </p:txBody>
      </p:sp>
      <p:sp>
        <p:nvSpPr>
          <p:cNvPr id="22" name="Text 20"/>
          <p:cNvSpPr/>
          <p:nvPr/>
        </p:nvSpPr>
        <p:spPr>
          <a:xfrm>
            <a:off x="548640" y="2871216"/>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Total Orders</a:t>
            </a:r>
            <a:endParaRPr lang="en-US" sz="1200" dirty="0"/>
          </a:p>
        </p:txBody>
      </p:sp>
      <p:sp>
        <p:nvSpPr>
          <p:cNvPr id="23" name="Text 21"/>
          <p:cNvSpPr/>
          <p:nvPr/>
        </p:nvSpPr>
        <p:spPr>
          <a:xfrm>
            <a:off x="4389120" y="2871216"/>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83,731</a:t>
            </a:r>
            <a:endParaRPr lang="en-US" sz="1200" dirty="0"/>
          </a:p>
        </p:txBody>
      </p:sp>
      <p:sp>
        <p:nvSpPr>
          <p:cNvPr id="24" name="Text 22"/>
          <p:cNvSpPr/>
          <p:nvPr/>
        </p:nvSpPr>
        <p:spPr>
          <a:xfrm>
            <a:off x="6217920" y="2871216"/>
            <a:ext cx="2560320" cy="36576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Tracking</a:t>
            </a:r>
            <a:endParaRPr lang="en-US" sz="1100" dirty="0"/>
          </a:p>
        </p:txBody>
      </p:sp>
      <p:sp>
        <p:nvSpPr>
          <p:cNvPr id="25" name="Shape 23"/>
          <p:cNvSpPr/>
          <p:nvPr/>
        </p:nvSpPr>
        <p:spPr>
          <a:xfrm>
            <a:off x="548640" y="3255264"/>
            <a:ext cx="8229600" cy="365760"/>
          </a:xfrm>
          <a:prstGeom prst="rect">
            <a:avLst/>
          </a:prstGeom>
          <a:solidFill>
            <a:srgbClr val="FAFAFA"/>
          </a:solidFill>
          <a:ln/>
        </p:spPr>
      </p:sp>
      <p:sp>
        <p:nvSpPr>
          <p:cNvPr id="26" name="Text 24"/>
          <p:cNvSpPr/>
          <p:nvPr/>
        </p:nvSpPr>
        <p:spPr>
          <a:xfrm>
            <a:off x="548640" y="3255264"/>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Total Volume</a:t>
            </a:r>
            <a:endParaRPr lang="en-US" sz="1200" dirty="0"/>
          </a:p>
        </p:txBody>
      </p:sp>
      <p:sp>
        <p:nvSpPr>
          <p:cNvPr id="27" name="Text 25"/>
          <p:cNvSpPr/>
          <p:nvPr/>
        </p:nvSpPr>
        <p:spPr>
          <a:xfrm>
            <a:off x="4389120" y="3255264"/>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153,989 kg</a:t>
            </a:r>
            <a:endParaRPr lang="en-US" sz="1200" dirty="0"/>
          </a:p>
        </p:txBody>
      </p:sp>
      <p:sp>
        <p:nvSpPr>
          <p:cNvPr id="28" name="Text 26"/>
          <p:cNvSpPr/>
          <p:nvPr/>
        </p:nvSpPr>
        <p:spPr>
          <a:xfrm>
            <a:off x="6217920" y="3255264"/>
            <a:ext cx="2560320" cy="36576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Tracking</a:t>
            </a:r>
            <a:endParaRPr lang="en-US" sz="1100" dirty="0"/>
          </a:p>
        </p:txBody>
      </p:sp>
      <p:sp>
        <p:nvSpPr>
          <p:cNvPr id="29" name="Text 27"/>
          <p:cNvSpPr/>
          <p:nvPr/>
        </p:nvSpPr>
        <p:spPr>
          <a:xfrm>
            <a:off x="548640" y="3639312"/>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Sales/Order</a:t>
            </a:r>
            <a:endParaRPr lang="en-US" sz="1200" dirty="0"/>
          </a:p>
        </p:txBody>
      </p:sp>
      <p:sp>
        <p:nvSpPr>
          <p:cNvPr id="30" name="Text 28"/>
          <p:cNvSpPr/>
          <p:nvPr/>
        </p:nvSpPr>
        <p:spPr>
          <a:xfrm>
            <a:off x="4389120" y="3639312"/>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88 ETB</a:t>
            </a:r>
            <a:endParaRPr lang="en-US" sz="1200" dirty="0"/>
          </a:p>
        </p:txBody>
      </p:sp>
      <p:sp>
        <p:nvSpPr>
          <p:cNvPr id="31" name="Text 29"/>
          <p:cNvSpPr/>
          <p:nvPr/>
        </p:nvSpPr>
        <p:spPr>
          <a:xfrm>
            <a:off x="6217920" y="3639312"/>
            <a:ext cx="2560320" cy="365760"/>
          </a:xfrm>
          <a:prstGeom prst="rect">
            <a:avLst/>
          </a:prstGeom>
          <a:noFill/>
          <a:ln/>
        </p:spPr>
        <p:txBody>
          <a:bodyPr wrap="square" lIns="0" tIns="0" rIns="0" bIns="0" rtlCol="0" anchor="ctr"/>
          <a:lstStyle/>
          <a:p>
            <a:pPr indent="0" marL="0">
              <a:buNone/>
            </a:pPr>
            <a:endParaRPr lang="en-US" sz="1100" dirty="0"/>
          </a:p>
        </p:txBody>
      </p:sp>
      <p:sp>
        <p:nvSpPr>
          <p:cNvPr id="32" name="Shape 30"/>
          <p:cNvSpPr/>
          <p:nvPr/>
        </p:nvSpPr>
        <p:spPr>
          <a:xfrm>
            <a:off x="548640" y="4023360"/>
            <a:ext cx="8229600" cy="365760"/>
          </a:xfrm>
          <a:prstGeom prst="rect">
            <a:avLst/>
          </a:prstGeom>
          <a:solidFill>
            <a:srgbClr val="FAFAFA"/>
          </a:solidFill>
          <a:ln/>
        </p:spPr>
      </p:sp>
      <p:sp>
        <p:nvSpPr>
          <p:cNvPr id="33" name="Text 31"/>
          <p:cNvSpPr/>
          <p:nvPr/>
        </p:nvSpPr>
        <p:spPr>
          <a:xfrm>
            <a:off x="548640" y="4023360"/>
            <a:ext cx="3840480" cy="36576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Sales/KG</a:t>
            </a:r>
            <a:endParaRPr lang="en-US" sz="1200" dirty="0"/>
          </a:p>
        </p:txBody>
      </p:sp>
      <p:sp>
        <p:nvSpPr>
          <p:cNvPr id="34" name="Text 32"/>
          <p:cNvSpPr/>
          <p:nvPr/>
        </p:nvSpPr>
        <p:spPr>
          <a:xfrm>
            <a:off x="4389120" y="4023360"/>
            <a:ext cx="1828800" cy="365760"/>
          </a:xfrm>
          <a:prstGeom prst="rect">
            <a:avLst/>
          </a:prstGeom>
          <a:noFill/>
          <a:ln/>
        </p:spPr>
        <p:txBody>
          <a:bodyPr wrap="square" lIns="0" tIns="0" rIns="0" bIns="0" rtlCol="0" anchor="ctr"/>
          <a:lstStyle/>
          <a:p>
            <a:pPr algn="ctr" indent="0" marL="0">
              <a:buNone/>
            </a:pPr>
            <a:r>
              <a:rPr lang="en-US" sz="1200" dirty="0">
                <a:solidFill>
                  <a:srgbClr val="1A1A1A"/>
                </a:solidFill>
                <a:latin typeface="Arial" pitchFamily="34" charset="0"/>
                <a:ea typeface="Arial" pitchFamily="34" charset="-122"/>
                <a:cs typeface="Arial" pitchFamily="34" charset="-120"/>
              </a:rPr>
              <a:t>48 ETB</a:t>
            </a:r>
            <a:endParaRPr lang="en-US" sz="1200" dirty="0"/>
          </a:p>
        </p:txBody>
      </p:sp>
      <p:sp>
        <p:nvSpPr>
          <p:cNvPr id="35" name="Text 33"/>
          <p:cNvSpPr/>
          <p:nvPr/>
        </p:nvSpPr>
        <p:spPr>
          <a:xfrm>
            <a:off x="6217920" y="4023360"/>
            <a:ext cx="2560320" cy="365760"/>
          </a:xfrm>
          <a:prstGeom prst="rect">
            <a:avLst/>
          </a:prstGeom>
          <a:noFill/>
          <a:ln/>
        </p:spPr>
        <p:txBody>
          <a:bodyPr wrap="square" lIns="0" tIns="0" rIns="0" bIns="0" rtlCol="0" anchor="ctr"/>
          <a:lstStyle/>
          <a:p>
            <a:pPr indent="0" marL="0">
              <a:buNone/>
            </a:pPr>
            <a:endParaRPr lang="en-US" sz="1100" dirty="0"/>
          </a:p>
        </p:txBody>
      </p:sp>
      <p:sp>
        <p:nvSpPr>
          <p:cNvPr id="36" name="Shape 34"/>
          <p:cNvSpPr/>
          <p:nvPr/>
        </p:nvSpPr>
        <p:spPr>
          <a:xfrm>
            <a:off x="548640" y="4389120"/>
            <a:ext cx="8229600" cy="548640"/>
          </a:xfrm>
          <a:prstGeom prst="roundRect">
            <a:avLst>
              <a:gd name="adj" fmla="val 13333"/>
            </a:avLst>
          </a:prstGeom>
          <a:solidFill>
            <a:srgbClr val="FFF5F5"/>
          </a:solidFill>
          <a:ln/>
        </p:spPr>
      </p:sp>
      <p:sp>
        <p:nvSpPr>
          <p:cNvPr id="37" name="Text 35"/>
          <p:cNvSpPr/>
          <p:nvPr/>
        </p:nvSpPr>
        <p:spPr>
          <a:xfrm>
            <a:off x="548640" y="4389120"/>
            <a:ext cx="8229600" cy="548640"/>
          </a:xfrm>
          <a:prstGeom prst="rect">
            <a:avLst/>
          </a:prstGeom>
          <a:noFill/>
          <a:ln/>
        </p:spPr>
        <p:txBody>
          <a:bodyPr wrap="square" lIns="0" tIns="0" rIns="0" bIns="0" rtlCol="0" anchor="ctr"/>
          <a:lstStyle/>
          <a:p>
            <a:pPr algn="ctr" indent="0" marL="0">
              <a:buNone/>
            </a:pPr>
            <a:r>
              <a:rPr lang="en-US" sz="1200" b="1" dirty="0">
                <a:solidFill>
                  <a:srgbClr val="E53935"/>
                </a:solidFill>
                <a:latin typeface="Arial" pitchFamily="34" charset="0"/>
                <a:ea typeface="Arial" pitchFamily="34" charset="-122"/>
                <a:cs typeface="Arial" pitchFamily="34" charset="-120"/>
              </a:rPr>
              <a:t>CRITICAL: Still burning 10M ETB/month against 7.4M ETB revenue. Unsustainable beyond current runway.</a:t>
            </a:r>
            <a:endParaRPr lang="en-US" sz="1200" dirty="0"/>
          </a:p>
        </p:txBody>
      </p:sp>
      <p:sp>
        <p:nvSpPr>
          <p:cNvPr id="38" name="Shape 36"/>
          <p:cNvSpPr/>
          <p:nvPr/>
        </p:nvSpPr>
        <p:spPr>
          <a:xfrm>
            <a:off x="8503920" y="4663440"/>
            <a:ext cx="365760" cy="365760"/>
          </a:xfrm>
          <a:prstGeom prst="ellipse">
            <a:avLst/>
          </a:prstGeom>
          <a:solidFill>
            <a:srgbClr val="E53935"/>
          </a:solidFill>
          <a:ln/>
        </p:spPr>
      </p:sp>
      <p:sp>
        <p:nvSpPr>
          <p:cNvPr id="39" name="Text 37"/>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OPERATIONAL METRICS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Orders, AOV &amp; Daily Run Rate</a:t>
            </a:r>
            <a:endParaRPr lang="en-US" sz="3000" dirty="0"/>
          </a:p>
        </p:txBody>
      </p:sp>
      <p:sp>
        <p:nvSpPr>
          <p:cNvPr id="5" name="Shape 3"/>
          <p:cNvSpPr/>
          <p:nvPr/>
        </p:nvSpPr>
        <p:spPr>
          <a:xfrm>
            <a:off x="548640" y="1371600"/>
            <a:ext cx="1554480" cy="1737360"/>
          </a:xfrm>
          <a:prstGeom prst="roundRect">
            <a:avLst>
              <a:gd name="adj" fmla="val 5882"/>
            </a:avLst>
          </a:prstGeom>
          <a:solidFill>
            <a:srgbClr val="FFF5F5"/>
          </a:solidFill>
          <a:ln/>
        </p:spPr>
      </p:sp>
      <p:sp>
        <p:nvSpPr>
          <p:cNvPr id="6" name="Text 4"/>
          <p:cNvSpPr/>
          <p:nvPr/>
        </p:nvSpPr>
        <p:spPr>
          <a:xfrm>
            <a:off x="548640" y="1417320"/>
            <a:ext cx="155448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Arial" pitchFamily="34" charset="0"/>
                <a:ea typeface="Arial" pitchFamily="34" charset="-122"/>
                <a:cs typeface="Arial" pitchFamily="34" charset="-120"/>
              </a:rPr>
              <a:t>83,731</a:t>
            </a:r>
            <a:endParaRPr lang="en-US" sz="2200" dirty="0"/>
          </a:p>
        </p:txBody>
      </p:sp>
      <p:sp>
        <p:nvSpPr>
          <p:cNvPr id="7" name="Shape 5"/>
          <p:cNvSpPr/>
          <p:nvPr/>
        </p:nvSpPr>
        <p:spPr>
          <a:xfrm>
            <a:off x="731520" y="2011680"/>
            <a:ext cx="1188720" cy="0"/>
          </a:xfrm>
          <a:prstGeom prst="line">
            <a:avLst/>
          </a:prstGeom>
          <a:noFill/>
          <a:ln w="12700">
            <a:solidFill>
              <a:srgbClr val="E5E5E5"/>
            </a:solidFill>
            <a:prstDash val="solid"/>
          </a:ln>
        </p:spPr>
      </p:sp>
      <p:sp>
        <p:nvSpPr>
          <p:cNvPr id="8" name="Text 6"/>
          <p:cNvSpPr/>
          <p:nvPr/>
        </p:nvSpPr>
        <p:spPr>
          <a:xfrm>
            <a:off x="548640" y="2057400"/>
            <a:ext cx="1554480" cy="365760"/>
          </a:xfrm>
          <a:prstGeom prst="rect">
            <a:avLst/>
          </a:prstGeom>
          <a:noFill/>
          <a:ln/>
        </p:spPr>
        <p:txBody>
          <a:bodyPr wrap="square" lIns="0" tIns="0" rIns="0" bIns="0" rtlCol="0" anchor="ctr"/>
          <a:lstStyle/>
          <a:p>
            <a:pPr algn="ctr" indent="0" marL="0">
              <a:buNone/>
            </a:pPr>
            <a:r>
              <a:rPr lang="en-US" sz="1100" b="1" dirty="0">
                <a:solidFill>
                  <a:srgbClr val="333333"/>
                </a:solidFill>
                <a:latin typeface="Arial" pitchFamily="34" charset="0"/>
                <a:ea typeface="Arial" pitchFamily="34" charset="-122"/>
                <a:cs typeface="Arial" pitchFamily="34" charset="-120"/>
              </a:rPr>
              <a:t>Monthly Orders</a:t>
            </a:r>
            <a:endParaRPr lang="en-US" sz="1100" dirty="0"/>
          </a:p>
        </p:txBody>
      </p:sp>
      <p:sp>
        <p:nvSpPr>
          <p:cNvPr id="9" name="Text 7"/>
          <p:cNvSpPr/>
          <p:nvPr/>
        </p:nvSpPr>
        <p:spPr>
          <a:xfrm>
            <a:off x="548640" y="2468880"/>
            <a:ext cx="1554480" cy="457200"/>
          </a:xfrm>
          <a:prstGeom prst="rect">
            <a:avLst/>
          </a:prstGeom>
          <a:noFill/>
          <a:ln/>
        </p:spPr>
        <p:txBody>
          <a:bodyPr wrap="square" lIns="0" tIns="0" rIns="0" bIns="0" rtlCol="0" anchor="t"/>
          <a:lstStyle/>
          <a:p>
            <a:pPr algn="ctr" indent="0" marL="0">
              <a:buNone/>
            </a:pPr>
            <a:r>
              <a:rPr lang="en-US" sz="1000" dirty="0">
                <a:solidFill>
                  <a:srgbClr val="888888"/>
                </a:solidFill>
                <a:latin typeface="Arial" pitchFamily="34" charset="0"/>
                <a:ea typeface="Arial" pitchFamily="34" charset="-122"/>
                <a:cs typeface="Arial" pitchFamily="34" charset="-120"/>
              </a:rPr>
              <a:t>Target: 120,000</a:t>
            </a:r>
            <a:endParaRPr lang="en-US" sz="1000" dirty="0"/>
          </a:p>
        </p:txBody>
      </p:sp>
      <p:sp>
        <p:nvSpPr>
          <p:cNvPr id="10" name="Shape 8"/>
          <p:cNvSpPr/>
          <p:nvPr/>
        </p:nvSpPr>
        <p:spPr>
          <a:xfrm>
            <a:off x="2240280" y="1371600"/>
            <a:ext cx="1554480" cy="1737360"/>
          </a:xfrm>
          <a:prstGeom prst="roundRect">
            <a:avLst>
              <a:gd name="adj" fmla="val 5882"/>
            </a:avLst>
          </a:prstGeom>
          <a:solidFill>
            <a:srgbClr val="F8F8F8"/>
          </a:solidFill>
          <a:ln/>
        </p:spPr>
      </p:sp>
      <p:sp>
        <p:nvSpPr>
          <p:cNvPr id="11" name="Text 9"/>
          <p:cNvSpPr/>
          <p:nvPr/>
        </p:nvSpPr>
        <p:spPr>
          <a:xfrm>
            <a:off x="2240280" y="1417320"/>
            <a:ext cx="155448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Arial" pitchFamily="34" charset="0"/>
                <a:ea typeface="Arial" pitchFamily="34" charset="-122"/>
                <a:cs typeface="Arial" pitchFamily="34" charset="-120"/>
              </a:rPr>
              <a:t>153,989 kg</a:t>
            </a:r>
            <a:endParaRPr lang="en-US" sz="2200" dirty="0"/>
          </a:p>
        </p:txBody>
      </p:sp>
      <p:sp>
        <p:nvSpPr>
          <p:cNvPr id="12" name="Shape 10"/>
          <p:cNvSpPr/>
          <p:nvPr/>
        </p:nvSpPr>
        <p:spPr>
          <a:xfrm>
            <a:off x="2423160" y="2011680"/>
            <a:ext cx="1188720" cy="0"/>
          </a:xfrm>
          <a:prstGeom prst="line">
            <a:avLst/>
          </a:prstGeom>
          <a:noFill/>
          <a:ln w="12700">
            <a:solidFill>
              <a:srgbClr val="E5E5E5"/>
            </a:solidFill>
            <a:prstDash val="solid"/>
          </a:ln>
        </p:spPr>
      </p:sp>
      <p:sp>
        <p:nvSpPr>
          <p:cNvPr id="13" name="Text 11"/>
          <p:cNvSpPr/>
          <p:nvPr/>
        </p:nvSpPr>
        <p:spPr>
          <a:xfrm>
            <a:off x="2240280" y="2057400"/>
            <a:ext cx="1554480" cy="365760"/>
          </a:xfrm>
          <a:prstGeom prst="rect">
            <a:avLst/>
          </a:prstGeom>
          <a:noFill/>
          <a:ln/>
        </p:spPr>
        <p:txBody>
          <a:bodyPr wrap="square" lIns="0" tIns="0" rIns="0" bIns="0" rtlCol="0" anchor="ctr"/>
          <a:lstStyle/>
          <a:p>
            <a:pPr algn="ctr" indent="0" marL="0">
              <a:buNone/>
            </a:pPr>
            <a:r>
              <a:rPr lang="en-US" sz="1100" b="1" dirty="0">
                <a:solidFill>
                  <a:srgbClr val="333333"/>
                </a:solidFill>
                <a:latin typeface="Arial" pitchFamily="34" charset="0"/>
                <a:ea typeface="Arial" pitchFamily="34" charset="-122"/>
                <a:cs typeface="Arial" pitchFamily="34" charset="-120"/>
              </a:rPr>
              <a:t>Total Volume</a:t>
            </a:r>
            <a:endParaRPr lang="en-US" sz="1100" dirty="0"/>
          </a:p>
        </p:txBody>
      </p:sp>
      <p:sp>
        <p:nvSpPr>
          <p:cNvPr id="14" name="Text 12"/>
          <p:cNvSpPr/>
          <p:nvPr/>
        </p:nvSpPr>
        <p:spPr>
          <a:xfrm>
            <a:off x="2240280" y="2468880"/>
            <a:ext cx="1554480" cy="457200"/>
          </a:xfrm>
          <a:prstGeom prst="rect">
            <a:avLst/>
          </a:prstGeom>
          <a:noFill/>
          <a:ln/>
        </p:spPr>
        <p:txBody>
          <a:bodyPr wrap="square" lIns="0" tIns="0" rIns="0" bIns="0" rtlCol="0" anchor="t"/>
          <a:lstStyle/>
          <a:p>
            <a:pPr algn="ctr" indent="0" marL="0">
              <a:buNone/>
            </a:pPr>
            <a:r>
              <a:rPr lang="en-US" sz="1000" dirty="0">
                <a:solidFill>
                  <a:srgbClr val="888888"/>
                </a:solidFill>
                <a:latin typeface="Arial" pitchFamily="34" charset="0"/>
                <a:ea typeface="Arial" pitchFamily="34" charset="-122"/>
                <a:cs typeface="Arial" pitchFamily="34" charset="-120"/>
              </a:rPr>
              <a:t>~154 tons / month</a:t>
            </a:r>
            <a:endParaRPr lang="en-US" sz="1000" dirty="0"/>
          </a:p>
        </p:txBody>
      </p:sp>
      <p:sp>
        <p:nvSpPr>
          <p:cNvPr id="15" name="Shape 13"/>
          <p:cNvSpPr/>
          <p:nvPr/>
        </p:nvSpPr>
        <p:spPr>
          <a:xfrm>
            <a:off x="3931920" y="1371600"/>
            <a:ext cx="1554480" cy="1737360"/>
          </a:xfrm>
          <a:prstGeom prst="roundRect">
            <a:avLst>
              <a:gd name="adj" fmla="val 5882"/>
            </a:avLst>
          </a:prstGeom>
          <a:solidFill>
            <a:srgbClr val="FFF5F5"/>
          </a:solidFill>
          <a:ln/>
        </p:spPr>
      </p:sp>
      <p:sp>
        <p:nvSpPr>
          <p:cNvPr id="16" name="Text 14"/>
          <p:cNvSpPr/>
          <p:nvPr/>
        </p:nvSpPr>
        <p:spPr>
          <a:xfrm>
            <a:off x="3931920" y="1417320"/>
            <a:ext cx="155448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Arial" pitchFamily="34" charset="0"/>
                <a:ea typeface="Arial" pitchFamily="34" charset="-122"/>
                <a:cs typeface="Arial" pitchFamily="34" charset="-120"/>
              </a:rPr>
              <a:t>88 ETB</a:t>
            </a:r>
            <a:endParaRPr lang="en-US" sz="2200" dirty="0"/>
          </a:p>
        </p:txBody>
      </p:sp>
      <p:sp>
        <p:nvSpPr>
          <p:cNvPr id="17" name="Shape 15"/>
          <p:cNvSpPr/>
          <p:nvPr/>
        </p:nvSpPr>
        <p:spPr>
          <a:xfrm>
            <a:off x="4114800" y="2011680"/>
            <a:ext cx="1188720" cy="0"/>
          </a:xfrm>
          <a:prstGeom prst="line">
            <a:avLst/>
          </a:prstGeom>
          <a:noFill/>
          <a:ln w="12700">
            <a:solidFill>
              <a:srgbClr val="E5E5E5"/>
            </a:solidFill>
            <a:prstDash val="solid"/>
          </a:ln>
        </p:spPr>
      </p:sp>
      <p:sp>
        <p:nvSpPr>
          <p:cNvPr id="18" name="Text 16"/>
          <p:cNvSpPr/>
          <p:nvPr/>
        </p:nvSpPr>
        <p:spPr>
          <a:xfrm>
            <a:off x="3931920" y="2057400"/>
            <a:ext cx="1554480" cy="365760"/>
          </a:xfrm>
          <a:prstGeom prst="rect">
            <a:avLst/>
          </a:prstGeom>
          <a:noFill/>
          <a:ln/>
        </p:spPr>
        <p:txBody>
          <a:bodyPr wrap="square" lIns="0" tIns="0" rIns="0" bIns="0" rtlCol="0" anchor="ctr"/>
          <a:lstStyle/>
          <a:p>
            <a:pPr algn="ctr" indent="0" marL="0">
              <a:buNone/>
            </a:pPr>
            <a:r>
              <a:rPr lang="en-US" sz="1100" b="1" dirty="0">
                <a:solidFill>
                  <a:srgbClr val="333333"/>
                </a:solidFill>
                <a:latin typeface="Arial" pitchFamily="34" charset="0"/>
                <a:ea typeface="Arial" pitchFamily="34" charset="-122"/>
                <a:cs typeface="Arial" pitchFamily="34" charset="-120"/>
              </a:rPr>
              <a:t>Sales/Order</a:t>
            </a:r>
            <a:endParaRPr lang="en-US" sz="1100" dirty="0"/>
          </a:p>
        </p:txBody>
      </p:sp>
      <p:sp>
        <p:nvSpPr>
          <p:cNvPr id="19" name="Text 17"/>
          <p:cNvSpPr/>
          <p:nvPr/>
        </p:nvSpPr>
        <p:spPr>
          <a:xfrm>
            <a:off x="3931920" y="2468880"/>
            <a:ext cx="1554480" cy="457200"/>
          </a:xfrm>
          <a:prstGeom prst="rect">
            <a:avLst/>
          </a:prstGeom>
          <a:noFill/>
          <a:ln/>
        </p:spPr>
        <p:txBody>
          <a:bodyPr wrap="square" lIns="0" tIns="0" rIns="0" bIns="0" rtlCol="0" anchor="t"/>
          <a:lstStyle/>
          <a:p>
            <a:pPr algn="ctr" indent="0" marL="0">
              <a:buNone/>
            </a:pPr>
            <a:r>
              <a:rPr lang="en-US" sz="1000" dirty="0">
                <a:solidFill>
                  <a:srgbClr val="888888"/>
                </a:solidFill>
                <a:latin typeface="Arial" pitchFamily="34" charset="0"/>
                <a:ea typeface="Arial" pitchFamily="34" charset="-122"/>
                <a:cs typeface="Arial" pitchFamily="34" charset="-120"/>
              </a:rPr>
              <a:t>Avg order value</a:t>
            </a:r>
            <a:endParaRPr lang="en-US" sz="1000" dirty="0"/>
          </a:p>
        </p:txBody>
      </p:sp>
      <p:sp>
        <p:nvSpPr>
          <p:cNvPr id="20" name="Shape 18"/>
          <p:cNvSpPr/>
          <p:nvPr/>
        </p:nvSpPr>
        <p:spPr>
          <a:xfrm>
            <a:off x="5623560" y="1371600"/>
            <a:ext cx="1554480" cy="1737360"/>
          </a:xfrm>
          <a:prstGeom prst="roundRect">
            <a:avLst>
              <a:gd name="adj" fmla="val 5882"/>
            </a:avLst>
          </a:prstGeom>
          <a:solidFill>
            <a:srgbClr val="F8F8F8"/>
          </a:solidFill>
          <a:ln/>
        </p:spPr>
      </p:sp>
      <p:sp>
        <p:nvSpPr>
          <p:cNvPr id="21" name="Text 19"/>
          <p:cNvSpPr/>
          <p:nvPr/>
        </p:nvSpPr>
        <p:spPr>
          <a:xfrm>
            <a:off x="5623560" y="1417320"/>
            <a:ext cx="155448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Arial" pitchFamily="34" charset="0"/>
                <a:ea typeface="Arial" pitchFamily="34" charset="-122"/>
                <a:cs typeface="Arial" pitchFamily="34" charset="-120"/>
              </a:rPr>
              <a:t>48 ETB</a:t>
            </a:r>
            <a:endParaRPr lang="en-US" sz="2200" dirty="0"/>
          </a:p>
        </p:txBody>
      </p:sp>
      <p:sp>
        <p:nvSpPr>
          <p:cNvPr id="22" name="Shape 20"/>
          <p:cNvSpPr/>
          <p:nvPr/>
        </p:nvSpPr>
        <p:spPr>
          <a:xfrm>
            <a:off x="5806440" y="2011680"/>
            <a:ext cx="1188720" cy="0"/>
          </a:xfrm>
          <a:prstGeom prst="line">
            <a:avLst/>
          </a:prstGeom>
          <a:noFill/>
          <a:ln w="12700">
            <a:solidFill>
              <a:srgbClr val="E5E5E5"/>
            </a:solidFill>
            <a:prstDash val="solid"/>
          </a:ln>
        </p:spPr>
      </p:sp>
      <p:sp>
        <p:nvSpPr>
          <p:cNvPr id="23" name="Text 21"/>
          <p:cNvSpPr/>
          <p:nvPr/>
        </p:nvSpPr>
        <p:spPr>
          <a:xfrm>
            <a:off x="5623560" y="2057400"/>
            <a:ext cx="1554480" cy="365760"/>
          </a:xfrm>
          <a:prstGeom prst="rect">
            <a:avLst/>
          </a:prstGeom>
          <a:noFill/>
          <a:ln/>
        </p:spPr>
        <p:txBody>
          <a:bodyPr wrap="square" lIns="0" tIns="0" rIns="0" bIns="0" rtlCol="0" anchor="ctr"/>
          <a:lstStyle/>
          <a:p>
            <a:pPr algn="ctr" indent="0" marL="0">
              <a:buNone/>
            </a:pPr>
            <a:r>
              <a:rPr lang="en-US" sz="1100" b="1" dirty="0">
                <a:solidFill>
                  <a:srgbClr val="333333"/>
                </a:solidFill>
                <a:latin typeface="Arial" pitchFamily="34" charset="0"/>
                <a:ea typeface="Arial" pitchFamily="34" charset="-122"/>
                <a:cs typeface="Arial" pitchFamily="34" charset="-120"/>
              </a:rPr>
              <a:t>Sales/KG</a:t>
            </a:r>
            <a:endParaRPr lang="en-US" sz="1100" dirty="0"/>
          </a:p>
        </p:txBody>
      </p:sp>
      <p:sp>
        <p:nvSpPr>
          <p:cNvPr id="24" name="Text 22"/>
          <p:cNvSpPr/>
          <p:nvPr/>
        </p:nvSpPr>
        <p:spPr>
          <a:xfrm>
            <a:off x="5623560" y="2468880"/>
            <a:ext cx="1554480" cy="457200"/>
          </a:xfrm>
          <a:prstGeom prst="rect">
            <a:avLst/>
          </a:prstGeom>
          <a:noFill/>
          <a:ln/>
        </p:spPr>
        <p:txBody>
          <a:bodyPr wrap="square" lIns="0" tIns="0" rIns="0" bIns="0" rtlCol="0" anchor="t"/>
          <a:lstStyle/>
          <a:p>
            <a:pPr algn="ctr" indent="0" marL="0">
              <a:buNone/>
            </a:pPr>
            <a:r>
              <a:rPr lang="en-US" sz="1000" dirty="0">
                <a:solidFill>
                  <a:srgbClr val="888888"/>
                </a:solidFill>
                <a:latin typeface="Arial" pitchFamily="34" charset="0"/>
                <a:ea typeface="Arial" pitchFamily="34" charset="-122"/>
                <a:cs typeface="Arial" pitchFamily="34" charset="-120"/>
              </a:rPr>
              <a:t>Per-kg revenue</a:t>
            </a:r>
            <a:endParaRPr lang="en-US" sz="1000" dirty="0"/>
          </a:p>
        </p:txBody>
      </p:sp>
      <p:sp>
        <p:nvSpPr>
          <p:cNvPr id="25" name="Shape 23"/>
          <p:cNvSpPr/>
          <p:nvPr/>
        </p:nvSpPr>
        <p:spPr>
          <a:xfrm>
            <a:off x="7315200" y="1371600"/>
            <a:ext cx="1554480" cy="1737360"/>
          </a:xfrm>
          <a:prstGeom prst="roundRect">
            <a:avLst>
              <a:gd name="adj" fmla="val 5882"/>
            </a:avLst>
          </a:prstGeom>
          <a:solidFill>
            <a:srgbClr val="FFF5F5"/>
          </a:solidFill>
          <a:ln/>
        </p:spPr>
      </p:sp>
      <p:sp>
        <p:nvSpPr>
          <p:cNvPr id="26" name="Text 24"/>
          <p:cNvSpPr/>
          <p:nvPr/>
        </p:nvSpPr>
        <p:spPr>
          <a:xfrm>
            <a:off x="7315200" y="1417320"/>
            <a:ext cx="1554480" cy="548640"/>
          </a:xfrm>
          <a:prstGeom prst="rect">
            <a:avLst/>
          </a:prstGeom>
          <a:noFill/>
          <a:ln/>
        </p:spPr>
        <p:txBody>
          <a:bodyPr wrap="square" lIns="0" tIns="0" rIns="0" bIns="0" rtlCol="0" anchor="ctr"/>
          <a:lstStyle/>
          <a:p>
            <a:pPr algn="ctr" indent="0" marL="0">
              <a:buNone/>
            </a:pPr>
            <a:r>
              <a:rPr lang="en-US" sz="2200" b="1" dirty="0">
                <a:solidFill>
                  <a:srgbClr val="1A1A1A"/>
                </a:solidFill>
                <a:latin typeface="Arial" pitchFamily="34" charset="0"/>
                <a:ea typeface="Arial" pitchFamily="34" charset="-122"/>
                <a:cs typeface="Arial" pitchFamily="34" charset="-120"/>
              </a:rPr>
              <a:t>5,419 ETB</a:t>
            </a:r>
            <a:endParaRPr lang="en-US" sz="2200" dirty="0"/>
          </a:p>
        </p:txBody>
      </p:sp>
      <p:sp>
        <p:nvSpPr>
          <p:cNvPr id="27" name="Shape 25"/>
          <p:cNvSpPr/>
          <p:nvPr/>
        </p:nvSpPr>
        <p:spPr>
          <a:xfrm>
            <a:off x="7498080" y="2011680"/>
            <a:ext cx="1188720" cy="0"/>
          </a:xfrm>
          <a:prstGeom prst="line">
            <a:avLst/>
          </a:prstGeom>
          <a:noFill/>
          <a:ln w="12700">
            <a:solidFill>
              <a:srgbClr val="E5E5E5"/>
            </a:solidFill>
            <a:prstDash val="solid"/>
          </a:ln>
        </p:spPr>
      </p:sp>
      <p:sp>
        <p:nvSpPr>
          <p:cNvPr id="28" name="Text 26"/>
          <p:cNvSpPr/>
          <p:nvPr/>
        </p:nvSpPr>
        <p:spPr>
          <a:xfrm>
            <a:off x="7315200" y="2057400"/>
            <a:ext cx="1554480" cy="365760"/>
          </a:xfrm>
          <a:prstGeom prst="rect">
            <a:avLst/>
          </a:prstGeom>
          <a:noFill/>
          <a:ln/>
        </p:spPr>
        <p:txBody>
          <a:bodyPr wrap="square" lIns="0" tIns="0" rIns="0" bIns="0" rtlCol="0" anchor="ctr"/>
          <a:lstStyle/>
          <a:p>
            <a:pPr algn="ctr" indent="0" marL="0">
              <a:buNone/>
            </a:pPr>
            <a:r>
              <a:rPr lang="en-US" sz="1100" b="1" dirty="0">
                <a:solidFill>
                  <a:srgbClr val="333333"/>
                </a:solidFill>
                <a:latin typeface="Arial" pitchFamily="34" charset="0"/>
                <a:ea typeface="Arial" pitchFamily="34" charset="-122"/>
                <a:cs typeface="Arial" pitchFamily="34" charset="-120"/>
              </a:rPr>
              <a:t>Daily Run Rate (W6)</a:t>
            </a:r>
            <a:endParaRPr lang="en-US" sz="1100" dirty="0"/>
          </a:p>
        </p:txBody>
      </p:sp>
      <p:sp>
        <p:nvSpPr>
          <p:cNvPr id="29" name="Text 27"/>
          <p:cNvSpPr/>
          <p:nvPr/>
        </p:nvSpPr>
        <p:spPr>
          <a:xfrm>
            <a:off x="7315200" y="2468880"/>
            <a:ext cx="1554480" cy="457200"/>
          </a:xfrm>
          <a:prstGeom prst="rect">
            <a:avLst/>
          </a:prstGeom>
          <a:noFill/>
          <a:ln/>
        </p:spPr>
        <p:txBody>
          <a:bodyPr wrap="square" lIns="0" tIns="0" rIns="0" bIns="0" rtlCol="0" anchor="t"/>
          <a:lstStyle/>
          <a:p>
            <a:pPr algn="ctr" indent="0" marL="0">
              <a:buNone/>
            </a:pPr>
            <a:r>
              <a:rPr lang="en-US" sz="1000" dirty="0">
                <a:solidFill>
                  <a:srgbClr val="888888"/>
                </a:solidFill>
                <a:latin typeface="Arial" pitchFamily="34" charset="0"/>
                <a:ea typeface="Arial" pitchFamily="34" charset="-122"/>
                <a:cs typeface="Arial" pitchFamily="34" charset="-120"/>
              </a:rPr>
              <a:t>Down 9.6% from W5</a:t>
            </a:r>
            <a:endParaRPr lang="en-US" sz="1000" dirty="0"/>
          </a:p>
        </p:txBody>
      </p:sp>
      <p:sp>
        <p:nvSpPr>
          <p:cNvPr id="30" name="Text 28"/>
          <p:cNvSpPr/>
          <p:nvPr/>
        </p:nvSpPr>
        <p:spPr>
          <a:xfrm>
            <a:off x="548640" y="3291840"/>
            <a:ext cx="3657600" cy="274320"/>
          </a:xfrm>
          <a:prstGeom prst="rect">
            <a:avLst/>
          </a:prstGeom>
          <a:noFill/>
          <a:ln/>
        </p:spPr>
        <p:txBody>
          <a:bodyPr wrap="square" lIns="0" tIns="0" rIns="0" bIns="0" rtlCol="0" anchor="ctr"/>
          <a:lstStyle/>
          <a:p>
            <a:pPr indent="0" marL="0">
              <a:buNone/>
            </a:pPr>
            <a:r>
              <a:rPr lang="en-US" sz="1100" b="1" spc="300" kern="0" dirty="0">
                <a:solidFill>
                  <a:srgbClr val="E53935"/>
                </a:solidFill>
                <a:latin typeface="Arial" pitchFamily="34" charset="0"/>
                <a:ea typeface="Arial" pitchFamily="34" charset="-122"/>
                <a:cs typeface="Arial" pitchFamily="34" charset="-120"/>
              </a:rPr>
              <a:t>WEEKLY KPI TREND</a:t>
            </a:r>
            <a:endParaRPr lang="en-US" sz="1100" dirty="0"/>
          </a:p>
        </p:txBody>
      </p:sp>
      <p:sp>
        <p:nvSpPr>
          <p:cNvPr id="31" name="Shape 29"/>
          <p:cNvSpPr/>
          <p:nvPr/>
        </p:nvSpPr>
        <p:spPr>
          <a:xfrm>
            <a:off x="548640" y="3566160"/>
            <a:ext cx="8229600" cy="1417320"/>
          </a:xfrm>
          <a:prstGeom prst="roundRect">
            <a:avLst>
              <a:gd name="adj" fmla="val 6452"/>
            </a:avLst>
          </a:prstGeom>
          <a:solidFill>
            <a:srgbClr val="F8F8F8"/>
          </a:solidFill>
          <a:ln/>
        </p:spPr>
      </p:sp>
      <p:sp>
        <p:nvSpPr>
          <p:cNvPr id="32" name="Text 30"/>
          <p:cNvSpPr/>
          <p:nvPr/>
        </p:nvSpPr>
        <p:spPr>
          <a:xfrm>
            <a:off x="640080" y="3584448"/>
            <a:ext cx="1828800" cy="228600"/>
          </a:xfrm>
          <a:prstGeom prst="rect">
            <a:avLst/>
          </a:prstGeom>
          <a:noFill/>
          <a:ln/>
        </p:spPr>
        <p:txBody>
          <a:bodyPr wrap="square" lIns="0" tIns="0" rIns="0" bIns="0" rtlCol="0" anchor="ctr"/>
          <a:lstStyle/>
          <a:p>
            <a:pPr indent="0" marL="0">
              <a:buNone/>
            </a:pPr>
            <a:r>
              <a:rPr lang="en-US" sz="900" b="1" dirty="0">
                <a:solidFill>
                  <a:srgbClr val="888888"/>
                </a:solidFill>
                <a:latin typeface="Arial" pitchFamily="34" charset="0"/>
                <a:ea typeface="Arial" pitchFamily="34" charset="-122"/>
                <a:cs typeface="Arial" pitchFamily="34" charset="-120"/>
              </a:rPr>
              <a:t>KPI</a:t>
            </a:r>
            <a:endParaRPr lang="en-US" sz="900" dirty="0"/>
          </a:p>
        </p:txBody>
      </p:sp>
      <p:sp>
        <p:nvSpPr>
          <p:cNvPr id="33" name="Text 31"/>
          <p:cNvSpPr/>
          <p:nvPr/>
        </p:nvSpPr>
        <p:spPr>
          <a:xfrm>
            <a:off x="2468880" y="3584448"/>
            <a:ext cx="1645920" cy="228600"/>
          </a:xfrm>
          <a:prstGeom prst="rect">
            <a:avLst/>
          </a:prstGeom>
          <a:noFill/>
          <a:ln/>
        </p:spPr>
        <p:txBody>
          <a:bodyPr wrap="square" lIns="0" tIns="0" rIns="0" bIns="0" rtlCol="0" anchor="ctr"/>
          <a:lstStyle/>
          <a:p>
            <a:pPr algn="ctr" indent="0" marL="0">
              <a:buNone/>
            </a:pPr>
            <a:r>
              <a:rPr lang="en-US" sz="900" b="1" dirty="0">
                <a:solidFill>
                  <a:srgbClr val="888888"/>
                </a:solidFill>
                <a:latin typeface="Arial" pitchFamily="34" charset="0"/>
                <a:ea typeface="Arial" pitchFamily="34" charset="-122"/>
                <a:cs typeface="Arial" pitchFamily="34" charset="-120"/>
              </a:rPr>
              <a:t>W1</a:t>
            </a:r>
            <a:endParaRPr lang="en-US" sz="900" dirty="0"/>
          </a:p>
        </p:txBody>
      </p:sp>
      <p:sp>
        <p:nvSpPr>
          <p:cNvPr id="34" name="Text 32"/>
          <p:cNvSpPr/>
          <p:nvPr/>
        </p:nvSpPr>
        <p:spPr>
          <a:xfrm>
            <a:off x="4114800" y="3584448"/>
            <a:ext cx="1645920" cy="228600"/>
          </a:xfrm>
          <a:prstGeom prst="rect">
            <a:avLst/>
          </a:prstGeom>
          <a:noFill/>
          <a:ln/>
        </p:spPr>
        <p:txBody>
          <a:bodyPr wrap="square" lIns="0" tIns="0" rIns="0" bIns="0" rtlCol="0" anchor="ctr"/>
          <a:lstStyle/>
          <a:p>
            <a:pPr algn="ctr" indent="0" marL="0">
              <a:buNone/>
            </a:pPr>
            <a:r>
              <a:rPr lang="en-US" sz="900" b="1" dirty="0">
                <a:solidFill>
                  <a:srgbClr val="888888"/>
                </a:solidFill>
                <a:latin typeface="Arial" pitchFamily="34" charset="0"/>
                <a:ea typeface="Arial" pitchFamily="34" charset="-122"/>
                <a:cs typeface="Arial" pitchFamily="34" charset="-120"/>
              </a:rPr>
              <a:t>W3 (Peak)</a:t>
            </a:r>
            <a:endParaRPr lang="en-US" sz="900" dirty="0"/>
          </a:p>
        </p:txBody>
      </p:sp>
      <p:sp>
        <p:nvSpPr>
          <p:cNvPr id="35" name="Text 33"/>
          <p:cNvSpPr/>
          <p:nvPr/>
        </p:nvSpPr>
        <p:spPr>
          <a:xfrm>
            <a:off x="5760720" y="3584448"/>
            <a:ext cx="1645920" cy="228600"/>
          </a:xfrm>
          <a:prstGeom prst="rect">
            <a:avLst/>
          </a:prstGeom>
          <a:noFill/>
          <a:ln/>
        </p:spPr>
        <p:txBody>
          <a:bodyPr wrap="square" lIns="0" tIns="0" rIns="0" bIns="0" rtlCol="0" anchor="ctr"/>
          <a:lstStyle/>
          <a:p>
            <a:pPr algn="ctr" indent="0" marL="0">
              <a:buNone/>
            </a:pPr>
            <a:r>
              <a:rPr lang="en-US" sz="900" b="1" dirty="0">
                <a:solidFill>
                  <a:srgbClr val="888888"/>
                </a:solidFill>
                <a:latin typeface="Arial" pitchFamily="34" charset="0"/>
                <a:ea typeface="Arial" pitchFamily="34" charset="-122"/>
                <a:cs typeface="Arial" pitchFamily="34" charset="-120"/>
              </a:rPr>
              <a:t>W6 (Latest)</a:t>
            </a:r>
            <a:endParaRPr lang="en-US" sz="900" dirty="0"/>
          </a:p>
        </p:txBody>
      </p:sp>
      <p:sp>
        <p:nvSpPr>
          <p:cNvPr id="36" name="Text 34"/>
          <p:cNvSpPr/>
          <p:nvPr/>
        </p:nvSpPr>
        <p:spPr>
          <a:xfrm>
            <a:off x="7406640" y="3584448"/>
            <a:ext cx="1188720" cy="228600"/>
          </a:xfrm>
          <a:prstGeom prst="rect">
            <a:avLst/>
          </a:prstGeom>
          <a:noFill/>
          <a:ln/>
        </p:spPr>
        <p:txBody>
          <a:bodyPr wrap="square" lIns="0" tIns="0" rIns="0" bIns="0" rtlCol="0" anchor="ctr"/>
          <a:lstStyle/>
          <a:p>
            <a:pPr algn="ctr" indent="0" marL="0">
              <a:buNone/>
            </a:pPr>
            <a:r>
              <a:rPr lang="en-US" sz="900" b="1" dirty="0">
                <a:solidFill>
                  <a:srgbClr val="888888"/>
                </a:solidFill>
                <a:latin typeface="Arial" pitchFamily="34" charset="0"/>
                <a:ea typeface="Arial" pitchFamily="34" charset="-122"/>
                <a:cs typeface="Arial" pitchFamily="34" charset="-120"/>
              </a:rPr>
              <a:t>Change</a:t>
            </a:r>
            <a:endParaRPr lang="en-US" sz="900" dirty="0"/>
          </a:p>
        </p:txBody>
      </p:sp>
      <p:sp>
        <p:nvSpPr>
          <p:cNvPr id="37" name="Text 35"/>
          <p:cNvSpPr/>
          <p:nvPr/>
        </p:nvSpPr>
        <p:spPr>
          <a:xfrm>
            <a:off x="640080" y="3822192"/>
            <a:ext cx="1828800" cy="256032"/>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Weekly Sales</a:t>
            </a:r>
            <a:endParaRPr lang="en-US" sz="1000" dirty="0"/>
          </a:p>
        </p:txBody>
      </p:sp>
      <p:sp>
        <p:nvSpPr>
          <p:cNvPr id="38" name="Text 36"/>
          <p:cNvSpPr/>
          <p:nvPr/>
        </p:nvSpPr>
        <p:spPr>
          <a:xfrm>
            <a:off x="2468880" y="3822192"/>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1,054,953</a:t>
            </a:r>
            <a:endParaRPr lang="en-US" sz="1000" dirty="0"/>
          </a:p>
        </p:txBody>
      </p:sp>
      <p:sp>
        <p:nvSpPr>
          <p:cNvPr id="39" name="Text 37"/>
          <p:cNvSpPr/>
          <p:nvPr/>
        </p:nvSpPr>
        <p:spPr>
          <a:xfrm>
            <a:off x="4114800" y="3822192"/>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1,555,460</a:t>
            </a:r>
            <a:endParaRPr lang="en-US" sz="1000" dirty="0"/>
          </a:p>
        </p:txBody>
      </p:sp>
      <p:sp>
        <p:nvSpPr>
          <p:cNvPr id="40" name="Text 38"/>
          <p:cNvSpPr/>
          <p:nvPr/>
        </p:nvSpPr>
        <p:spPr>
          <a:xfrm>
            <a:off x="5760720" y="3822192"/>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1,665,477</a:t>
            </a:r>
            <a:endParaRPr lang="en-US" sz="1000" dirty="0"/>
          </a:p>
        </p:txBody>
      </p:sp>
      <p:sp>
        <p:nvSpPr>
          <p:cNvPr id="41" name="Text 39"/>
          <p:cNvSpPr/>
          <p:nvPr/>
        </p:nvSpPr>
        <p:spPr>
          <a:xfrm>
            <a:off x="7406640" y="3822192"/>
            <a:ext cx="11887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+57.9%</a:t>
            </a:r>
            <a:endParaRPr lang="en-US" sz="1000" dirty="0"/>
          </a:p>
        </p:txBody>
      </p:sp>
      <p:sp>
        <p:nvSpPr>
          <p:cNvPr id="42" name="Text 40"/>
          <p:cNvSpPr/>
          <p:nvPr/>
        </p:nvSpPr>
        <p:spPr>
          <a:xfrm>
            <a:off x="640080" y="4123944"/>
            <a:ext cx="1828800" cy="256032"/>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SGL Channel Sales</a:t>
            </a:r>
            <a:endParaRPr lang="en-US" sz="1000" dirty="0"/>
          </a:p>
        </p:txBody>
      </p:sp>
      <p:sp>
        <p:nvSpPr>
          <p:cNvPr id="43" name="Text 41"/>
          <p:cNvSpPr/>
          <p:nvPr/>
        </p:nvSpPr>
        <p:spPr>
          <a:xfrm>
            <a:off x="2468880" y="4123944"/>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1,989</a:t>
            </a:r>
            <a:endParaRPr lang="en-US" sz="1000" dirty="0"/>
          </a:p>
        </p:txBody>
      </p:sp>
      <p:sp>
        <p:nvSpPr>
          <p:cNvPr id="44" name="Text 42"/>
          <p:cNvSpPr/>
          <p:nvPr/>
        </p:nvSpPr>
        <p:spPr>
          <a:xfrm>
            <a:off x="4114800" y="4123944"/>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3,748</a:t>
            </a:r>
            <a:endParaRPr lang="en-US" sz="1000" dirty="0"/>
          </a:p>
        </p:txBody>
      </p:sp>
      <p:sp>
        <p:nvSpPr>
          <p:cNvPr id="45" name="Text 43"/>
          <p:cNvSpPr/>
          <p:nvPr/>
        </p:nvSpPr>
        <p:spPr>
          <a:xfrm>
            <a:off x="5760720" y="4123944"/>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9,731</a:t>
            </a:r>
            <a:endParaRPr lang="en-US" sz="1000" dirty="0"/>
          </a:p>
        </p:txBody>
      </p:sp>
      <p:sp>
        <p:nvSpPr>
          <p:cNvPr id="46" name="Text 44"/>
          <p:cNvSpPr/>
          <p:nvPr/>
        </p:nvSpPr>
        <p:spPr>
          <a:xfrm>
            <a:off x="7406640" y="4123944"/>
            <a:ext cx="1188720" cy="256032"/>
          </a:xfrm>
          <a:prstGeom prst="rect">
            <a:avLst/>
          </a:prstGeom>
          <a:noFill/>
          <a:ln/>
        </p:spPr>
        <p:txBody>
          <a:bodyPr wrap="square" lIns="0" tIns="0" rIns="0" bIns="0" rtlCol="0" anchor="ctr"/>
          <a:lstStyle/>
          <a:p>
            <a:pPr algn="ctr" indent="0" marL="0">
              <a:buNone/>
            </a:pPr>
            <a:r>
              <a:rPr lang="en-US" sz="1000" dirty="0">
                <a:solidFill>
                  <a:srgbClr val="E53935"/>
                </a:solidFill>
                <a:latin typeface="Arial" pitchFamily="34" charset="0"/>
                <a:ea typeface="Arial" pitchFamily="34" charset="-122"/>
                <a:cs typeface="Arial" pitchFamily="34" charset="-120"/>
              </a:rPr>
              <a:t>+389.5% ✅</a:t>
            </a:r>
            <a:endParaRPr lang="en-US" sz="1000" dirty="0"/>
          </a:p>
        </p:txBody>
      </p:sp>
      <p:sp>
        <p:nvSpPr>
          <p:cNvPr id="47" name="Text 45"/>
          <p:cNvSpPr/>
          <p:nvPr/>
        </p:nvSpPr>
        <p:spPr>
          <a:xfrm>
            <a:off x="640080" y="4425696"/>
            <a:ext cx="1828800" cy="256032"/>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B2B Sales</a:t>
            </a:r>
            <a:endParaRPr lang="en-US" sz="1000" dirty="0"/>
          </a:p>
        </p:txBody>
      </p:sp>
      <p:sp>
        <p:nvSpPr>
          <p:cNvPr id="48" name="Text 46"/>
          <p:cNvSpPr/>
          <p:nvPr/>
        </p:nvSpPr>
        <p:spPr>
          <a:xfrm>
            <a:off x="2468880" y="4425696"/>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5,755</a:t>
            </a:r>
            <a:endParaRPr lang="en-US" sz="1000" dirty="0"/>
          </a:p>
        </p:txBody>
      </p:sp>
      <p:sp>
        <p:nvSpPr>
          <p:cNvPr id="49" name="Text 47"/>
          <p:cNvSpPr/>
          <p:nvPr/>
        </p:nvSpPr>
        <p:spPr>
          <a:xfrm>
            <a:off x="4114800" y="4425696"/>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1,590</a:t>
            </a:r>
            <a:endParaRPr lang="en-US" sz="1000" dirty="0"/>
          </a:p>
        </p:txBody>
      </p:sp>
      <p:sp>
        <p:nvSpPr>
          <p:cNvPr id="50" name="Text 48"/>
          <p:cNvSpPr/>
          <p:nvPr/>
        </p:nvSpPr>
        <p:spPr>
          <a:xfrm>
            <a:off x="5760720" y="4425696"/>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2,396</a:t>
            </a:r>
            <a:endParaRPr lang="en-US" sz="1000" dirty="0"/>
          </a:p>
        </p:txBody>
      </p:sp>
      <p:sp>
        <p:nvSpPr>
          <p:cNvPr id="51" name="Text 49"/>
          <p:cNvSpPr/>
          <p:nvPr/>
        </p:nvSpPr>
        <p:spPr>
          <a:xfrm>
            <a:off x="7406640" y="4425696"/>
            <a:ext cx="1188720" cy="256032"/>
          </a:xfrm>
          <a:prstGeom prst="rect">
            <a:avLst/>
          </a:prstGeom>
          <a:noFill/>
          <a:ln/>
        </p:spPr>
        <p:txBody>
          <a:bodyPr wrap="square" lIns="0" tIns="0" rIns="0" bIns="0" rtlCol="0" anchor="ctr"/>
          <a:lstStyle/>
          <a:p>
            <a:pPr algn="ctr" indent="0" marL="0">
              <a:buNone/>
            </a:pPr>
            <a:r>
              <a:rPr lang="en-US" sz="1000" dirty="0">
                <a:solidFill>
                  <a:srgbClr val="D32F2F"/>
                </a:solidFill>
                <a:latin typeface="Arial" pitchFamily="34" charset="0"/>
                <a:ea typeface="Arial" pitchFamily="34" charset="-122"/>
                <a:cs typeface="Arial" pitchFamily="34" charset="-120"/>
              </a:rPr>
              <a:t>-58.4%</a:t>
            </a:r>
            <a:endParaRPr lang="en-US" sz="1000" dirty="0"/>
          </a:p>
        </p:txBody>
      </p:sp>
      <p:sp>
        <p:nvSpPr>
          <p:cNvPr id="52" name="Text 50"/>
          <p:cNvSpPr/>
          <p:nvPr/>
        </p:nvSpPr>
        <p:spPr>
          <a:xfrm>
            <a:off x="640080" y="4727448"/>
            <a:ext cx="1828800" cy="256032"/>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FMCG Sales</a:t>
            </a:r>
            <a:endParaRPr lang="en-US" sz="1000" dirty="0"/>
          </a:p>
        </p:txBody>
      </p:sp>
      <p:sp>
        <p:nvSpPr>
          <p:cNvPr id="53" name="Text 51"/>
          <p:cNvSpPr/>
          <p:nvPr/>
        </p:nvSpPr>
        <p:spPr>
          <a:xfrm>
            <a:off x="2468880" y="4727448"/>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1,716</a:t>
            </a:r>
            <a:endParaRPr lang="en-US" sz="1000" dirty="0"/>
          </a:p>
        </p:txBody>
      </p:sp>
      <p:sp>
        <p:nvSpPr>
          <p:cNvPr id="54" name="Text 52"/>
          <p:cNvSpPr/>
          <p:nvPr/>
        </p:nvSpPr>
        <p:spPr>
          <a:xfrm>
            <a:off x="4114800" y="4727448"/>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1,783</a:t>
            </a:r>
            <a:endParaRPr lang="en-US" sz="1000" dirty="0"/>
          </a:p>
        </p:txBody>
      </p:sp>
      <p:sp>
        <p:nvSpPr>
          <p:cNvPr id="55" name="Text 53"/>
          <p:cNvSpPr/>
          <p:nvPr/>
        </p:nvSpPr>
        <p:spPr>
          <a:xfrm>
            <a:off x="5760720" y="4727448"/>
            <a:ext cx="16459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1,966</a:t>
            </a:r>
            <a:endParaRPr lang="en-US" sz="1000" dirty="0"/>
          </a:p>
        </p:txBody>
      </p:sp>
      <p:sp>
        <p:nvSpPr>
          <p:cNvPr id="56" name="Text 54"/>
          <p:cNvSpPr/>
          <p:nvPr/>
        </p:nvSpPr>
        <p:spPr>
          <a:xfrm>
            <a:off x="7406640" y="4727448"/>
            <a:ext cx="1188720" cy="256032"/>
          </a:xfrm>
          <a:prstGeom prst="rect">
            <a:avLst/>
          </a:prstGeom>
          <a:noFill/>
          <a:ln/>
        </p:spPr>
        <p:txBody>
          <a:bodyPr wrap="square" lIns="0" tIns="0" rIns="0" bIns="0" rtlCol="0" anchor="ctr"/>
          <a:lstStyle/>
          <a:p>
            <a:pPr algn="ctr" indent="0" marL="0">
              <a:buNone/>
            </a:pPr>
            <a:r>
              <a:rPr lang="en-US" sz="1000" dirty="0">
                <a:solidFill>
                  <a:srgbClr val="333333"/>
                </a:solidFill>
                <a:latin typeface="Arial" pitchFamily="34" charset="0"/>
                <a:ea typeface="Arial" pitchFamily="34" charset="-122"/>
                <a:cs typeface="Arial" pitchFamily="34" charset="-120"/>
              </a:rPr>
              <a:t>+14.6%</a:t>
            </a:r>
            <a:endParaRPr lang="en-US" sz="1000" dirty="0"/>
          </a:p>
        </p:txBody>
      </p:sp>
      <p:sp>
        <p:nvSpPr>
          <p:cNvPr id="57" name="Shape 55"/>
          <p:cNvSpPr/>
          <p:nvPr/>
        </p:nvSpPr>
        <p:spPr>
          <a:xfrm>
            <a:off x="8503920" y="4663440"/>
            <a:ext cx="365760" cy="365760"/>
          </a:xfrm>
          <a:prstGeom prst="ellipse">
            <a:avLst/>
          </a:prstGeom>
          <a:solidFill>
            <a:srgbClr val="E53935"/>
          </a:solidFill>
          <a:ln/>
        </p:spPr>
      </p:sp>
      <p:sp>
        <p:nvSpPr>
          <p:cNvPr id="58" name="Text 56"/>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WAREHOUSE IMPACT</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92% Reduction Story</a:t>
            </a:r>
            <a:endParaRPr lang="en-US" sz="3000" dirty="0"/>
          </a:p>
        </p:txBody>
      </p:sp>
      <p:sp>
        <p:nvSpPr>
          <p:cNvPr id="5" name="Shape 3"/>
          <p:cNvSpPr/>
          <p:nvPr/>
        </p:nvSpPr>
        <p:spPr>
          <a:xfrm>
            <a:off x="731520" y="1371600"/>
            <a:ext cx="1371600" cy="1371600"/>
          </a:xfrm>
          <a:prstGeom prst="ellipse">
            <a:avLst/>
          </a:prstGeom>
          <a:solidFill>
            <a:srgbClr val="E53935">
              <a:alpha val="90000"/>
            </a:srgbClr>
          </a:solidFill>
          <a:ln/>
        </p:spPr>
      </p:sp>
      <p:sp>
        <p:nvSpPr>
          <p:cNvPr id="6" name="Text 4"/>
          <p:cNvSpPr/>
          <p:nvPr/>
        </p:nvSpPr>
        <p:spPr>
          <a:xfrm>
            <a:off x="731520" y="1463040"/>
            <a:ext cx="1371600" cy="914400"/>
          </a:xfrm>
          <a:prstGeom prst="rect">
            <a:avLst/>
          </a:prstGeom>
          <a:noFill/>
          <a:ln/>
        </p:spPr>
        <p:txBody>
          <a:bodyPr wrap="square" lIns="0" tIns="0" rIns="0" bIns="0" rtlCol="0" anchor="ctr"/>
          <a:lstStyle/>
          <a:p>
            <a:pPr algn="ctr" indent="0" marL="0">
              <a:buNone/>
            </a:pPr>
            <a:r>
              <a:rPr lang="en-US" sz="4800" b="1" dirty="0">
                <a:solidFill>
                  <a:srgbClr val="E53935"/>
                </a:solidFill>
                <a:latin typeface="Arial" pitchFamily="34" charset="0"/>
                <a:ea typeface="Arial" pitchFamily="34" charset="-122"/>
                <a:cs typeface="Arial" pitchFamily="34" charset="-120"/>
              </a:rPr>
              <a:t>92%</a:t>
            </a:r>
            <a:endParaRPr lang="en-US" sz="4800" dirty="0"/>
          </a:p>
        </p:txBody>
      </p:sp>
      <p:sp>
        <p:nvSpPr>
          <p:cNvPr id="7" name="Text 5"/>
          <p:cNvSpPr/>
          <p:nvPr/>
        </p:nvSpPr>
        <p:spPr>
          <a:xfrm>
            <a:off x="457200" y="2286000"/>
            <a:ext cx="1920240" cy="548640"/>
          </a:xfrm>
          <a:prstGeom prst="rect">
            <a:avLst/>
          </a:prstGeom>
          <a:noFill/>
          <a:ln/>
        </p:spPr>
        <p:txBody>
          <a:bodyPr wrap="square" lIns="0" tIns="0" rIns="0" bIns="0" rtlCol="0" anchor="ctr"/>
          <a:lstStyle/>
          <a:p>
            <a:pPr algn="ctr" indent="0" marL="0">
              <a:buNone/>
            </a:pPr>
            <a:r>
              <a:rPr lang="en-US" sz="1200" dirty="0">
                <a:solidFill>
                  <a:srgbClr val="555555"/>
                </a:solidFill>
                <a:latin typeface="Arial" pitchFamily="34" charset="0"/>
                <a:ea typeface="Arial" pitchFamily="34" charset="-122"/>
                <a:cs typeface="Arial" pitchFamily="34" charset="-120"/>
              </a:rPr>
              <a:t>Reduction in</a:t>
            </a:r>
            <a:endParaRPr lang="en-US" sz="1200" dirty="0"/>
          </a:p>
          <a:p>
            <a:pPr algn="ctr" indent="0" marL="0">
              <a:buNone/>
            </a:pPr>
            <a:r>
              <a:rPr lang="en-US" sz="1200" dirty="0">
                <a:solidFill>
                  <a:srgbClr val="555555"/>
                </a:solidFill>
                <a:latin typeface="Arial" pitchFamily="34" charset="0"/>
                <a:ea typeface="Arial" pitchFamily="34" charset="-122"/>
                <a:cs typeface="Arial" pitchFamily="34" charset="-120"/>
              </a:rPr>
              <a:t>Warehouse Damage</a:t>
            </a:r>
            <a:endParaRPr lang="en-US" sz="1200" dirty="0"/>
          </a:p>
        </p:txBody>
      </p:sp>
      <p:sp>
        <p:nvSpPr>
          <p:cNvPr id="8" name="Text 6"/>
          <p:cNvSpPr/>
          <p:nvPr/>
        </p:nvSpPr>
        <p:spPr>
          <a:xfrm>
            <a:off x="2926080" y="1371600"/>
            <a:ext cx="4572000" cy="274320"/>
          </a:xfrm>
          <a:prstGeom prst="rect">
            <a:avLst/>
          </a:prstGeom>
          <a:noFill/>
          <a:ln/>
        </p:spPr>
        <p:txBody>
          <a:bodyPr wrap="square" lIns="0" tIns="0" rIns="0" bIns="0" rtlCol="0" anchor="ctr"/>
          <a:lstStyle/>
          <a:p>
            <a:pPr indent="0" marL="0">
              <a:buNone/>
            </a:pPr>
            <a:r>
              <a:rPr lang="en-US" sz="1000" b="1" spc="200" kern="0" dirty="0">
                <a:solidFill>
                  <a:srgbClr val="E53935"/>
                </a:solidFill>
                <a:latin typeface="Arial" pitchFamily="34" charset="0"/>
                <a:ea typeface="Arial" pitchFamily="34" charset="-122"/>
                <a:cs typeface="Arial" pitchFamily="34" charset="-120"/>
              </a:rPr>
              <a:t>WEEKLY WAREHOUSE DAMAGE (ETB)</a:t>
            </a:r>
            <a:endParaRPr lang="en-US" sz="1000" dirty="0"/>
          </a:p>
        </p:txBody>
      </p:sp>
      <p:sp>
        <p:nvSpPr>
          <p:cNvPr id="9" name="Shape 7"/>
          <p:cNvSpPr/>
          <p:nvPr/>
        </p:nvSpPr>
        <p:spPr>
          <a:xfrm>
            <a:off x="3200400" y="1234440"/>
            <a:ext cx="822960" cy="1828800"/>
          </a:xfrm>
          <a:prstGeom prst="rect">
            <a:avLst>
              <a:gd name="adj" fmla="val 5556"/>
            </a:avLst>
          </a:prstGeom>
          <a:solidFill>
            <a:srgbClr val="FF8A8A"/>
          </a:solidFill>
          <a:ln/>
        </p:spPr>
      </p:sp>
      <p:sp>
        <p:nvSpPr>
          <p:cNvPr id="10" name="Text 8"/>
          <p:cNvSpPr/>
          <p:nvPr/>
        </p:nvSpPr>
        <p:spPr>
          <a:xfrm>
            <a:off x="3200400" y="1078992"/>
            <a:ext cx="8229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83,142</a:t>
            </a:r>
            <a:endParaRPr lang="en-US" sz="1000" dirty="0"/>
          </a:p>
        </p:txBody>
      </p:sp>
      <p:sp>
        <p:nvSpPr>
          <p:cNvPr id="11" name="Text 9"/>
          <p:cNvSpPr/>
          <p:nvPr/>
        </p:nvSpPr>
        <p:spPr>
          <a:xfrm>
            <a:off x="3200400" y="3108960"/>
            <a:ext cx="8229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W1</a:t>
            </a:r>
            <a:endParaRPr lang="en-US" sz="900" dirty="0"/>
          </a:p>
        </p:txBody>
      </p:sp>
      <p:sp>
        <p:nvSpPr>
          <p:cNvPr id="12" name="Shape 10"/>
          <p:cNvSpPr/>
          <p:nvPr/>
        </p:nvSpPr>
        <p:spPr>
          <a:xfrm>
            <a:off x="4343400" y="2312007"/>
            <a:ext cx="822960" cy="751233"/>
          </a:xfrm>
          <a:prstGeom prst="rect">
            <a:avLst>
              <a:gd name="adj" fmla="val 6086"/>
            </a:avLst>
          </a:prstGeom>
          <a:solidFill>
            <a:srgbClr val="FF8A8A"/>
          </a:solidFill>
          <a:ln/>
        </p:spPr>
      </p:sp>
      <p:sp>
        <p:nvSpPr>
          <p:cNvPr id="13" name="Text 11"/>
          <p:cNvSpPr/>
          <p:nvPr/>
        </p:nvSpPr>
        <p:spPr>
          <a:xfrm>
            <a:off x="4343400" y="2156559"/>
            <a:ext cx="8229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34,153</a:t>
            </a:r>
            <a:endParaRPr lang="en-US" sz="1000" dirty="0"/>
          </a:p>
        </p:txBody>
      </p:sp>
      <p:sp>
        <p:nvSpPr>
          <p:cNvPr id="14" name="Text 12"/>
          <p:cNvSpPr/>
          <p:nvPr/>
        </p:nvSpPr>
        <p:spPr>
          <a:xfrm>
            <a:off x="4343400" y="3108960"/>
            <a:ext cx="8229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W2</a:t>
            </a:r>
            <a:endParaRPr lang="en-US" sz="900" dirty="0"/>
          </a:p>
        </p:txBody>
      </p:sp>
      <p:sp>
        <p:nvSpPr>
          <p:cNvPr id="15" name="Shape 13"/>
          <p:cNvSpPr/>
          <p:nvPr/>
        </p:nvSpPr>
        <p:spPr>
          <a:xfrm>
            <a:off x="5486400" y="2642587"/>
            <a:ext cx="822960" cy="420653"/>
          </a:xfrm>
          <a:prstGeom prst="rect">
            <a:avLst>
              <a:gd name="adj" fmla="val 10869"/>
            </a:avLst>
          </a:prstGeom>
          <a:solidFill>
            <a:srgbClr val="FF8A8A"/>
          </a:solidFill>
          <a:ln/>
        </p:spPr>
      </p:sp>
      <p:sp>
        <p:nvSpPr>
          <p:cNvPr id="16" name="Text 14"/>
          <p:cNvSpPr/>
          <p:nvPr/>
        </p:nvSpPr>
        <p:spPr>
          <a:xfrm>
            <a:off x="5486400" y="2487139"/>
            <a:ext cx="8229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19,124</a:t>
            </a:r>
            <a:endParaRPr lang="en-US" sz="1000" dirty="0"/>
          </a:p>
        </p:txBody>
      </p:sp>
      <p:sp>
        <p:nvSpPr>
          <p:cNvPr id="17" name="Text 15"/>
          <p:cNvSpPr/>
          <p:nvPr/>
        </p:nvSpPr>
        <p:spPr>
          <a:xfrm>
            <a:off x="5486400" y="3108960"/>
            <a:ext cx="8229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W3</a:t>
            </a:r>
            <a:endParaRPr lang="en-US" sz="900" dirty="0"/>
          </a:p>
        </p:txBody>
      </p:sp>
      <p:sp>
        <p:nvSpPr>
          <p:cNvPr id="18" name="Shape 16"/>
          <p:cNvSpPr/>
          <p:nvPr/>
        </p:nvSpPr>
        <p:spPr>
          <a:xfrm>
            <a:off x="6629400" y="2386310"/>
            <a:ext cx="822960" cy="676930"/>
          </a:xfrm>
          <a:prstGeom prst="rect">
            <a:avLst>
              <a:gd name="adj" fmla="val 6754"/>
            </a:avLst>
          </a:prstGeom>
          <a:solidFill>
            <a:srgbClr val="FF8A8A"/>
          </a:solidFill>
          <a:ln/>
        </p:spPr>
      </p:sp>
      <p:sp>
        <p:nvSpPr>
          <p:cNvPr id="19" name="Text 17"/>
          <p:cNvSpPr/>
          <p:nvPr/>
        </p:nvSpPr>
        <p:spPr>
          <a:xfrm>
            <a:off x="6629400" y="2230862"/>
            <a:ext cx="8229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30,775</a:t>
            </a:r>
            <a:endParaRPr lang="en-US" sz="1000" dirty="0"/>
          </a:p>
        </p:txBody>
      </p:sp>
      <p:sp>
        <p:nvSpPr>
          <p:cNvPr id="20" name="Text 18"/>
          <p:cNvSpPr/>
          <p:nvPr/>
        </p:nvSpPr>
        <p:spPr>
          <a:xfrm>
            <a:off x="6629400" y="3108960"/>
            <a:ext cx="8229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W5</a:t>
            </a:r>
            <a:endParaRPr lang="en-US" sz="900" dirty="0"/>
          </a:p>
        </p:txBody>
      </p:sp>
      <p:sp>
        <p:nvSpPr>
          <p:cNvPr id="21" name="Shape 19"/>
          <p:cNvSpPr/>
          <p:nvPr/>
        </p:nvSpPr>
        <p:spPr>
          <a:xfrm>
            <a:off x="7772400" y="2835778"/>
            <a:ext cx="822960" cy="227462"/>
          </a:xfrm>
          <a:prstGeom prst="rect">
            <a:avLst>
              <a:gd name="adj" fmla="val 20100"/>
            </a:avLst>
          </a:prstGeom>
          <a:solidFill>
            <a:srgbClr val="E53935"/>
          </a:solidFill>
          <a:ln/>
        </p:spPr>
      </p:sp>
      <p:sp>
        <p:nvSpPr>
          <p:cNvPr id="22" name="Text 20"/>
          <p:cNvSpPr/>
          <p:nvPr/>
        </p:nvSpPr>
        <p:spPr>
          <a:xfrm>
            <a:off x="7772400" y="2680330"/>
            <a:ext cx="8229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10,341</a:t>
            </a:r>
            <a:endParaRPr lang="en-US" sz="1000" dirty="0"/>
          </a:p>
        </p:txBody>
      </p:sp>
      <p:sp>
        <p:nvSpPr>
          <p:cNvPr id="23" name="Text 21"/>
          <p:cNvSpPr/>
          <p:nvPr/>
        </p:nvSpPr>
        <p:spPr>
          <a:xfrm>
            <a:off x="7772400" y="3108960"/>
            <a:ext cx="8229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W6</a:t>
            </a:r>
            <a:endParaRPr lang="en-US" sz="900" dirty="0"/>
          </a:p>
        </p:txBody>
      </p:sp>
      <p:sp>
        <p:nvSpPr>
          <p:cNvPr id="24" name="Shape 22"/>
          <p:cNvSpPr/>
          <p:nvPr/>
        </p:nvSpPr>
        <p:spPr>
          <a:xfrm>
            <a:off x="548640" y="3657600"/>
            <a:ext cx="1920240" cy="731520"/>
          </a:xfrm>
          <a:prstGeom prst="roundRect">
            <a:avLst>
              <a:gd name="adj" fmla="val 12500"/>
            </a:avLst>
          </a:prstGeom>
          <a:solidFill>
            <a:srgbClr val="F8F8F8"/>
          </a:solidFill>
          <a:ln/>
        </p:spPr>
      </p:sp>
      <p:sp>
        <p:nvSpPr>
          <p:cNvPr id="25" name="Text 23"/>
          <p:cNvSpPr/>
          <p:nvPr/>
        </p:nvSpPr>
        <p:spPr>
          <a:xfrm>
            <a:off x="548640" y="3703320"/>
            <a:ext cx="1920240" cy="22860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W1 Damage</a:t>
            </a:r>
            <a:endParaRPr lang="en-US" sz="900" dirty="0"/>
          </a:p>
        </p:txBody>
      </p:sp>
      <p:sp>
        <p:nvSpPr>
          <p:cNvPr id="26" name="Text 24"/>
          <p:cNvSpPr/>
          <p:nvPr/>
        </p:nvSpPr>
        <p:spPr>
          <a:xfrm>
            <a:off x="548640" y="3931920"/>
            <a:ext cx="1920240" cy="365760"/>
          </a:xfrm>
          <a:prstGeom prst="rect">
            <a:avLst/>
          </a:prstGeom>
          <a:noFill/>
          <a:ln/>
        </p:spPr>
        <p:txBody>
          <a:bodyPr wrap="square" lIns="0" tIns="0" rIns="0" bIns="0" rtlCol="0" anchor="ctr"/>
          <a:lstStyle/>
          <a:p>
            <a:pPr algn="ctr" indent="0" marL="0">
              <a:buNone/>
            </a:pPr>
            <a:r>
              <a:rPr lang="en-US" sz="1600" b="1" dirty="0">
                <a:solidFill>
                  <a:srgbClr val="999999"/>
                </a:solidFill>
                <a:latin typeface="Arial" pitchFamily="34" charset="0"/>
                <a:ea typeface="Arial" pitchFamily="34" charset="-122"/>
                <a:cs typeface="Arial" pitchFamily="34" charset="-120"/>
              </a:rPr>
              <a:t>83,142 ETB</a:t>
            </a:r>
            <a:endParaRPr lang="en-US" sz="1600" dirty="0"/>
          </a:p>
        </p:txBody>
      </p:sp>
      <p:sp>
        <p:nvSpPr>
          <p:cNvPr id="27" name="Shape 25"/>
          <p:cNvSpPr/>
          <p:nvPr/>
        </p:nvSpPr>
        <p:spPr>
          <a:xfrm>
            <a:off x="2697480" y="3657600"/>
            <a:ext cx="1920240" cy="731520"/>
          </a:xfrm>
          <a:prstGeom prst="roundRect">
            <a:avLst>
              <a:gd name="adj" fmla="val 12500"/>
            </a:avLst>
          </a:prstGeom>
          <a:solidFill>
            <a:srgbClr val="F8F8F8"/>
          </a:solidFill>
          <a:ln/>
        </p:spPr>
      </p:sp>
      <p:sp>
        <p:nvSpPr>
          <p:cNvPr id="28" name="Text 26"/>
          <p:cNvSpPr/>
          <p:nvPr/>
        </p:nvSpPr>
        <p:spPr>
          <a:xfrm>
            <a:off x="2697480" y="3703320"/>
            <a:ext cx="1920240" cy="22860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W6 Damage</a:t>
            </a:r>
            <a:endParaRPr lang="en-US" sz="900" dirty="0"/>
          </a:p>
        </p:txBody>
      </p:sp>
      <p:sp>
        <p:nvSpPr>
          <p:cNvPr id="29" name="Text 27"/>
          <p:cNvSpPr/>
          <p:nvPr/>
        </p:nvSpPr>
        <p:spPr>
          <a:xfrm>
            <a:off x="2697480" y="3931920"/>
            <a:ext cx="1920240" cy="36576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10,341 ETB</a:t>
            </a:r>
            <a:endParaRPr lang="en-US" sz="1600" dirty="0"/>
          </a:p>
        </p:txBody>
      </p:sp>
      <p:sp>
        <p:nvSpPr>
          <p:cNvPr id="30" name="Shape 28"/>
          <p:cNvSpPr/>
          <p:nvPr/>
        </p:nvSpPr>
        <p:spPr>
          <a:xfrm>
            <a:off x="4846320" y="3657600"/>
            <a:ext cx="1920240" cy="731520"/>
          </a:xfrm>
          <a:prstGeom prst="roundRect">
            <a:avLst>
              <a:gd name="adj" fmla="val 12500"/>
            </a:avLst>
          </a:prstGeom>
          <a:solidFill>
            <a:srgbClr val="F8F8F8"/>
          </a:solidFill>
          <a:ln/>
        </p:spPr>
      </p:sp>
      <p:sp>
        <p:nvSpPr>
          <p:cNvPr id="31" name="Text 29"/>
          <p:cNvSpPr/>
          <p:nvPr/>
        </p:nvSpPr>
        <p:spPr>
          <a:xfrm>
            <a:off x="4846320" y="3703320"/>
            <a:ext cx="1920240" cy="22860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Weekly Savings</a:t>
            </a:r>
            <a:endParaRPr lang="en-US" sz="900" dirty="0"/>
          </a:p>
        </p:txBody>
      </p:sp>
      <p:sp>
        <p:nvSpPr>
          <p:cNvPr id="32" name="Text 30"/>
          <p:cNvSpPr/>
          <p:nvPr/>
        </p:nvSpPr>
        <p:spPr>
          <a:xfrm>
            <a:off x="4846320" y="3931920"/>
            <a:ext cx="1920240" cy="36576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~72,800 ETB</a:t>
            </a:r>
            <a:endParaRPr lang="en-US" sz="1600" dirty="0"/>
          </a:p>
        </p:txBody>
      </p:sp>
      <p:sp>
        <p:nvSpPr>
          <p:cNvPr id="33" name="Shape 31"/>
          <p:cNvSpPr/>
          <p:nvPr/>
        </p:nvSpPr>
        <p:spPr>
          <a:xfrm>
            <a:off x="6995160" y="3657600"/>
            <a:ext cx="1920240" cy="731520"/>
          </a:xfrm>
          <a:prstGeom prst="roundRect">
            <a:avLst>
              <a:gd name="adj" fmla="val 12500"/>
            </a:avLst>
          </a:prstGeom>
          <a:solidFill>
            <a:srgbClr val="F8F8F8"/>
          </a:solidFill>
          <a:ln/>
        </p:spPr>
      </p:sp>
      <p:sp>
        <p:nvSpPr>
          <p:cNvPr id="34" name="Text 32"/>
          <p:cNvSpPr/>
          <p:nvPr/>
        </p:nvSpPr>
        <p:spPr>
          <a:xfrm>
            <a:off x="6995160" y="3703320"/>
            <a:ext cx="1920240" cy="22860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Arrival Damage</a:t>
            </a:r>
            <a:endParaRPr lang="en-US" sz="900" dirty="0"/>
          </a:p>
        </p:txBody>
      </p:sp>
      <p:sp>
        <p:nvSpPr>
          <p:cNvPr id="35" name="Text 33"/>
          <p:cNvSpPr/>
          <p:nvPr/>
        </p:nvSpPr>
        <p:spPr>
          <a:xfrm>
            <a:off x="6995160" y="3931920"/>
            <a:ext cx="1920240" cy="36576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0.67% ↓</a:t>
            </a:r>
            <a:endParaRPr lang="en-US" sz="1600" dirty="0"/>
          </a:p>
        </p:txBody>
      </p:sp>
      <p:sp>
        <p:nvSpPr>
          <p:cNvPr id="36" name="Shape 34"/>
          <p:cNvSpPr/>
          <p:nvPr/>
        </p:nvSpPr>
        <p:spPr>
          <a:xfrm>
            <a:off x="548640" y="4480560"/>
            <a:ext cx="8229600" cy="411480"/>
          </a:xfrm>
          <a:prstGeom prst="roundRect">
            <a:avLst>
              <a:gd name="adj" fmla="val 17778"/>
            </a:avLst>
          </a:prstGeom>
          <a:solidFill>
            <a:srgbClr val="F0FFF4"/>
          </a:solidFill>
          <a:ln/>
        </p:spPr>
      </p:sp>
      <p:sp>
        <p:nvSpPr>
          <p:cNvPr id="37" name="Text 35"/>
          <p:cNvSpPr/>
          <p:nvPr/>
        </p:nvSpPr>
        <p:spPr>
          <a:xfrm>
            <a:off x="548640" y="4480560"/>
            <a:ext cx="8229600" cy="411480"/>
          </a:xfrm>
          <a:prstGeom prst="rect">
            <a:avLst/>
          </a:prstGeom>
          <a:noFill/>
          <a:ln/>
        </p:spPr>
        <p:txBody>
          <a:bodyPr wrap="square" lIns="0" tIns="0" rIns="0" bIns="0" rtlCol="0" anchor="ctr"/>
          <a:lstStyle/>
          <a:p>
            <a:pPr algn="ctr" indent="0" marL="0">
              <a:buNone/>
            </a:pPr>
            <a:r>
              <a:rPr lang="en-US" sz="1100" dirty="0">
                <a:solidFill>
                  <a:srgbClr val="E53935"/>
                </a:solidFill>
                <a:latin typeface="Arial" pitchFamily="34" charset="0"/>
                <a:ea typeface="Arial" pitchFamily="34" charset="-122"/>
                <a:cs typeface="Arial" pitchFamily="34" charset="-120"/>
              </a:rPr>
              <a:t>✅ Direct-ship model (Supplier → DC/Customer) validates the asset-light strategy. Warehouse bypassed dramatically.</a:t>
            </a:r>
            <a:endParaRPr lang="en-US" sz="1100" dirty="0"/>
          </a:p>
        </p:txBody>
      </p:sp>
      <p:sp>
        <p:nvSpPr>
          <p:cNvPr id="38" name="Shape 36"/>
          <p:cNvSpPr/>
          <p:nvPr/>
        </p:nvSpPr>
        <p:spPr>
          <a:xfrm>
            <a:off x="8503920" y="4663440"/>
            <a:ext cx="365760" cy="365760"/>
          </a:xfrm>
          <a:prstGeom prst="ellipse">
            <a:avLst/>
          </a:prstGeom>
          <a:solidFill>
            <a:srgbClr val="E53935"/>
          </a:solidFill>
          <a:ln/>
        </p:spPr>
      </p:sp>
      <p:sp>
        <p:nvSpPr>
          <p:cNvPr id="39" name="Text 3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CHANNEL BREAKDOWN</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B2B vs SGL vs D2C — February 2026</a:t>
            </a:r>
            <a:endParaRPr lang="en-US" sz="3000" dirty="0"/>
          </a:p>
        </p:txBody>
      </p:sp>
      <p:sp>
        <p:nvSpPr>
          <p:cNvPr id="5" name="Shape 3"/>
          <p:cNvSpPr/>
          <p:nvPr/>
        </p:nvSpPr>
        <p:spPr>
          <a:xfrm>
            <a:off x="548640" y="1280160"/>
            <a:ext cx="2606040" cy="2286000"/>
          </a:xfrm>
          <a:prstGeom prst="roundRect">
            <a:avLst>
              <a:gd name="adj" fmla="val 4800"/>
            </a:avLst>
          </a:prstGeom>
          <a:solidFill>
            <a:srgbClr val="F8F8F8"/>
          </a:solidFill>
          <a:ln/>
        </p:spPr>
      </p:sp>
      <p:sp>
        <p:nvSpPr>
          <p:cNvPr id="6" name="Text 4"/>
          <p:cNvSpPr/>
          <p:nvPr/>
        </p:nvSpPr>
        <p:spPr>
          <a:xfrm>
            <a:off x="685800" y="1371600"/>
            <a:ext cx="233172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Direct B2C</a:t>
            </a:r>
            <a:endParaRPr lang="en-US" sz="1600" dirty="0"/>
          </a:p>
        </p:txBody>
      </p:sp>
      <p:sp>
        <p:nvSpPr>
          <p:cNvPr id="7" name="Text 5"/>
          <p:cNvSpPr/>
          <p:nvPr/>
        </p:nvSpPr>
        <p:spPr>
          <a:xfrm>
            <a:off x="548640" y="1920240"/>
            <a:ext cx="82296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Orders</a:t>
            </a:r>
            <a:endParaRPr lang="en-US" sz="1000" dirty="0"/>
          </a:p>
        </p:txBody>
      </p:sp>
      <p:sp>
        <p:nvSpPr>
          <p:cNvPr id="8" name="Text 6"/>
          <p:cNvSpPr/>
          <p:nvPr/>
        </p:nvSpPr>
        <p:spPr>
          <a:xfrm>
            <a:off x="548640" y="2011680"/>
            <a:ext cx="8229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86%</a:t>
            </a:r>
            <a:endParaRPr lang="en-US" sz="2200" dirty="0"/>
          </a:p>
        </p:txBody>
      </p:sp>
      <p:sp>
        <p:nvSpPr>
          <p:cNvPr id="9" name="Text 7"/>
          <p:cNvSpPr/>
          <p:nvPr/>
        </p:nvSpPr>
        <p:spPr>
          <a:xfrm>
            <a:off x="1417320" y="1920240"/>
            <a:ext cx="86868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Volume</a:t>
            </a:r>
            <a:endParaRPr lang="en-US" sz="1000" dirty="0"/>
          </a:p>
        </p:txBody>
      </p:sp>
      <p:sp>
        <p:nvSpPr>
          <p:cNvPr id="10" name="Text 8"/>
          <p:cNvSpPr/>
          <p:nvPr/>
        </p:nvSpPr>
        <p:spPr>
          <a:xfrm>
            <a:off x="1417320" y="2011680"/>
            <a:ext cx="86868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71%</a:t>
            </a:r>
            <a:endParaRPr lang="en-US" sz="2200" dirty="0"/>
          </a:p>
        </p:txBody>
      </p:sp>
      <p:sp>
        <p:nvSpPr>
          <p:cNvPr id="11" name="Text 9"/>
          <p:cNvSpPr/>
          <p:nvPr/>
        </p:nvSpPr>
        <p:spPr>
          <a:xfrm>
            <a:off x="2286000" y="1920240"/>
            <a:ext cx="73152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Revenue</a:t>
            </a:r>
            <a:endParaRPr lang="en-US" sz="1000" dirty="0"/>
          </a:p>
        </p:txBody>
      </p:sp>
      <p:sp>
        <p:nvSpPr>
          <p:cNvPr id="12" name="Text 10"/>
          <p:cNvSpPr/>
          <p:nvPr/>
        </p:nvSpPr>
        <p:spPr>
          <a:xfrm>
            <a:off x="2286000" y="2011680"/>
            <a:ext cx="73152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72%</a:t>
            </a:r>
            <a:endParaRPr lang="en-US" sz="2200" dirty="0"/>
          </a:p>
        </p:txBody>
      </p:sp>
      <p:sp>
        <p:nvSpPr>
          <p:cNvPr id="13" name="Text 11"/>
          <p:cNvSpPr/>
          <p:nvPr/>
        </p:nvSpPr>
        <p:spPr>
          <a:xfrm>
            <a:off x="685800" y="2743200"/>
            <a:ext cx="2331720" cy="457200"/>
          </a:xfrm>
          <a:prstGeom prst="rect">
            <a:avLst/>
          </a:prstGeom>
          <a:noFill/>
          <a:ln/>
        </p:spPr>
        <p:txBody>
          <a:bodyPr wrap="square" lIns="0" tIns="0" rIns="0" bIns="0" rtlCol="0" anchor="ctr"/>
          <a:lstStyle/>
          <a:p>
            <a:pPr algn="ctr" indent="0" marL="0">
              <a:buNone/>
            </a:pPr>
            <a:r>
              <a:rPr lang="en-US" sz="1100" i="1" dirty="0">
                <a:solidFill>
                  <a:srgbClr val="555555"/>
                </a:solidFill>
                <a:latin typeface="Arial" pitchFamily="34" charset="0"/>
                <a:ea typeface="Arial" pitchFamily="34" charset="-122"/>
                <a:cs typeface="Arial" pitchFamily="34" charset="-120"/>
              </a:rPr>
              <a:t>High volume, low margin individual orders</a:t>
            </a:r>
            <a:endParaRPr lang="en-US" sz="1100" dirty="0"/>
          </a:p>
        </p:txBody>
      </p:sp>
      <p:sp>
        <p:nvSpPr>
          <p:cNvPr id="14" name="Shape 12"/>
          <p:cNvSpPr/>
          <p:nvPr/>
        </p:nvSpPr>
        <p:spPr>
          <a:xfrm>
            <a:off x="1371600" y="3246120"/>
            <a:ext cx="914400" cy="274320"/>
          </a:xfrm>
          <a:prstGeom prst="roundRect">
            <a:avLst>
              <a:gd name="adj" fmla="val 50000"/>
            </a:avLst>
          </a:prstGeom>
          <a:solidFill>
            <a:srgbClr val="FF8A8A"/>
          </a:solidFill>
          <a:ln/>
        </p:spPr>
      </p:sp>
      <p:sp>
        <p:nvSpPr>
          <p:cNvPr id="15" name="Text 13"/>
          <p:cNvSpPr/>
          <p:nvPr/>
        </p:nvSpPr>
        <p:spPr>
          <a:xfrm>
            <a:off x="1371600" y="324612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Down</a:t>
            </a:r>
            <a:endParaRPr lang="en-US" sz="1100" dirty="0"/>
          </a:p>
        </p:txBody>
      </p:sp>
      <p:sp>
        <p:nvSpPr>
          <p:cNvPr id="16" name="Shape 14"/>
          <p:cNvSpPr/>
          <p:nvPr/>
        </p:nvSpPr>
        <p:spPr>
          <a:xfrm>
            <a:off x="3383280" y="1280160"/>
            <a:ext cx="2606040" cy="2286000"/>
          </a:xfrm>
          <a:prstGeom prst="roundRect">
            <a:avLst>
              <a:gd name="adj" fmla="val 4800"/>
            </a:avLst>
          </a:prstGeom>
          <a:solidFill>
            <a:srgbClr val="FFF5F5"/>
          </a:solidFill>
          <a:ln/>
        </p:spPr>
      </p:sp>
      <p:sp>
        <p:nvSpPr>
          <p:cNvPr id="17" name="Shape 15"/>
          <p:cNvSpPr/>
          <p:nvPr/>
        </p:nvSpPr>
        <p:spPr>
          <a:xfrm>
            <a:off x="3383280" y="1280160"/>
            <a:ext cx="2606040" cy="54864"/>
          </a:xfrm>
          <a:prstGeom prst="rect">
            <a:avLst/>
          </a:prstGeom>
          <a:solidFill>
            <a:srgbClr val="E53935"/>
          </a:solidFill>
          <a:ln/>
        </p:spPr>
      </p:sp>
      <p:sp>
        <p:nvSpPr>
          <p:cNvPr id="18" name="Text 16"/>
          <p:cNvSpPr/>
          <p:nvPr/>
        </p:nvSpPr>
        <p:spPr>
          <a:xfrm>
            <a:off x="3520440" y="1371600"/>
            <a:ext cx="233172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Super Groups (SGL)</a:t>
            </a:r>
            <a:endParaRPr lang="en-US" sz="1600" dirty="0"/>
          </a:p>
        </p:txBody>
      </p:sp>
      <p:sp>
        <p:nvSpPr>
          <p:cNvPr id="19" name="Text 17"/>
          <p:cNvSpPr/>
          <p:nvPr/>
        </p:nvSpPr>
        <p:spPr>
          <a:xfrm>
            <a:off x="3383280" y="1920240"/>
            <a:ext cx="82296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Orders</a:t>
            </a:r>
            <a:endParaRPr lang="en-US" sz="1000" dirty="0"/>
          </a:p>
        </p:txBody>
      </p:sp>
      <p:sp>
        <p:nvSpPr>
          <p:cNvPr id="20" name="Text 18"/>
          <p:cNvSpPr/>
          <p:nvPr/>
        </p:nvSpPr>
        <p:spPr>
          <a:xfrm>
            <a:off x="3383280" y="2011680"/>
            <a:ext cx="822960" cy="457200"/>
          </a:xfrm>
          <a:prstGeom prst="rect">
            <a:avLst/>
          </a:prstGeom>
          <a:noFill/>
          <a:ln/>
        </p:spPr>
        <p:txBody>
          <a:bodyPr wrap="square" lIns="0" tIns="0" rIns="0" bIns="0" rtlCol="0" anchor="ctr"/>
          <a:lstStyle/>
          <a:p>
            <a:pPr algn="ctr" indent="0" marL="0">
              <a:buNone/>
            </a:pPr>
            <a:r>
              <a:rPr lang="en-US" sz="2200" b="1" dirty="0">
                <a:solidFill>
                  <a:srgbClr val="E53935"/>
                </a:solidFill>
                <a:latin typeface="Arial" pitchFamily="34" charset="0"/>
                <a:ea typeface="Arial" pitchFamily="34" charset="-122"/>
                <a:cs typeface="Arial" pitchFamily="34" charset="-120"/>
              </a:rPr>
              <a:t>14%</a:t>
            </a:r>
            <a:endParaRPr lang="en-US" sz="2200" dirty="0"/>
          </a:p>
        </p:txBody>
      </p:sp>
      <p:sp>
        <p:nvSpPr>
          <p:cNvPr id="21" name="Text 19"/>
          <p:cNvSpPr/>
          <p:nvPr/>
        </p:nvSpPr>
        <p:spPr>
          <a:xfrm>
            <a:off x="4251960" y="1920240"/>
            <a:ext cx="86868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Volume</a:t>
            </a:r>
            <a:endParaRPr lang="en-US" sz="1000" dirty="0"/>
          </a:p>
        </p:txBody>
      </p:sp>
      <p:sp>
        <p:nvSpPr>
          <p:cNvPr id="22" name="Text 20"/>
          <p:cNvSpPr/>
          <p:nvPr/>
        </p:nvSpPr>
        <p:spPr>
          <a:xfrm>
            <a:off x="4251960" y="2011680"/>
            <a:ext cx="86868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16%</a:t>
            </a:r>
            <a:endParaRPr lang="en-US" sz="2200" dirty="0"/>
          </a:p>
        </p:txBody>
      </p:sp>
      <p:sp>
        <p:nvSpPr>
          <p:cNvPr id="23" name="Text 21"/>
          <p:cNvSpPr/>
          <p:nvPr/>
        </p:nvSpPr>
        <p:spPr>
          <a:xfrm>
            <a:off x="5120640" y="1920240"/>
            <a:ext cx="73152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Revenue</a:t>
            </a:r>
            <a:endParaRPr lang="en-US" sz="1000" dirty="0"/>
          </a:p>
        </p:txBody>
      </p:sp>
      <p:sp>
        <p:nvSpPr>
          <p:cNvPr id="24" name="Text 22"/>
          <p:cNvSpPr/>
          <p:nvPr/>
        </p:nvSpPr>
        <p:spPr>
          <a:xfrm>
            <a:off x="5120640" y="2011680"/>
            <a:ext cx="73152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12%</a:t>
            </a:r>
            <a:endParaRPr lang="en-US" sz="2200" dirty="0"/>
          </a:p>
        </p:txBody>
      </p:sp>
      <p:sp>
        <p:nvSpPr>
          <p:cNvPr id="25" name="Text 23"/>
          <p:cNvSpPr/>
          <p:nvPr/>
        </p:nvSpPr>
        <p:spPr>
          <a:xfrm>
            <a:off x="3520440" y="2743200"/>
            <a:ext cx="2331720" cy="457200"/>
          </a:xfrm>
          <a:prstGeom prst="rect">
            <a:avLst/>
          </a:prstGeom>
          <a:noFill/>
          <a:ln/>
        </p:spPr>
        <p:txBody>
          <a:bodyPr wrap="square" lIns="0" tIns="0" rIns="0" bIns="0" rtlCol="0" anchor="ctr"/>
          <a:lstStyle/>
          <a:p>
            <a:pPr algn="ctr" indent="0" marL="0">
              <a:buNone/>
            </a:pPr>
            <a:r>
              <a:rPr lang="en-US" sz="1100" i="1" dirty="0">
                <a:solidFill>
                  <a:srgbClr val="555555"/>
                </a:solidFill>
                <a:latin typeface="Arial" pitchFamily="34" charset="0"/>
                <a:ea typeface="Arial" pitchFamily="34" charset="-122"/>
                <a:cs typeface="Arial" pitchFamily="34" charset="-120"/>
              </a:rPr>
              <a:t>Aggregated neighborhood demand via leaders</a:t>
            </a:r>
            <a:endParaRPr lang="en-US" sz="1100" dirty="0"/>
          </a:p>
        </p:txBody>
      </p:sp>
      <p:sp>
        <p:nvSpPr>
          <p:cNvPr id="26" name="Shape 24"/>
          <p:cNvSpPr/>
          <p:nvPr/>
        </p:nvSpPr>
        <p:spPr>
          <a:xfrm>
            <a:off x="4206240" y="3246120"/>
            <a:ext cx="914400" cy="274320"/>
          </a:xfrm>
          <a:prstGeom prst="roundRect">
            <a:avLst>
              <a:gd name="adj" fmla="val 50000"/>
            </a:avLst>
          </a:prstGeom>
          <a:solidFill>
            <a:srgbClr val="E53935"/>
          </a:solidFill>
          <a:ln/>
        </p:spPr>
      </p:sp>
      <p:sp>
        <p:nvSpPr>
          <p:cNvPr id="27" name="Text 25"/>
          <p:cNvSpPr/>
          <p:nvPr/>
        </p:nvSpPr>
        <p:spPr>
          <a:xfrm>
            <a:off x="4206240" y="324612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Up 389%</a:t>
            </a:r>
            <a:endParaRPr lang="en-US" sz="1100" dirty="0"/>
          </a:p>
        </p:txBody>
      </p:sp>
      <p:sp>
        <p:nvSpPr>
          <p:cNvPr id="28" name="Shape 26"/>
          <p:cNvSpPr/>
          <p:nvPr/>
        </p:nvSpPr>
        <p:spPr>
          <a:xfrm>
            <a:off x="6217920" y="1280160"/>
            <a:ext cx="2606040" cy="2286000"/>
          </a:xfrm>
          <a:prstGeom prst="roundRect">
            <a:avLst>
              <a:gd name="adj" fmla="val 4800"/>
            </a:avLst>
          </a:prstGeom>
          <a:solidFill>
            <a:srgbClr val="F8F8F8"/>
          </a:solidFill>
          <a:ln/>
        </p:spPr>
      </p:sp>
      <p:sp>
        <p:nvSpPr>
          <p:cNvPr id="29" name="Text 27"/>
          <p:cNvSpPr/>
          <p:nvPr/>
        </p:nvSpPr>
        <p:spPr>
          <a:xfrm>
            <a:off x="6355080" y="1371600"/>
            <a:ext cx="2331720" cy="36576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B2B (HORECA)</a:t>
            </a:r>
            <a:endParaRPr lang="en-US" sz="1600" dirty="0"/>
          </a:p>
        </p:txBody>
      </p:sp>
      <p:sp>
        <p:nvSpPr>
          <p:cNvPr id="30" name="Text 28"/>
          <p:cNvSpPr/>
          <p:nvPr/>
        </p:nvSpPr>
        <p:spPr>
          <a:xfrm>
            <a:off x="6217920" y="1920240"/>
            <a:ext cx="82296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Orders</a:t>
            </a:r>
            <a:endParaRPr lang="en-US" sz="1000" dirty="0"/>
          </a:p>
        </p:txBody>
      </p:sp>
      <p:sp>
        <p:nvSpPr>
          <p:cNvPr id="31" name="Text 29"/>
          <p:cNvSpPr/>
          <p:nvPr/>
        </p:nvSpPr>
        <p:spPr>
          <a:xfrm>
            <a:off x="6217920" y="2011680"/>
            <a:ext cx="822960" cy="457200"/>
          </a:xfrm>
          <a:prstGeom prst="rect">
            <a:avLst/>
          </a:prstGeom>
          <a:noFill/>
          <a:ln/>
        </p:spPr>
        <p:txBody>
          <a:bodyPr wrap="square" lIns="0" tIns="0" rIns="0" bIns="0" rtlCol="0" anchor="ctr"/>
          <a:lstStyle/>
          <a:p>
            <a:pPr algn="ctr" indent="0" marL="0">
              <a:buNone/>
            </a:pPr>
            <a:r>
              <a:rPr lang="en-US" sz="2200" b="1" dirty="0">
                <a:solidFill>
                  <a:srgbClr val="E53935"/>
                </a:solidFill>
                <a:latin typeface="Arial" pitchFamily="34" charset="0"/>
                <a:ea typeface="Arial" pitchFamily="34" charset="-122"/>
                <a:cs typeface="Arial" pitchFamily="34" charset="-120"/>
              </a:rPr>
              <a:t>&lt;1%</a:t>
            </a:r>
            <a:endParaRPr lang="en-US" sz="2200" dirty="0"/>
          </a:p>
        </p:txBody>
      </p:sp>
      <p:sp>
        <p:nvSpPr>
          <p:cNvPr id="32" name="Text 30"/>
          <p:cNvSpPr/>
          <p:nvPr/>
        </p:nvSpPr>
        <p:spPr>
          <a:xfrm>
            <a:off x="7086600" y="1920240"/>
            <a:ext cx="86868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Volume</a:t>
            </a:r>
            <a:endParaRPr lang="en-US" sz="1000" dirty="0"/>
          </a:p>
        </p:txBody>
      </p:sp>
      <p:sp>
        <p:nvSpPr>
          <p:cNvPr id="33" name="Text 31"/>
          <p:cNvSpPr/>
          <p:nvPr/>
        </p:nvSpPr>
        <p:spPr>
          <a:xfrm>
            <a:off x="7086600" y="2011680"/>
            <a:ext cx="86868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11%</a:t>
            </a:r>
            <a:endParaRPr lang="en-US" sz="2200" dirty="0"/>
          </a:p>
        </p:txBody>
      </p:sp>
      <p:sp>
        <p:nvSpPr>
          <p:cNvPr id="34" name="Text 32"/>
          <p:cNvSpPr/>
          <p:nvPr/>
        </p:nvSpPr>
        <p:spPr>
          <a:xfrm>
            <a:off x="7955280" y="1920240"/>
            <a:ext cx="731520" cy="73152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Revenue</a:t>
            </a:r>
            <a:endParaRPr lang="en-US" sz="1000" dirty="0"/>
          </a:p>
        </p:txBody>
      </p:sp>
      <p:sp>
        <p:nvSpPr>
          <p:cNvPr id="35" name="Text 33"/>
          <p:cNvSpPr/>
          <p:nvPr/>
        </p:nvSpPr>
        <p:spPr>
          <a:xfrm>
            <a:off x="7955280" y="2011680"/>
            <a:ext cx="731520" cy="457200"/>
          </a:xfrm>
          <a:prstGeom prst="rect">
            <a:avLst/>
          </a:prstGeom>
          <a:noFill/>
          <a:ln/>
        </p:spPr>
        <p:txBody>
          <a:bodyPr wrap="square" lIns="0" tIns="0" rIns="0" bIns="0" rtlCol="0" anchor="ctr"/>
          <a:lstStyle/>
          <a:p>
            <a:pPr algn="ctr" indent="0" marL="0">
              <a:buNone/>
            </a:pPr>
            <a:r>
              <a:rPr lang="en-US" sz="2200" b="1" dirty="0">
                <a:solidFill>
                  <a:srgbClr val="E53935"/>
                </a:solidFill>
                <a:latin typeface="Arial" pitchFamily="34" charset="0"/>
                <a:ea typeface="Arial" pitchFamily="34" charset="-122"/>
                <a:cs typeface="Arial" pitchFamily="34" charset="-120"/>
              </a:rPr>
              <a:t>16%</a:t>
            </a:r>
            <a:endParaRPr lang="en-US" sz="2200" dirty="0"/>
          </a:p>
        </p:txBody>
      </p:sp>
      <p:sp>
        <p:nvSpPr>
          <p:cNvPr id="36" name="Text 34"/>
          <p:cNvSpPr/>
          <p:nvPr/>
        </p:nvSpPr>
        <p:spPr>
          <a:xfrm>
            <a:off x="6355080" y="2743200"/>
            <a:ext cx="2331720" cy="457200"/>
          </a:xfrm>
          <a:prstGeom prst="rect">
            <a:avLst/>
          </a:prstGeom>
          <a:noFill/>
          <a:ln/>
        </p:spPr>
        <p:txBody>
          <a:bodyPr wrap="square" lIns="0" tIns="0" rIns="0" bIns="0" rtlCol="0" anchor="ctr"/>
          <a:lstStyle/>
          <a:p>
            <a:pPr algn="ctr" indent="0" marL="0">
              <a:buNone/>
            </a:pPr>
            <a:r>
              <a:rPr lang="en-US" sz="1100" i="1" dirty="0">
                <a:solidFill>
                  <a:srgbClr val="555555"/>
                </a:solidFill>
                <a:latin typeface="Arial" pitchFamily="34" charset="0"/>
                <a:ea typeface="Arial" pitchFamily="34" charset="-122"/>
                <a:cs typeface="Arial" pitchFamily="34" charset="-120"/>
              </a:rPr>
              <a:t>Restaurant &amp; hotel supply contracts</a:t>
            </a:r>
            <a:endParaRPr lang="en-US" sz="1100" dirty="0"/>
          </a:p>
        </p:txBody>
      </p:sp>
      <p:sp>
        <p:nvSpPr>
          <p:cNvPr id="37" name="Shape 35"/>
          <p:cNvSpPr/>
          <p:nvPr/>
        </p:nvSpPr>
        <p:spPr>
          <a:xfrm>
            <a:off x="7040880" y="3246120"/>
            <a:ext cx="914400" cy="274320"/>
          </a:xfrm>
          <a:prstGeom prst="roundRect">
            <a:avLst>
              <a:gd name="adj" fmla="val 50000"/>
            </a:avLst>
          </a:prstGeom>
          <a:solidFill>
            <a:srgbClr val="E53935"/>
          </a:solidFill>
          <a:ln/>
        </p:spPr>
      </p:sp>
      <p:sp>
        <p:nvSpPr>
          <p:cNvPr id="38" name="Text 36"/>
          <p:cNvSpPr/>
          <p:nvPr/>
        </p:nvSpPr>
        <p:spPr>
          <a:xfrm>
            <a:off x="7040880" y="324612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Recovering</a:t>
            </a:r>
            <a:endParaRPr lang="en-US" sz="1100" dirty="0"/>
          </a:p>
        </p:txBody>
      </p:sp>
      <p:sp>
        <p:nvSpPr>
          <p:cNvPr id="39" name="Shape 37"/>
          <p:cNvSpPr/>
          <p:nvPr/>
        </p:nvSpPr>
        <p:spPr>
          <a:xfrm>
            <a:off x="548640" y="3794760"/>
            <a:ext cx="8229600" cy="1097280"/>
          </a:xfrm>
          <a:prstGeom prst="roundRect">
            <a:avLst>
              <a:gd name="adj" fmla="val 10000"/>
            </a:avLst>
          </a:prstGeom>
          <a:solidFill>
            <a:srgbClr val="FFF5F5"/>
          </a:solidFill>
          <a:ln/>
        </p:spPr>
      </p:sp>
      <p:sp>
        <p:nvSpPr>
          <p:cNvPr id="40" name="Text 38"/>
          <p:cNvSpPr/>
          <p:nvPr/>
        </p:nvSpPr>
        <p:spPr>
          <a:xfrm>
            <a:off x="548640" y="3794760"/>
            <a:ext cx="8229600" cy="274320"/>
          </a:xfrm>
          <a:prstGeom prst="rect">
            <a:avLst/>
          </a:prstGeom>
          <a:noFill/>
          <a:ln/>
        </p:spPr>
        <p:txBody>
          <a:bodyPr wrap="square" lIns="0" tIns="0" rIns="0" bIns="0" rtlCol="0" anchor="ctr"/>
          <a:lstStyle/>
          <a:p>
            <a:pPr algn="ctr" indent="0" marL="0">
              <a:buNone/>
            </a:pPr>
            <a:r>
              <a:rPr lang="en-US" sz="1000" b="1" spc="300" kern="0" dirty="0">
                <a:solidFill>
                  <a:srgbClr val="E53935"/>
                </a:solidFill>
                <a:latin typeface="Arial" pitchFamily="34" charset="0"/>
                <a:ea typeface="Arial" pitchFamily="34" charset="-122"/>
                <a:cs typeface="Arial" pitchFamily="34" charset="-120"/>
              </a:rPr>
              <a:t>THE MARGIN STORY IN ONE NUMBER</a:t>
            </a:r>
            <a:endParaRPr lang="en-US" sz="1000" dirty="0"/>
          </a:p>
        </p:txBody>
      </p:sp>
      <p:sp>
        <p:nvSpPr>
          <p:cNvPr id="41" name="Text 39"/>
          <p:cNvSpPr/>
          <p:nvPr/>
        </p:nvSpPr>
        <p:spPr>
          <a:xfrm>
            <a:off x="548640" y="4114800"/>
            <a:ext cx="8229600" cy="32004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A single B2B order (~100kg, ~5,000 ETB) equals ~60 individual B2C orders.</a:t>
            </a:r>
            <a:endParaRPr lang="en-US" sz="1600" dirty="0"/>
          </a:p>
        </p:txBody>
      </p:sp>
      <p:sp>
        <p:nvSpPr>
          <p:cNvPr id="42" name="Text 40"/>
          <p:cNvSpPr/>
          <p:nvPr/>
        </p:nvSpPr>
        <p:spPr>
          <a:xfrm>
            <a:off x="548640" y="4434840"/>
            <a:ext cx="8229600" cy="274320"/>
          </a:xfrm>
          <a:prstGeom prst="rect">
            <a:avLst/>
          </a:prstGeom>
          <a:noFill/>
          <a:ln/>
        </p:spPr>
        <p:txBody>
          <a:bodyPr wrap="square" lIns="0" tIns="0" rIns="0" bIns="0" rtlCol="0" anchor="ctr"/>
          <a:lstStyle/>
          <a:p>
            <a:pPr algn="ctr" indent="0" marL="0">
              <a:buNone/>
            </a:pPr>
            <a:r>
              <a:rPr lang="en-US" sz="1200" dirty="0">
                <a:solidFill>
                  <a:srgbClr val="E53935"/>
                </a:solidFill>
                <a:latin typeface="Arial" pitchFamily="34" charset="0"/>
                <a:ea typeface="Arial" pitchFamily="34" charset="-122"/>
                <a:cs typeface="Arial" pitchFamily="34" charset="-120"/>
              </a:rPr>
              <a:t>B2B generates 16% of revenue from &lt;1% of orders. This is the path to profitability.</a:t>
            </a:r>
            <a:endParaRPr lang="en-US" sz="1200" dirty="0"/>
          </a:p>
        </p:txBody>
      </p:sp>
      <p:sp>
        <p:nvSpPr>
          <p:cNvPr id="43" name="Shape 41"/>
          <p:cNvSpPr/>
          <p:nvPr/>
        </p:nvSpPr>
        <p:spPr>
          <a:xfrm>
            <a:off x="8503920" y="4663440"/>
            <a:ext cx="365760" cy="365760"/>
          </a:xfrm>
          <a:prstGeom prst="ellipse">
            <a:avLst/>
          </a:prstGeom>
          <a:solidFill>
            <a:srgbClr val="E53935"/>
          </a:solidFill>
          <a:ln/>
        </p:spPr>
      </p:sp>
      <p:sp>
        <p:nvSpPr>
          <p:cNvPr id="44" name="Text 42"/>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SGL AGGREGATOR GROWTH</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Smart Souk Leader Expansion — Week 1 to Week 6</a:t>
            </a:r>
            <a:endParaRPr lang="en-US" sz="2800" dirty="0"/>
          </a:p>
        </p:txBody>
      </p:sp>
      <p:sp>
        <p:nvSpPr>
          <p:cNvPr id="5" name="Shape 3"/>
          <p:cNvSpPr/>
          <p:nvPr/>
        </p:nvSpPr>
        <p:spPr>
          <a:xfrm>
            <a:off x="548640" y="1371600"/>
            <a:ext cx="1828800" cy="1828800"/>
          </a:xfrm>
          <a:prstGeom prst="ellipse">
            <a:avLst/>
          </a:prstGeom>
          <a:solidFill>
            <a:srgbClr val="E53935"/>
          </a:solidFill>
          <a:ln/>
        </p:spPr>
      </p:sp>
      <p:sp>
        <p:nvSpPr>
          <p:cNvPr id="6" name="Text 4"/>
          <p:cNvSpPr/>
          <p:nvPr/>
        </p:nvSpPr>
        <p:spPr>
          <a:xfrm>
            <a:off x="548640" y="1554480"/>
            <a:ext cx="182880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+389%</a:t>
            </a:r>
            <a:endParaRPr lang="en-US" sz="3600" dirty="0"/>
          </a:p>
        </p:txBody>
      </p:sp>
      <p:sp>
        <p:nvSpPr>
          <p:cNvPr id="7" name="Text 5"/>
          <p:cNvSpPr/>
          <p:nvPr/>
        </p:nvSpPr>
        <p:spPr>
          <a:xfrm>
            <a:off x="548640" y="2468880"/>
            <a:ext cx="1828800" cy="457200"/>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SGL Sales Growth</a:t>
            </a:r>
            <a:endParaRPr lang="en-US" sz="1200" dirty="0"/>
          </a:p>
        </p:txBody>
      </p:sp>
      <p:sp>
        <p:nvSpPr>
          <p:cNvPr id="8" name="Text 6"/>
          <p:cNvSpPr/>
          <p:nvPr/>
        </p:nvSpPr>
        <p:spPr>
          <a:xfrm>
            <a:off x="2926080" y="1371600"/>
            <a:ext cx="5029200" cy="274320"/>
          </a:xfrm>
          <a:prstGeom prst="rect">
            <a:avLst/>
          </a:prstGeom>
          <a:noFill/>
          <a:ln/>
        </p:spPr>
        <p:txBody>
          <a:bodyPr wrap="square" lIns="0" tIns="0" rIns="0" bIns="0" rtlCol="0" anchor="ctr"/>
          <a:lstStyle/>
          <a:p>
            <a:pPr indent="0" marL="0">
              <a:buNone/>
            </a:pPr>
            <a:r>
              <a:rPr lang="en-US" sz="1000" b="1" spc="200" kern="0" dirty="0">
                <a:solidFill>
                  <a:srgbClr val="888888"/>
                </a:solidFill>
                <a:latin typeface="Arial" pitchFamily="34" charset="0"/>
                <a:ea typeface="Arial" pitchFamily="34" charset="-122"/>
                <a:cs typeface="Arial" pitchFamily="34" charset="-120"/>
              </a:rPr>
              <a:t>SGL CHANNEL SALES (ETB)</a:t>
            </a:r>
            <a:endParaRPr lang="en-US" sz="1000" dirty="0"/>
          </a:p>
        </p:txBody>
      </p:sp>
      <p:sp>
        <p:nvSpPr>
          <p:cNvPr id="9" name="Text 7"/>
          <p:cNvSpPr/>
          <p:nvPr/>
        </p:nvSpPr>
        <p:spPr>
          <a:xfrm>
            <a:off x="2926080" y="1691640"/>
            <a:ext cx="45720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W1</a:t>
            </a:r>
            <a:endParaRPr lang="en-US" sz="1200" dirty="0"/>
          </a:p>
        </p:txBody>
      </p:sp>
      <p:sp>
        <p:nvSpPr>
          <p:cNvPr id="10" name="Shape 8"/>
          <p:cNvSpPr/>
          <p:nvPr/>
        </p:nvSpPr>
        <p:spPr>
          <a:xfrm>
            <a:off x="3474720" y="1691640"/>
            <a:ext cx="5029200" cy="320040"/>
          </a:xfrm>
          <a:prstGeom prst="roundRect">
            <a:avLst>
              <a:gd name="adj" fmla="val 48571"/>
            </a:avLst>
          </a:prstGeom>
          <a:solidFill>
            <a:srgbClr val="F0F0F0"/>
          </a:solidFill>
          <a:ln/>
        </p:spPr>
      </p:sp>
      <p:sp>
        <p:nvSpPr>
          <p:cNvPr id="11" name="Shape 9"/>
          <p:cNvSpPr/>
          <p:nvPr/>
        </p:nvSpPr>
        <p:spPr>
          <a:xfrm>
            <a:off x="3474720" y="1691640"/>
            <a:ext cx="481341" cy="320040"/>
          </a:xfrm>
          <a:prstGeom prst="roundRect">
            <a:avLst>
              <a:gd name="adj" fmla="val 48571"/>
            </a:avLst>
          </a:prstGeom>
          <a:solidFill>
            <a:srgbClr val="FFB3B3"/>
          </a:solidFill>
          <a:ln/>
        </p:spPr>
      </p:sp>
      <p:sp>
        <p:nvSpPr>
          <p:cNvPr id="12" name="Text 10"/>
          <p:cNvSpPr/>
          <p:nvPr/>
        </p:nvSpPr>
        <p:spPr>
          <a:xfrm>
            <a:off x="4047501" y="1691640"/>
            <a:ext cx="109728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1,989</a:t>
            </a:r>
            <a:endParaRPr lang="en-US" sz="1200" dirty="0"/>
          </a:p>
        </p:txBody>
      </p:sp>
      <p:sp>
        <p:nvSpPr>
          <p:cNvPr id="13" name="Text 11"/>
          <p:cNvSpPr/>
          <p:nvPr/>
        </p:nvSpPr>
        <p:spPr>
          <a:xfrm>
            <a:off x="2926080" y="2286000"/>
            <a:ext cx="45720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W2</a:t>
            </a:r>
            <a:endParaRPr lang="en-US" sz="1200" dirty="0"/>
          </a:p>
        </p:txBody>
      </p:sp>
      <p:sp>
        <p:nvSpPr>
          <p:cNvPr id="14" name="Shape 12"/>
          <p:cNvSpPr/>
          <p:nvPr/>
        </p:nvSpPr>
        <p:spPr>
          <a:xfrm>
            <a:off x="3474720" y="2286000"/>
            <a:ext cx="5029200" cy="320040"/>
          </a:xfrm>
          <a:prstGeom prst="roundRect">
            <a:avLst>
              <a:gd name="adj" fmla="val 48571"/>
            </a:avLst>
          </a:prstGeom>
          <a:solidFill>
            <a:srgbClr val="F0F0F0"/>
          </a:solidFill>
          <a:ln/>
        </p:spPr>
      </p:sp>
      <p:sp>
        <p:nvSpPr>
          <p:cNvPr id="15" name="Shape 13"/>
          <p:cNvSpPr/>
          <p:nvPr/>
        </p:nvSpPr>
        <p:spPr>
          <a:xfrm>
            <a:off x="3474720" y="2286000"/>
            <a:ext cx="731570" cy="320040"/>
          </a:xfrm>
          <a:prstGeom prst="roundRect">
            <a:avLst>
              <a:gd name="adj" fmla="val 48571"/>
            </a:avLst>
          </a:prstGeom>
          <a:solidFill>
            <a:srgbClr val="FF9E9E"/>
          </a:solidFill>
          <a:ln/>
        </p:spPr>
      </p:sp>
      <p:sp>
        <p:nvSpPr>
          <p:cNvPr id="16" name="Text 14"/>
          <p:cNvSpPr/>
          <p:nvPr/>
        </p:nvSpPr>
        <p:spPr>
          <a:xfrm>
            <a:off x="4297730" y="2286000"/>
            <a:ext cx="109728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3,023</a:t>
            </a:r>
            <a:endParaRPr lang="en-US" sz="1200" dirty="0"/>
          </a:p>
        </p:txBody>
      </p:sp>
      <p:sp>
        <p:nvSpPr>
          <p:cNvPr id="17" name="Text 15"/>
          <p:cNvSpPr/>
          <p:nvPr/>
        </p:nvSpPr>
        <p:spPr>
          <a:xfrm>
            <a:off x="2926080" y="2880360"/>
            <a:ext cx="45720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W3</a:t>
            </a:r>
            <a:endParaRPr lang="en-US" sz="1200" dirty="0"/>
          </a:p>
        </p:txBody>
      </p:sp>
      <p:sp>
        <p:nvSpPr>
          <p:cNvPr id="18" name="Shape 16"/>
          <p:cNvSpPr/>
          <p:nvPr/>
        </p:nvSpPr>
        <p:spPr>
          <a:xfrm>
            <a:off x="3474720" y="2880360"/>
            <a:ext cx="5029200" cy="320040"/>
          </a:xfrm>
          <a:prstGeom prst="roundRect">
            <a:avLst>
              <a:gd name="adj" fmla="val 48571"/>
            </a:avLst>
          </a:prstGeom>
          <a:solidFill>
            <a:srgbClr val="F0F0F0"/>
          </a:solidFill>
          <a:ln/>
        </p:spPr>
      </p:sp>
      <p:sp>
        <p:nvSpPr>
          <p:cNvPr id="19" name="Shape 17"/>
          <p:cNvSpPr/>
          <p:nvPr/>
        </p:nvSpPr>
        <p:spPr>
          <a:xfrm>
            <a:off x="3474720" y="2880360"/>
            <a:ext cx="907021" cy="320040"/>
          </a:xfrm>
          <a:prstGeom prst="roundRect">
            <a:avLst>
              <a:gd name="adj" fmla="val 48571"/>
            </a:avLst>
          </a:prstGeom>
          <a:solidFill>
            <a:srgbClr val="FF8A8A"/>
          </a:solidFill>
          <a:ln/>
        </p:spPr>
      </p:sp>
      <p:sp>
        <p:nvSpPr>
          <p:cNvPr id="20" name="Text 18"/>
          <p:cNvSpPr/>
          <p:nvPr/>
        </p:nvSpPr>
        <p:spPr>
          <a:xfrm>
            <a:off x="4473181" y="2880360"/>
            <a:ext cx="109728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3,748</a:t>
            </a:r>
            <a:endParaRPr lang="en-US" sz="1200" dirty="0"/>
          </a:p>
        </p:txBody>
      </p:sp>
      <p:sp>
        <p:nvSpPr>
          <p:cNvPr id="21" name="Text 19"/>
          <p:cNvSpPr/>
          <p:nvPr/>
        </p:nvSpPr>
        <p:spPr>
          <a:xfrm>
            <a:off x="2926080" y="3474720"/>
            <a:ext cx="45720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W5</a:t>
            </a:r>
            <a:endParaRPr lang="en-US" sz="1200" dirty="0"/>
          </a:p>
        </p:txBody>
      </p:sp>
      <p:sp>
        <p:nvSpPr>
          <p:cNvPr id="22" name="Shape 20"/>
          <p:cNvSpPr/>
          <p:nvPr/>
        </p:nvSpPr>
        <p:spPr>
          <a:xfrm>
            <a:off x="3474720" y="3474720"/>
            <a:ext cx="5029200" cy="320040"/>
          </a:xfrm>
          <a:prstGeom prst="roundRect">
            <a:avLst>
              <a:gd name="adj" fmla="val 48571"/>
            </a:avLst>
          </a:prstGeom>
          <a:solidFill>
            <a:srgbClr val="F0F0F0"/>
          </a:solidFill>
          <a:ln/>
        </p:spPr>
      </p:sp>
      <p:sp>
        <p:nvSpPr>
          <p:cNvPr id="23" name="Shape 21"/>
          <p:cNvSpPr/>
          <p:nvPr/>
        </p:nvSpPr>
        <p:spPr>
          <a:xfrm>
            <a:off x="3474720" y="3474720"/>
            <a:ext cx="2360966" cy="320040"/>
          </a:xfrm>
          <a:prstGeom prst="roundRect">
            <a:avLst>
              <a:gd name="adj" fmla="val 48571"/>
            </a:avLst>
          </a:prstGeom>
          <a:solidFill>
            <a:srgbClr val="E53935"/>
          </a:solidFill>
          <a:ln/>
        </p:spPr>
      </p:sp>
      <p:sp>
        <p:nvSpPr>
          <p:cNvPr id="24" name="Text 22"/>
          <p:cNvSpPr/>
          <p:nvPr/>
        </p:nvSpPr>
        <p:spPr>
          <a:xfrm>
            <a:off x="5927126" y="3474720"/>
            <a:ext cx="109728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9,756</a:t>
            </a:r>
            <a:endParaRPr lang="en-US" sz="1200" dirty="0"/>
          </a:p>
        </p:txBody>
      </p:sp>
      <p:sp>
        <p:nvSpPr>
          <p:cNvPr id="25" name="Text 23"/>
          <p:cNvSpPr/>
          <p:nvPr/>
        </p:nvSpPr>
        <p:spPr>
          <a:xfrm>
            <a:off x="7024406" y="3474720"/>
            <a:ext cx="1828800" cy="320040"/>
          </a:xfrm>
          <a:prstGeom prst="rect">
            <a:avLst/>
          </a:prstGeom>
          <a:noFill/>
          <a:ln/>
        </p:spPr>
        <p:txBody>
          <a:bodyPr wrap="square" lIns="0" tIns="0" rIns="0" bIns="0" rtlCol="0" anchor="ctr"/>
          <a:lstStyle/>
          <a:p>
            <a:pPr indent="0" marL="0">
              <a:buNone/>
            </a:pPr>
            <a:r>
              <a:rPr lang="en-US" sz="900" dirty="0">
                <a:solidFill>
                  <a:srgbClr val="E53935"/>
                </a:solidFill>
                <a:latin typeface="Arial" pitchFamily="34" charset="0"/>
                <a:ea typeface="Arial" pitchFamily="34" charset="-122"/>
                <a:cs typeface="Arial" pitchFamily="34" charset="-120"/>
              </a:rPr>
              <a:t>8,344 target ✅</a:t>
            </a:r>
            <a:endParaRPr lang="en-US" sz="900" dirty="0"/>
          </a:p>
        </p:txBody>
      </p:sp>
      <p:sp>
        <p:nvSpPr>
          <p:cNvPr id="26" name="Text 24"/>
          <p:cNvSpPr/>
          <p:nvPr/>
        </p:nvSpPr>
        <p:spPr>
          <a:xfrm>
            <a:off x="2926080" y="4069080"/>
            <a:ext cx="45720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W6</a:t>
            </a:r>
            <a:endParaRPr lang="en-US" sz="1200" dirty="0"/>
          </a:p>
        </p:txBody>
      </p:sp>
      <p:sp>
        <p:nvSpPr>
          <p:cNvPr id="27" name="Shape 25"/>
          <p:cNvSpPr/>
          <p:nvPr/>
        </p:nvSpPr>
        <p:spPr>
          <a:xfrm>
            <a:off x="3474720" y="4069080"/>
            <a:ext cx="5029200" cy="320040"/>
          </a:xfrm>
          <a:prstGeom prst="roundRect">
            <a:avLst>
              <a:gd name="adj" fmla="val 48571"/>
            </a:avLst>
          </a:prstGeom>
          <a:solidFill>
            <a:srgbClr val="F0F0F0"/>
          </a:solidFill>
          <a:ln/>
        </p:spPr>
      </p:sp>
      <p:sp>
        <p:nvSpPr>
          <p:cNvPr id="28" name="Shape 26"/>
          <p:cNvSpPr/>
          <p:nvPr/>
        </p:nvSpPr>
        <p:spPr>
          <a:xfrm>
            <a:off x="3474720" y="4069080"/>
            <a:ext cx="2354916" cy="320040"/>
          </a:xfrm>
          <a:prstGeom prst="roundRect">
            <a:avLst>
              <a:gd name="adj" fmla="val 48571"/>
            </a:avLst>
          </a:prstGeom>
          <a:solidFill>
            <a:srgbClr val="E53935"/>
          </a:solidFill>
          <a:ln/>
        </p:spPr>
      </p:sp>
      <p:sp>
        <p:nvSpPr>
          <p:cNvPr id="29" name="Text 27"/>
          <p:cNvSpPr/>
          <p:nvPr/>
        </p:nvSpPr>
        <p:spPr>
          <a:xfrm>
            <a:off x="5921076" y="4069080"/>
            <a:ext cx="109728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9,731</a:t>
            </a:r>
            <a:endParaRPr lang="en-US" sz="1200" dirty="0"/>
          </a:p>
        </p:txBody>
      </p:sp>
      <p:sp>
        <p:nvSpPr>
          <p:cNvPr id="30" name="Text 28"/>
          <p:cNvSpPr/>
          <p:nvPr/>
        </p:nvSpPr>
        <p:spPr>
          <a:xfrm>
            <a:off x="7018356" y="4069080"/>
            <a:ext cx="1828800" cy="320040"/>
          </a:xfrm>
          <a:prstGeom prst="rect">
            <a:avLst/>
          </a:prstGeom>
          <a:noFill/>
          <a:ln/>
        </p:spPr>
        <p:txBody>
          <a:bodyPr wrap="square" lIns="0" tIns="0" rIns="0" bIns="0" rtlCol="0" anchor="ctr"/>
          <a:lstStyle/>
          <a:p>
            <a:pPr indent="0" marL="0">
              <a:buNone/>
            </a:pPr>
            <a:r>
              <a:rPr lang="en-US" sz="900" dirty="0">
                <a:solidFill>
                  <a:srgbClr val="E53935"/>
                </a:solidFill>
                <a:latin typeface="Arial" pitchFamily="34" charset="0"/>
                <a:ea typeface="Arial" pitchFamily="34" charset="-122"/>
                <a:cs typeface="Arial" pitchFamily="34" charset="-120"/>
              </a:rPr>
              <a:t>20,026 target ⚠</a:t>
            </a:r>
            <a:endParaRPr lang="en-US" sz="900" dirty="0"/>
          </a:p>
        </p:txBody>
      </p:sp>
      <p:sp>
        <p:nvSpPr>
          <p:cNvPr id="31" name="Shape 29"/>
          <p:cNvSpPr/>
          <p:nvPr/>
        </p:nvSpPr>
        <p:spPr>
          <a:xfrm>
            <a:off x="548640" y="3794760"/>
            <a:ext cx="8229600" cy="1097280"/>
          </a:xfrm>
          <a:prstGeom prst="roundRect">
            <a:avLst>
              <a:gd name="adj" fmla="val 10000"/>
            </a:avLst>
          </a:prstGeom>
          <a:solidFill>
            <a:srgbClr val="F8F8F8"/>
          </a:solidFill>
          <a:ln/>
        </p:spPr>
      </p:sp>
      <p:sp>
        <p:nvSpPr>
          <p:cNvPr id="32" name="Text 30"/>
          <p:cNvSpPr/>
          <p:nvPr/>
        </p:nvSpPr>
        <p:spPr>
          <a:xfrm>
            <a:off x="731520" y="3794760"/>
            <a:ext cx="82296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SGL CONTEXT</a:t>
            </a:r>
            <a:endParaRPr lang="en-US" sz="1000" dirty="0"/>
          </a:p>
        </p:txBody>
      </p:sp>
      <p:sp>
        <p:nvSpPr>
          <p:cNvPr id="33" name="Shape 31"/>
          <p:cNvSpPr/>
          <p:nvPr/>
        </p:nvSpPr>
        <p:spPr>
          <a:xfrm>
            <a:off x="731520" y="4114800"/>
            <a:ext cx="91440" cy="91440"/>
          </a:xfrm>
          <a:prstGeom prst="ellipse">
            <a:avLst/>
          </a:prstGeom>
          <a:solidFill>
            <a:srgbClr val="E53935"/>
          </a:solidFill>
          <a:ln/>
        </p:spPr>
      </p:sp>
      <p:sp>
        <p:nvSpPr>
          <p:cNvPr id="34" name="Text 32"/>
          <p:cNvSpPr/>
          <p:nvPr/>
        </p:nvSpPr>
        <p:spPr>
          <a:xfrm>
            <a:off x="914400" y="4069080"/>
            <a:ext cx="7315200" cy="201168"/>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260+ SGLs in database, ~35 active at any time</a:t>
            </a:r>
            <a:endParaRPr lang="en-US" sz="1100" dirty="0"/>
          </a:p>
        </p:txBody>
      </p:sp>
      <p:sp>
        <p:nvSpPr>
          <p:cNvPr id="35" name="Shape 33"/>
          <p:cNvSpPr/>
          <p:nvPr/>
        </p:nvSpPr>
        <p:spPr>
          <a:xfrm>
            <a:off x="731520" y="4297680"/>
            <a:ext cx="91440" cy="91440"/>
          </a:xfrm>
          <a:prstGeom prst="ellipse">
            <a:avLst/>
          </a:prstGeom>
          <a:solidFill>
            <a:srgbClr val="E53935"/>
          </a:solidFill>
          <a:ln/>
        </p:spPr>
      </p:sp>
      <p:sp>
        <p:nvSpPr>
          <p:cNvPr id="36" name="Text 34"/>
          <p:cNvSpPr/>
          <p:nvPr/>
        </p:nvSpPr>
        <p:spPr>
          <a:xfrm>
            <a:off x="914400" y="4270248"/>
            <a:ext cx="7315200" cy="201168"/>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Each SGL aggregates 10-50 households in their neighborhood</a:t>
            </a:r>
            <a:endParaRPr lang="en-US" sz="1100" dirty="0"/>
          </a:p>
        </p:txBody>
      </p:sp>
      <p:sp>
        <p:nvSpPr>
          <p:cNvPr id="37" name="Shape 35"/>
          <p:cNvSpPr/>
          <p:nvPr/>
        </p:nvSpPr>
        <p:spPr>
          <a:xfrm>
            <a:off x="731520" y="4480560"/>
            <a:ext cx="91440" cy="91440"/>
          </a:xfrm>
          <a:prstGeom prst="ellipse">
            <a:avLst/>
          </a:prstGeom>
          <a:solidFill>
            <a:srgbClr val="E53935"/>
          </a:solidFill>
          <a:ln/>
        </p:spPr>
      </p:sp>
      <p:sp>
        <p:nvSpPr>
          <p:cNvPr id="38" name="Text 36"/>
          <p:cNvSpPr/>
          <p:nvPr/>
        </p:nvSpPr>
        <p:spPr>
          <a:xfrm>
            <a:off x="914400" y="4471416"/>
            <a:ext cx="7315200" cy="201168"/>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W6 SGL sales of 9,731 ETB hit only 49% of 20,026 ETB target</a:t>
            </a:r>
            <a:endParaRPr lang="en-US" sz="1100" dirty="0"/>
          </a:p>
        </p:txBody>
      </p:sp>
      <p:sp>
        <p:nvSpPr>
          <p:cNvPr id="39" name="Shape 37"/>
          <p:cNvSpPr/>
          <p:nvPr/>
        </p:nvSpPr>
        <p:spPr>
          <a:xfrm>
            <a:off x="731520" y="4663440"/>
            <a:ext cx="91440" cy="91440"/>
          </a:xfrm>
          <a:prstGeom prst="ellipse">
            <a:avLst/>
          </a:prstGeom>
          <a:solidFill>
            <a:srgbClr val="E53935"/>
          </a:solidFill>
          <a:ln/>
        </p:spPr>
      </p:sp>
      <p:sp>
        <p:nvSpPr>
          <p:cNvPr id="40" name="Text 38"/>
          <p:cNvSpPr/>
          <p:nvPr/>
        </p:nvSpPr>
        <p:spPr>
          <a:xfrm>
            <a:off x="914400" y="4672584"/>
            <a:ext cx="7315200" cy="201168"/>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Target: Scale to 70+ SGLs by Q2, 100 by Q4 — each generating ~100 orders/month</a:t>
            </a:r>
            <a:endParaRPr lang="en-US" sz="1100" dirty="0"/>
          </a:p>
        </p:txBody>
      </p:sp>
      <p:sp>
        <p:nvSpPr>
          <p:cNvPr id="41" name="Shape 39"/>
          <p:cNvSpPr/>
          <p:nvPr/>
        </p:nvSpPr>
        <p:spPr>
          <a:xfrm>
            <a:off x="8503920" y="4663440"/>
            <a:ext cx="365760" cy="365760"/>
          </a:xfrm>
          <a:prstGeom prst="ellipse">
            <a:avLst/>
          </a:prstGeom>
          <a:solidFill>
            <a:srgbClr val="E53935"/>
          </a:solidFill>
          <a:ln/>
        </p:spPr>
      </p:sp>
      <p:sp>
        <p:nvSpPr>
          <p:cNvPr id="42" name="Text 4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B2B MIGRATION STATUS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HORECA Transition Progress</a:t>
            </a:r>
            <a:endParaRPr lang="en-US" sz="3000" dirty="0"/>
          </a:p>
        </p:txBody>
      </p:sp>
      <p:sp>
        <p:nvSpPr>
          <p:cNvPr id="5" name="Text 3"/>
          <p:cNvSpPr/>
          <p:nvPr/>
        </p:nvSpPr>
        <p:spPr>
          <a:xfrm>
            <a:off x="548640" y="1325880"/>
            <a:ext cx="4572000" cy="274320"/>
          </a:xfrm>
          <a:prstGeom prst="rect">
            <a:avLst/>
          </a:prstGeom>
          <a:noFill/>
          <a:ln/>
        </p:spPr>
        <p:txBody>
          <a:bodyPr wrap="square" lIns="0" tIns="0" rIns="0" bIns="0" rtlCol="0" anchor="ctr"/>
          <a:lstStyle/>
          <a:p>
            <a:pPr indent="0" marL="0">
              <a:buNone/>
            </a:pPr>
            <a:r>
              <a:rPr lang="en-US" sz="1000" b="1" spc="200" kern="0" dirty="0">
                <a:solidFill>
                  <a:srgbClr val="E53935"/>
                </a:solidFill>
                <a:latin typeface="Arial" pitchFamily="34" charset="0"/>
                <a:ea typeface="Arial" pitchFamily="34" charset="-122"/>
                <a:cs typeface="Arial" pitchFamily="34" charset="-120"/>
              </a:rPr>
              <a:t>B2B WEEKLY SALES RECOVERY</a:t>
            </a:r>
            <a:endParaRPr lang="en-US" sz="1000" dirty="0"/>
          </a:p>
        </p:txBody>
      </p:sp>
      <p:sp>
        <p:nvSpPr>
          <p:cNvPr id="6" name="Shape 4"/>
          <p:cNvSpPr/>
          <p:nvPr/>
        </p:nvSpPr>
        <p:spPr>
          <a:xfrm>
            <a:off x="548640" y="1234440"/>
            <a:ext cx="1280160" cy="1645920"/>
          </a:xfrm>
          <a:prstGeom prst="rect">
            <a:avLst>
              <a:gd name="adj" fmla="val 3571"/>
            </a:avLst>
          </a:prstGeom>
          <a:solidFill>
            <a:srgbClr val="E53935"/>
          </a:solidFill>
          <a:ln/>
        </p:spPr>
      </p:sp>
      <p:sp>
        <p:nvSpPr>
          <p:cNvPr id="7" name="Text 5"/>
          <p:cNvSpPr/>
          <p:nvPr/>
        </p:nvSpPr>
        <p:spPr>
          <a:xfrm>
            <a:off x="548640" y="1078992"/>
            <a:ext cx="12801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5,755</a:t>
            </a:r>
            <a:endParaRPr lang="en-US" sz="1000" dirty="0"/>
          </a:p>
        </p:txBody>
      </p:sp>
      <p:sp>
        <p:nvSpPr>
          <p:cNvPr id="8" name="Text 6"/>
          <p:cNvSpPr/>
          <p:nvPr/>
        </p:nvSpPr>
        <p:spPr>
          <a:xfrm>
            <a:off x="548640" y="2926080"/>
            <a:ext cx="12801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W1</a:t>
            </a:r>
            <a:endParaRPr lang="en-US" sz="900" dirty="0"/>
          </a:p>
        </p:txBody>
      </p:sp>
      <p:sp>
        <p:nvSpPr>
          <p:cNvPr id="9" name="Text 7"/>
          <p:cNvSpPr/>
          <p:nvPr/>
        </p:nvSpPr>
        <p:spPr>
          <a:xfrm>
            <a:off x="548640" y="3154680"/>
            <a:ext cx="1280160" cy="228600"/>
          </a:xfrm>
          <a:prstGeom prst="rect">
            <a:avLst/>
          </a:prstGeom>
          <a:noFill/>
          <a:ln/>
        </p:spPr>
        <p:txBody>
          <a:bodyPr wrap="square" lIns="0" tIns="0" rIns="0" bIns="0" rtlCol="0" anchor="ctr"/>
          <a:lstStyle/>
          <a:p>
            <a:pPr algn="ctr" indent="0" marL="0">
              <a:buNone/>
            </a:pPr>
            <a:r>
              <a:rPr lang="en-US" sz="800" i="1" dirty="0">
                <a:solidFill>
                  <a:srgbClr val="666666"/>
                </a:solidFill>
                <a:latin typeface="Arial" pitchFamily="34" charset="0"/>
                <a:ea typeface="Arial" pitchFamily="34" charset="-122"/>
                <a:cs typeface="Arial" pitchFamily="34" charset="-120"/>
              </a:rPr>
              <a:t>Pre-migration</a:t>
            </a:r>
            <a:endParaRPr lang="en-US" sz="800" dirty="0"/>
          </a:p>
        </p:txBody>
      </p:sp>
      <p:sp>
        <p:nvSpPr>
          <p:cNvPr id="10" name="Text 8"/>
          <p:cNvSpPr/>
          <p:nvPr/>
        </p:nvSpPr>
        <p:spPr>
          <a:xfrm>
            <a:off x="2240280" y="2651760"/>
            <a:ext cx="12801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ZERO</a:t>
            </a:r>
            <a:endParaRPr lang="en-US" sz="1000" dirty="0"/>
          </a:p>
        </p:txBody>
      </p:sp>
      <p:sp>
        <p:nvSpPr>
          <p:cNvPr id="11" name="Text 9"/>
          <p:cNvSpPr/>
          <p:nvPr/>
        </p:nvSpPr>
        <p:spPr>
          <a:xfrm>
            <a:off x="2240280" y="2926080"/>
            <a:ext cx="12801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W2</a:t>
            </a:r>
            <a:endParaRPr lang="en-US" sz="900" dirty="0"/>
          </a:p>
        </p:txBody>
      </p:sp>
      <p:sp>
        <p:nvSpPr>
          <p:cNvPr id="12" name="Text 10"/>
          <p:cNvSpPr/>
          <p:nvPr/>
        </p:nvSpPr>
        <p:spPr>
          <a:xfrm>
            <a:off x="2240280" y="3154680"/>
            <a:ext cx="1280160" cy="228600"/>
          </a:xfrm>
          <a:prstGeom prst="rect">
            <a:avLst/>
          </a:prstGeom>
          <a:noFill/>
          <a:ln/>
        </p:spPr>
        <p:txBody>
          <a:bodyPr wrap="square" lIns="0" tIns="0" rIns="0" bIns="0" rtlCol="0" anchor="ctr"/>
          <a:lstStyle/>
          <a:p>
            <a:pPr algn="ctr" indent="0" marL="0">
              <a:buNone/>
            </a:pPr>
            <a:r>
              <a:rPr lang="en-US" sz="800" i="1" dirty="0">
                <a:solidFill>
                  <a:srgbClr val="666666"/>
                </a:solidFill>
                <a:latin typeface="Arial" pitchFamily="34" charset="0"/>
                <a:ea typeface="Arial" pitchFamily="34" charset="-122"/>
                <a:cs typeface="Arial" pitchFamily="34" charset="-120"/>
              </a:rPr>
              <a:t>⚠ Collapsed</a:t>
            </a:r>
            <a:endParaRPr lang="en-US" sz="800" dirty="0"/>
          </a:p>
        </p:txBody>
      </p:sp>
      <p:sp>
        <p:nvSpPr>
          <p:cNvPr id="13" name="Shape 11"/>
          <p:cNvSpPr/>
          <p:nvPr/>
        </p:nvSpPr>
        <p:spPr>
          <a:xfrm>
            <a:off x="3931920" y="2425623"/>
            <a:ext cx="1280160" cy="454737"/>
          </a:xfrm>
          <a:prstGeom prst="rect">
            <a:avLst>
              <a:gd name="adj" fmla="val 10054"/>
            </a:avLst>
          </a:prstGeom>
          <a:solidFill>
            <a:srgbClr val="E53935"/>
          </a:solidFill>
          <a:ln/>
        </p:spPr>
      </p:sp>
      <p:sp>
        <p:nvSpPr>
          <p:cNvPr id="14" name="Text 12"/>
          <p:cNvSpPr/>
          <p:nvPr/>
        </p:nvSpPr>
        <p:spPr>
          <a:xfrm>
            <a:off x="3931920" y="2270175"/>
            <a:ext cx="12801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1,590</a:t>
            </a:r>
            <a:endParaRPr lang="en-US" sz="1000" dirty="0"/>
          </a:p>
        </p:txBody>
      </p:sp>
      <p:sp>
        <p:nvSpPr>
          <p:cNvPr id="15" name="Text 13"/>
          <p:cNvSpPr/>
          <p:nvPr/>
        </p:nvSpPr>
        <p:spPr>
          <a:xfrm>
            <a:off x="3931920" y="2926080"/>
            <a:ext cx="12801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W3</a:t>
            </a:r>
            <a:endParaRPr lang="en-US" sz="900" dirty="0"/>
          </a:p>
        </p:txBody>
      </p:sp>
      <p:sp>
        <p:nvSpPr>
          <p:cNvPr id="16" name="Text 14"/>
          <p:cNvSpPr/>
          <p:nvPr/>
        </p:nvSpPr>
        <p:spPr>
          <a:xfrm>
            <a:off x="3931920" y="3154680"/>
            <a:ext cx="1280160" cy="228600"/>
          </a:xfrm>
          <a:prstGeom prst="rect">
            <a:avLst/>
          </a:prstGeom>
          <a:noFill/>
          <a:ln/>
        </p:spPr>
        <p:txBody>
          <a:bodyPr wrap="square" lIns="0" tIns="0" rIns="0" bIns="0" rtlCol="0" anchor="ctr"/>
          <a:lstStyle/>
          <a:p>
            <a:pPr algn="ctr" indent="0" marL="0">
              <a:buNone/>
            </a:pPr>
            <a:r>
              <a:rPr lang="en-US" sz="800" i="1" dirty="0">
                <a:solidFill>
                  <a:srgbClr val="666666"/>
                </a:solidFill>
                <a:latin typeface="Arial" pitchFamily="34" charset="0"/>
                <a:ea typeface="Arial" pitchFamily="34" charset="-122"/>
                <a:cs typeface="Arial" pitchFamily="34" charset="-120"/>
              </a:rPr>
              <a:t>Early recovery</a:t>
            </a:r>
            <a:endParaRPr lang="en-US" sz="800" dirty="0"/>
          </a:p>
        </p:txBody>
      </p:sp>
      <p:sp>
        <p:nvSpPr>
          <p:cNvPr id="17" name="Shape 15"/>
          <p:cNvSpPr/>
          <p:nvPr/>
        </p:nvSpPr>
        <p:spPr>
          <a:xfrm>
            <a:off x="5623560" y="2057543"/>
            <a:ext cx="1280160" cy="822817"/>
          </a:xfrm>
          <a:prstGeom prst="rect">
            <a:avLst>
              <a:gd name="adj" fmla="val 5557"/>
            </a:avLst>
          </a:prstGeom>
          <a:solidFill>
            <a:srgbClr val="E53935"/>
          </a:solidFill>
          <a:ln/>
        </p:spPr>
      </p:sp>
      <p:sp>
        <p:nvSpPr>
          <p:cNvPr id="18" name="Text 16"/>
          <p:cNvSpPr/>
          <p:nvPr/>
        </p:nvSpPr>
        <p:spPr>
          <a:xfrm>
            <a:off x="5623560" y="1902095"/>
            <a:ext cx="12801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2,877</a:t>
            </a:r>
            <a:endParaRPr lang="en-US" sz="1000" dirty="0"/>
          </a:p>
        </p:txBody>
      </p:sp>
      <p:sp>
        <p:nvSpPr>
          <p:cNvPr id="19" name="Text 17"/>
          <p:cNvSpPr/>
          <p:nvPr/>
        </p:nvSpPr>
        <p:spPr>
          <a:xfrm>
            <a:off x="5623560" y="2926080"/>
            <a:ext cx="12801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W5</a:t>
            </a:r>
            <a:endParaRPr lang="en-US" sz="900" dirty="0"/>
          </a:p>
        </p:txBody>
      </p:sp>
      <p:sp>
        <p:nvSpPr>
          <p:cNvPr id="20" name="Text 18"/>
          <p:cNvSpPr/>
          <p:nvPr/>
        </p:nvSpPr>
        <p:spPr>
          <a:xfrm>
            <a:off x="5623560" y="3154680"/>
            <a:ext cx="1280160" cy="228600"/>
          </a:xfrm>
          <a:prstGeom prst="rect">
            <a:avLst/>
          </a:prstGeom>
          <a:noFill/>
          <a:ln/>
        </p:spPr>
        <p:txBody>
          <a:bodyPr wrap="square" lIns="0" tIns="0" rIns="0" bIns="0" rtlCol="0" anchor="ctr"/>
          <a:lstStyle/>
          <a:p>
            <a:pPr algn="ctr" indent="0" marL="0">
              <a:buNone/>
            </a:pPr>
            <a:r>
              <a:rPr lang="en-US" sz="800" i="1" dirty="0">
                <a:solidFill>
                  <a:srgbClr val="666666"/>
                </a:solidFill>
                <a:latin typeface="Arial" pitchFamily="34" charset="0"/>
                <a:ea typeface="Arial" pitchFamily="34" charset="-122"/>
                <a:cs typeface="Arial" pitchFamily="34" charset="-120"/>
              </a:rPr>
              <a:t>Target met ✅</a:t>
            </a:r>
            <a:endParaRPr lang="en-US" sz="800" dirty="0"/>
          </a:p>
        </p:txBody>
      </p:sp>
      <p:sp>
        <p:nvSpPr>
          <p:cNvPr id="21" name="Shape 19"/>
          <p:cNvSpPr/>
          <p:nvPr/>
        </p:nvSpPr>
        <p:spPr>
          <a:xfrm>
            <a:off x="7315200" y="2195108"/>
            <a:ext cx="1280160" cy="685252"/>
          </a:xfrm>
          <a:prstGeom prst="rect">
            <a:avLst>
              <a:gd name="adj" fmla="val 6672"/>
            </a:avLst>
          </a:prstGeom>
          <a:solidFill>
            <a:srgbClr val="E53935"/>
          </a:solidFill>
          <a:ln/>
        </p:spPr>
      </p:sp>
      <p:sp>
        <p:nvSpPr>
          <p:cNvPr id="22" name="Text 20"/>
          <p:cNvSpPr/>
          <p:nvPr/>
        </p:nvSpPr>
        <p:spPr>
          <a:xfrm>
            <a:off x="7315200" y="2039660"/>
            <a:ext cx="128016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2,396</a:t>
            </a:r>
            <a:endParaRPr lang="en-US" sz="1000" dirty="0"/>
          </a:p>
        </p:txBody>
      </p:sp>
      <p:sp>
        <p:nvSpPr>
          <p:cNvPr id="23" name="Text 21"/>
          <p:cNvSpPr/>
          <p:nvPr/>
        </p:nvSpPr>
        <p:spPr>
          <a:xfrm>
            <a:off x="7315200" y="2926080"/>
            <a:ext cx="1280160" cy="182880"/>
          </a:xfrm>
          <a:prstGeom prst="rect">
            <a:avLst/>
          </a:prstGeom>
          <a:noFill/>
          <a:ln/>
        </p:spPr>
        <p:txBody>
          <a:bodyPr wrap="square" lIns="0" tIns="0" rIns="0" bIns="0" rtlCol="0" anchor="ctr"/>
          <a:lstStyle/>
          <a:p>
            <a:pPr algn="ctr" indent="0" marL="0">
              <a:buNone/>
            </a:pPr>
            <a:r>
              <a:rPr lang="en-US" sz="900" dirty="0">
                <a:solidFill>
                  <a:srgbClr val="888888"/>
                </a:solidFill>
                <a:latin typeface="Arial" pitchFamily="34" charset="0"/>
                <a:ea typeface="Arial" pitchFamily="34" charset="-122"/>
                <a:cs typeface="Arial" pitchFamily="34" charset="-120"/>
              </a:rPr>
              <a:t>W6</a:t>
            </a:r>
            <a:endParaRPr lang="en-US" sz="900" dirty="0"/>
          </a:p>
        </p:txBody>
      </p:sp>
      <p:sp>
        <p:nvSpPr>
          <p:cNvPr id="24" name="Text 22"/>
          <p:cNvSpPr/>
          <p:nvPr/>
        </p:nvSpPr>
        <p:spPr>
          <a:xfrm>
            <a:off x="7315200" y="3154680"/>
            <a:ext cx="1280160" cy="228600"/>
          </a:xfrm>
          <a:prstGeom prst="rect">
            <a:avLst/>
          </a:prstGeom>
          <a:noFill/>
          <a:ln/>
        </p:spPr>
        <p:txBody>
          <a:bodyPr wrap="square" lIns="0" tIns="0" rIns="0" bIns="0" rtlCol="0" anchor="ctr"/>
          <a:lstStyle/>
          <a:p>
            <a:pPr algn="ctr" indent="0" marL="0">
              <a:buNone/>
            </a:pPr>
            <a:r>
              <a:rPr lang="en-US" sz="800" i="1" dirty="0">
                <a:solidFill>
                  <a:srgbClr val="666666"/>
                </a:solidFill>
                <a:latin typeface="Arial" pitchFamily="34" charset="0"/>
                <a:ea typeface="Arial" pitchFamily="34" charset="-122"/>
                <a:cs typeface="Arial" pitchFamily="34" charset="-120"/>
              </a:rPr>
              <a:t>Below target</a:t>
            </a:r>
            <a:endParaRPr lang="en-US" sz="800" dirty="0"/>
          </a:p>
        </p:txBody>
      </p:sp>
      <p:sp>
        <p:nvSpPr>
          <p:cNvPr id="25" name="Shape 23"/>
          <p:cNvSpPr/>
          <p:nvPr/>
        </p:nvSpPr>
        <p:spPr>
          <a:xfrm>
            <a:off x="548640" y="3657600"/>
            <a:ext cx="1920240" cy="1188720"/>
          </a:xfrm>
          <a:prstGeom prst="roundRect">
            <a:avLst>
              <a:gd name="adj" fmla="val 7692"/>
            </a:avLst>
          </a:prstGeom>
          <a:solidFill>
            <a:srgbClr val="F8F8F8"/>
          </a:solidFill>
          <a:ln/>
        </p:spPr>
      </p:sp>
      <p:sp>
        <p:nvSpPr>
          <p:cNvPr id="26" name="Text 24"/>
          <p:cNvSpPr/>
          <p:nvPr/>
        </p:nvSpPr>
        <p:spPr>
          <a:xfrm>
            <a:off x="548640" y="3703320"/>
            <a:ext cx="1920240" cy="228600"/>
          </a:xfrm>
          <a:prstGeom prst="rect">
            <a:avLst/>
          </a:prstGeom>
          <a:noFill/>
          <a:ln/>
        </p:spPr>
        <p:txBody>
          <a:bodyPr wrap="square" lIns="0" tIns="0" rIns="0" bIns="0" rtlCol="0" anchor="ctr"/>
          <a:lstStyle/>
          <a:p>
            <a:pPr algn="ctr" indent="0" marL="0">
              <a:buNone/>
            </a:pPr>
            <a:r>
              <a:rPr lang="en-US" sz="1000" b="1" dirty="0">
                <a:solidFill>
                  <a:srgbClr val="888888"/>
                </a:solidFill>
                <a:latin typeface="Arial" pitchFamily="34" charset="0"/>
                <a:ea typeface="Arial" pitchFamily="34" charset="-122"/>
                <a:cs typeface="Arial" pitchFamily="34" charset="-120"/>
              </a:rPr>
              <a:t>Current</a:t>
            </a:r>
            <a:endParaRPr lang="en-US" sz="1000" dirty="0"/>
          </a:p>
        </p:txBody>
      </p:sp>
      <p:sp>
        <p:nvSpPr>
          <p:cNvPr id="27" name="Text 25"/>
          <p:cNvSpPr/>
          <p:nvPr/>
        </p:nvSpPr>
        <p:spPr>
          <a:xfrm>
            <a:off x="548640" y="3931920"/>
            <a:ext cx="1920240" cy="365760"/>
          </a:xfrm>
          <a:prstGeom prst="rect">
            <a:avLst/>
          </a:prstGeom>
          <a:noFill/>
          <a:ln/>
        </p:spPr>
        <p:txBody>
          <a:bodyPr wrap="square" lIns="0" tIns="0" rIns="0" bIns="0" rtlCol="0" anchor="ctr"/>
          <a:lstStyle/>
          <a:p>
            <a:pPr algn="ctr" indent="0" marL="0">
              <a:buNone/>
            </a:pPr>
            <a:r>
              <a:rPr lang="en-US" sz="2000" b="1" dirty="0">
                <a:solidFill>
                  <a:srgbClr val="1A1A1A"/>
                </a:solidFill>
                <a:latin typeface="Arial" pitchFamily="34" charset="0"/>
                <a:ea typeface="Arial" pitchFamily="34" charset="-122"/>
                <a:cs typeface="Arial" pitchFamily="34" charset="-120"/>
              </a:rPr>
              <a:t>~20 restaurants</a:t>
            </a:r>
            <a:endParaRPr lang="en-US" sz="2000" dirty="0"/>
          </a:p>
        </p:txBody>
      </p:sp>
      <p:sp>
        <p:nvSpPr>
          <p:cNvPr id="28" name="Text 26"/>
          <p:cNvSpPr/>
          <p:nvPr/>
        </p:nvSpPr>
        <p:spPr>
          <a:xfrm>
            <a:off x="548640" y="4343400"/>
            <a:ext cx="1920240" cy="228600"/>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Active partners</a:t>
            </a:r>
            <a:endParaRPr lang="en-US" sz="1000" dirty="0"/>
          </a:p>
        </p:txBody>
      </p:sp>
      <p:sp>
        <p:nvSpPr>
          <p:cNvPr id="29" name="Shape 27"/>
          <p:cNvSpPr/>
          <p:nvPr/>
        </p:nvSpPr>
        <p:spPr>
          <a:xfrm>
            <a:off x="2651760" y="3657600"/>
            <a:ext cx="1920240" cy="1188720"/>
          </a:xfrm>
          <a:prstGeom prst="roundRect">
            <a:avLst>
              <a:gd name="adj" fmla="val 7692"/>
            </a:avLst>
          </a:prstGeom>
          <a:solidFill>
            <a:srgbClr val="F8F8F8"/>
          </a:solidFill>
          <a:ln/>
        </p:spPr>
      </p:sp>
      <p:sp>
        <p:nvSpPr>
          <p:cNvPr id="30" name="Text 28"/>
          <p:cNvSpPr/>
          <p:nvPr/>
        </p:nvSpPr>
        <p:spPr>
          <a:xfrm>
            <a:off x="2651760" y="3703320"/>
            <a:ext cx="1920240" cy="228600"/>
          </a:xfrm>
          <a:prstGeom prst="rect">
            <a:avLst/>
          </a:prstGeom>
          <a:noFill/>
          <a:ln/>
        </p:spPr>
        <p:txBody>
          <a:bodyPr wrap="square" lIns="0" tIns="0" rIns="0" bIns="0" rtlCol="0" anchor="ctr"/>
          <a:lstStyle/>
          <a:p>
            <a:pPr algn="ctr" indent="0" marL="0">
              <a:buNone/>
            </a:pPr>
            <a:r>
              <a:rPr lang="en-US" sz="1000" b="1" dirty="0">
                <a:solidFill>
                  <a:srgbClr val="888888"/>
                </a:solidFill>
                <a:latin typeface="Arial" pitchFamily="34" charset="0"/>
                <a:ea typeface="Arial" pitchFamily="34" charset="-122"/>
                <a:cs typeface="Arial" pitchFamily="34" charset="-120"/>
              </a:rPr>
              <a:t>W6 Target</a:t>
            </a:r>
            <a:endParaRPr lang="en-US" sz="1000" dirty="0"/>
          </a:p>
        </p:txBody>
      </p:sp>
      <p:sp>
        <p:nvSpPr>
          <p:cNvPr id="31" name="Text 29"/>
          <p:cNvSpPr/>
          <p:nvPr/>
        </p:nvSpPr>
        <p:spPr>
          <a:xfrm>
            <a:off x="2651760" y="3931920"/>
            <a:ext cx="1920240" cy="365760"/>
          </a:xfrm>
          <a:prstGeom prst="rect">
            <a:avLst/>
          </a:prstGeom>
          <a:noFill/>
          <a:ln/>
        </p:spPr>
        <p:txBody>
          <a:bodyPr wrap="square" lIns="0" tIns="0" rIns="0" bIns="0" rtlCol="0" anchor="ctr"/>
          <a:lstStyle/>
          <a:p>
            <a:pPr algn="ctr" indent="0" marL="0">
              <a:buNone/>
            </a:pPr>
            <a:r>
              <a:rPr lang="en-US" sz="2000" b="1" dirty="0">
                <a:solidFill>
                  <a:srgbClr val="D32F2F"/>
                </a:solidFill>
                <a:latin typeface="Arial" pitchFamily="34" charset="0"/>
                <a:ea typeface="Arial" pitchFamily="34" charset="-122"/>
                <a:cs typeface="Arial" pitchFamily="34" charset="-120"/>
              </a:rPr>
              <a:t>2,861 ETB</a:t>
            </a:r>
            <a:endParaRPr lang="en-US" sz="2000" dirty="0"/>
          </a:p>
        </p:txBody>
      </p:sp>
      <p:sp>
        <p:nvSpPr>
          <p:cNvPr id="32" name="Text 30"/>
          <p:cNvSpPr/>
          <p:nvPr/>
        </p:nvSpPr>
        <p:spPr>
          <a:xfrm>
            <a:off x="2651760" y="4343400"/>
            <a:ext cx="1920240" cy="228600"/>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Achieved 83.8%</a:t>
            </a:r>
            <a:endParaRPr lang="en-US" sz="1000" dirty="0"/>
          </a:p>
        </p:txBody>
      </p:sp>
      <p:sp>
        <p:nvSpPr>
          <p:cNvPr id="33" name="Shape 31"/>
          <p:cNvSpPr/>
          <p:nvPr/>
        </p:nvSpPr>
        <p:spPr>
          <a:xfrm>
            <a:off x="4754880" y="3657600"/>
            <a:ext cx="1920240" cy="1188720"/>
          </a:xfrm>
          <a:prstGeom prst="roundRect">
            <a:avLst>
              <a:gd name="adj" fmla="val 7692"/>
            </a:avLst>
          </a:prstGeom>
          <a:solidFill>
            <a:srgbClr val="F8F8F8"/>
          </a:solidFill>
          <a:ln/>
        </p:spPr>
      </p:sp>
      <p:sp>
        <p:nvSpPr>
          <p:cNvPr id="34" name="Text 32"/>
          <p:cNvSpPr/>
          <p:nvPr/>
        </p:nvSpPr>
        <p:spPr>
          <a:xfrm>
            <a:off x="4754880" y="3703320"/>
            <a:ext cx="1920240" cy="228600"/>
          </a:xfrm>
          <a:prstGeom prst="rect">
            <a:avLst/>
          </a:prstGeom>
          <a:noFill/>
          <a:ln/>
        </p:spPr>
        <p:txBody>
          <a:bodyPr wrap="square" lIns="0" tIns="0" rIns="0" bIns="0" rtlCol="0" anchor="ctr"/>
          <a:lstStyle/>
          <a:p>
            <a:pPr algn="ctr" indent="0" marL="0">
              <a:buNone/>
            </a:pPr>
            <a:r>
              <a:rPr lang="en-US" sz="1000" b="1" dirty="0">
                <a:solidFill>
                  <a:srgbClr val="888888"/>
                </a:solidFill>
                <a:latin typeface="Arial" pitchFamily="34" charset="0"/>
                <a:ea typeface="Arial" pitchFamily="34" charset="-122"/>
                <a:cs typeface="Arial" pitchFamily="34" charset="-120"/>
              </a:rPr>
              <a:t>Q2 Target</a:t>
            </a:r>
            <a:endParaRPr lang="en-US" sz="1000" dirty="0"/>
          </a:p>
        </p:txBody>
      </p:sp>
      <p:sp>
        <p:nvSpPr>
          <p:cNvPr id="35" name="Text 33"/>
          <p:cNvSpPr/>
          <p:nvPr/>
        </p:nvSpPr>
        <p:spPr>
          <a:xfrm>
            <a:off x="4754880" y="3931920"/>
            <a:ext cx="1920240" cy="365760"/>
          </a:xfrm>
          <a:prstGeom prst="rect">
            <a:avLst/>
          </a:prstGeom>
          <a:noFill/>
          <a:ln/>
        </p:spPr>
        <p:txBody>
          <a:bodyPr wrap="square" lIns="0" tIns="0" rIns="0" bIns="0" rtlCol="0" anchor="ctr"/>
          <a:lstStyle/>
          <a:p>
            <a:pPr algn="ctr" indent="0" marL="0">
              <a:buNone/>
            </a:pPr>
            <a:r>
              <a:rPr lang="en-US" sz="2000" b="1" dirty="0">
                <a:solidFill>
                  <a:srgbClr val="E53935"/>
                </a:solidFill>
                <a:latin typeface="Arial" pitchFamily="34" charset="0"/>
                <a:ea typeface="Arial" pitchFamily="34" charset="-122"/>
                <a:cs typeface="Arial" pitchFamily="34" charset="-120"/>
              </a:rPr>
              <a:t>40 restaurants</a:t>
            </a:r>
            <a:endParaRPr lang="en-US" sz="2000" dirty="0"/>
          </a:p>
        </p:txBody>
      </p:sp>
      <p:sp>
        <p:nvSpPr>
          <p:cNvPr id="36" name="Text 34"/>
          <p:cNvSpPr/>
          <p:nvPr/>
        </p:nvSpPr>
        <p:spPr>
          <a:xfrm>
            <a:off x="4754880" y="4343400"/>
            <a:ext cx="1920240" cy="228600"/>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Double current</a:t>
            </a:r>
            <a:endParaRPr lang="en-US" sz="1000" dirty="0"/>
          </a:p>
        </p:txBody>
      </p:sp>
      <p:sp>
        <p:nvSpPr>
          <p:cNvPr id="37" name="Shape 35"/>
          <p:cNvSpPr/>
          <p:nvPr/>
        </p:nvSpPr>
        <p:spPr>
          <a:xfrm>
            <a:off x="6858000" y="3657600"/>
            <a:ext cx="1920240" cy="1188720"/>
          </a:xfrm>
          <a:prstGeom prst="roundRect">
            <a:avLst>
              <a:gd name="adj" fmla="val 7692"/>
            </a:avLst>
          </a:prstGeom>
          <a:solidFill>
            <a:srgbClr val="F8F8F8"/>
          </a:solidFill>
          <a:ln/>
        </p:spPr>
      </p:sp>
      <p:sp>
        <p:nvSpPr>
          <p:cNvPr id="38" name="Text 36"/>
          <p:cNvSpPr/>
          <p:nvPr/>
        </p:nvSpPr>
        <p:spPr>
          <a:xfrm>
            <a:off x="6858000" y="3703320"/>
            <a:ext cx="1920240" cy="228600"/>
          </a:xfrm>
          <a:prstGeom prst="rect">
            <a:avLst/>
          </a:prstGeom>
          <a:noFill/>
          <a:ln/>
        </p:spPr>
        <p:txBody>
          <a:bodyPr wrap="square" lIns="0" tIns="0" rIns="0" bIns="0" rtlCol="0" anchor="ctr"/>
          <a:lstStyle/>
          <a:p>
            <a:pPr algn="ctr" indent="0" marL="0">
              <a:buNone/>
            </a:pPr>
            <a:r>
              <a:rPr lang="en-US" sz="1000" b="1" dirty="0">
                <a:solidFill>
                  <a:srgbClr val="888888"/>
                </a:solidFill>
                <a:latin typeface="Arial" pitchFamily="34" charset="0"/>
                <a:ea typeface="Arial" pitchFamily="34" charset="-122"/>
                <a:cs typeface="Arial" pitchFamily="34" charset="-120"/>
              </a:rPr>
              <a:t>Avg B2B Order</a:t>
            </a:r>
            <a:endParaRPr lang="en-US" sz="1000" dirty="0"/>
          </a:p>
        </p:txBody>
      </p:sp>
      <p:sp>
        <p:nvSpPr>
          <p:cNvPr id="39" name="Text 37"/>
          <p:cNvSpPr/>
          <p:nvPr/>
        </p:nvSpPr>
        <p:spPr>
          <a:xfrm>
            <a:off x="6858000" y="3931920"/>
            <a:ext cx="1920240" cy="365760"/>
          </a:xfrm>
          <a:prstGeom prst="rect">
            <a:avLst/>
          </a:prstGeom>
          <a:noFill/>
          <a:ln/>
        </p:spPr>
        <p:txBody>
          <a:bodyPr wrap="square" lIns="0" tIns="0" rIns="0" bIns="0" rtlCol="0" anchor="ctr"/>
          <a:lstStyle/>
          <a:p>
            <a:pPr algn="ctr" indent="0" marL="0">
              <a:buNone/>
            </a:pPr>
            <a:r>
              <a:rPr lang="en-US" sz="2000" b="1" dirty="0">
                <a:solidFill>
                  <a:srgbClr val="C62828"/>
                </a:solidFill>
                <a:latin typeface="Arial" pitchFamily="34" charset="0"/>
                <a:ea typeface="Arial" pitchFamily="34" charset="-122"/>
                <a:cs typeface="Arial" pitchFamily="34" charset="-120"/>
              </a:rPr>
              <a:t>~5,000 ETB</a:t>
            </a:r>
            <a:endParaRPr lang="en-US" sz="2000" dirty="0"/>
          </a:p>
        </p:txBody>
      </p:sp>
      <p:sp>
        <p:nvSpPr>
          <p:cNvPr id="40" name="Text 38"/>
          <p:cNvSpPr/>
          <p:nvPr/>
        </p:nvSpPr>
        <p:spPr>
          <a:xfrm>
            <a:off x="6858000" y="4343400"/>
            <a:ext cx="1920240" cy="228600"/>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vs 88 ETB B2C</a:t>
            </a:r>
            <a:endParaRPr lang="en-US" sz="1000" dirty="0"/>
          </a:p>
        </p:txBody>
      </p:sp>
      <p:sp>
        <p:nvSpPr>
          <p:cNvPr id="41" name="Shape 39"/>
          <p:cNvSpPr/>
          <p:nvPr/>
        </p:nvSpPr>
        <p:spPr>
          <a:xfrm>
            <a:off x="8503920" y="4663440"/>
            <a:ext cx="365760" cy="365760"/>
          </a:xfrm>
          <a:prstGeom prst="ellipse">
            <a:avLst/>
          </a:prstGeom>
          <a:solidFill>
            <a:srgbClr val="E53935"/>
          </a:solidFill>
          <a:ln/>
        </p:spPr>
      </p:sp>
      <p:sp>
        <p:nvSpPr>
          <p:cNvPr id="42" name="Text 4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PRODUCT-LEVEL INSIGHTS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2800" b="1" dirty="0">
                <a:solidFill>
                  <a:srgbClr val="1A1A1A"/>
                </a:solidFill>
                <a:latin typeface="Arial" pitchFamily="34" charset="0"/>
                <a:ea typeface="Arial" pitchFamily="34" charset="-122"/>
                <a:cs typeface="Arial" pitchFamily="34" charset="-120"/>
              </a:rPr>
              <a:t>Warehouse Loss by Product — Week 5 (Mar 2-8)</a:t>
            </a:r>
            <a:endParaRPr lang="en-US" sz="2800" dirty="0"/>
          </a:p>
        </p:txBody>
      </p:sp>
      <p:sp>
        <p:nvSpPr>
          <p:cNvPr id="5" name="Shape 3"/>
          <p:cNvSpPr/>
          <p:nvPr/>
        </p:nvSpPr>
        <p:spPr>
          <a:xfrm>
            <a:off x="548640" y="1325880"/>
            <a:ext cx="2560320" cy="1005840"/>
          </a:xfrm>
          <a:prstGeom prst="roundRect">
            <a:avLst>
              <a:gd name="adj" fmla="val 9091"/>
            </a:avLst>
          </a:prstGeom>
          <a:solidFill>
            <a:srgbClr val="FFF5F5"/>
          </a:solidFill>
          <a:ln/>
        </p:spPr>
      </p:sp>
      <p:sp>
        <p:nvSpPr>
          <p:cNvPr id="6" name="Text 4"/>
          <p:cNvSpPr/>
          <p:nvPr/>
        </p:nvSpPr>
        <p:spPr>
          <a:xfrm>
            <a:off x="548640" y="1325880"/>
            <a:ext cx="2560320" cy="228600"/>
          </a:xfrm>
          <a:prstGeom prst="rect">
            <a:avLst/>
          </a:prstGeom>
          <a:noFill/>
          <a:ln/>
        </p:spPr>
        <p:txBody>
          <a:bodyPr wrap="square" lIns="0" tIns="0" rIns="0" bIns="0" rtlCol="0" anchor="ctr"/>
          <a:lstStyle/>
          <a:p>
            <a:pPr algn="ctr" indent="0" marL="0">
              <a:buNone/>
            </a:pPr>
            <a:r>
              <a:rPr lang="en-US" sz="1000" b="1" dirty="0">
                <a:solidFill>
                  <a:srgbClr val="888888"/>
                </a:solidFill>
                <a:latin typeface="Arial" pitchFamily="34" charset="0"/>
                <a:ea typeface="Arial" pitchFamily="34" charset="-122"/>
                <a:cs typeface="Arial" pitchFamily="34" charset="-120"/>
              </a:rPr>
              <a:t>TOTAL LOSS</a:t>
            </a:r>
            <a:endParaRPr lang="en-US" sz="1000" dirty="0"/>
          </a:p>
        </p:txBody>
      </p:sp>
      <p:sp>
        <p:nvSpPr>
          <p:cNvPr id="7" name="Text 5"/>
          <p:cNvSpPr/>
          <p:nvPr/>
        </p:nvSpPr>
        <p:spPr>
          <a:xfrm>
            <a:off x="548640" y="1554480"/>
            <a:ext cx="2560320" cy="457200"/>
          </a:xfrm>
          <a:prstGeom prst="rect">
            <a:avLst/>
          </a:prstGeom>
          <a:noFill/>
          <a:ln/>
        </p:spPr>
        <p:txBody>
          <a:bodyPr wrap="square" lIns="0" tIns="0" rIns="0" bIns="0" rtlCol="0" anchor="ctr"/>
          <a:lstStyle/>
          <a:p>
            <a:pPr algn="ctr" indent="0" marL="0">
              <a:buNone/>
            </a:pPr>
            <a:r>
              <a:rPr lang="en-US" sz="2800" b="1" dirty="0">
                <a:solidFill>
                  <a:srgbClr val="E53935"/>
                </a:solidFill>
                <a:latin typeface="Arial" pitchFamily="34" charset="0"/>
                <a:ea typeface="Arial" pitchFamily="34" charset="-122"/>
                <a:cs typeface="Arial" pitchFamily="34" charset="-120"/>
              </a:rPr>
              <a:t>45,757 ETB</a:t>
            </a:r>
            <a:endParaRPr lang="en-US" sz="2800" dirty="0"/>
          </a:p>
        </p:txBody>
      </p:sp>
      <p:sp>
        <p:nvSpPr>
          <p:cNvPr id="8" name="Text 6"/>
          <p:cNvSpPr/>
          <p:nvPr/>
        </p:nvSpPr>
        <p:spPr>
          <a:xfrm>
            <a:off x="548640" y="2011680"/>
            <a:ext cx="2560320" cy="22860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923.9 kg total</a:t>
            </a:r>
            <a:endParaRPr lang="en-US" sz="1000" dirty="0"/>
          </a:p>
        </p:txBody>
      </p:sp>
      <p:sp>
        <p:nvSpPr>
          <p:cNvPr id="9" name="Shape 7"/>
          <p:cNvSpPr/>
          <p:nvPr/>
        </p:nvSpPr>
        <p:spPr>
          <a:xfrm>
            <a:off x="3383280" y="1325880"/>
            <a:ext cx="5394960" cy="320040"/>
          </a:xfrm>
          <a:prstGeom prst="rect">
            <a:avLst/>
          </a:prstGeom>
          <a:solidFill>
            <a:srgbClr val="F0F0F0"/>
          </a:solidFill>
          <a:ln/>
        </p:spPr>
      </p:sp>
      <p:sp>
        <p:nvSpPr>
          <p:cNvPr id="10" name="Text 8"/>
          <p:cNvSpPr/>
          <p:nvPr/>
        </p:nvSpPr>
        <p:spPr>
          <a:xfrm>
            <a:off x="3383280" y="1325880"/>
            <a:ext cx="2011680" cy="320040"/>
          </a:xfrm>
          <a:prstGeom prst="rect">
            <a:avLst/>
          </a:prstGeom>
          <a:noFill/>
          <a:ln/>
        </p:spPr>
        <p:txBody>
          <a:bodyPr wrap="square" lIns="0" tIns="0" rIns="0" bIns="0" rtlCol="0" anchor="ctr"/>
          <a:lstStyle/>
          <a:p>
            <a:pPr algn="ctr" indent="0" marL="0">
              <a:buNone/>
            </a:pPr>
            <a:r>
              <a:rPr lang="en-US" sz="900" b="1" dirty="0">
                <a:solidFill>
                  <a:srgbClr val="666666"/>
                </a:solidFill>
                <a:latin typeface="Arial" pitchFamily="34" charset="0"/>
                <a:ea typeface="Arial" pitchFamily="34" charset="-122"/>
                <a:cs typeface="Arial" pitchFamily="34" charset="-120"/>
              </a:rPr>
              <a:t>PRODUCT</a:t>
            </a:r>
            <a:endParaRPr lang="en-US" sz="900" dirty="0"/>
          </a:p>
        </p:txBody>
      </p:sp>
      <p:sp>
        <p:nvSpPr>
          <p:cNvPr id="11" name="Text 9"/>
          <p:cNvSpPr/>
          <p:nvPr/>
        </p:nvSpPr>
        <p:spPr>
          <a:xfrm>
            <a:off x="5394960" y="1325880"/>
            <a:ext cx="1097280" cy="320040"/>
          </a:xfrm>
          <a:prstGeom prst="rect">
            <a:avLst/>
          </a:prstGeom>
          <a:noFill/>
          <a:ln/>
        </p:spPr>
        <p:txBody>
          <a:bodyPr wrap="square" lIns="0" tIns="0" rIns="0" bIns="0" rtlCol="0" anchor="ctr"/>
          <a:lstStyle/>
          <a:p>
            <a:pPr algn="ctr" indent="0" marL="0">
              <a:buNone/>
            </a:pPr>
            <a:r>
              <a:rPr lang="en-US" sz="900" b="1" dirty="0">
                <a:solidFill>
                  <a:srgbClr val="666666"/>
                </a:solidFill>
                <a:latin typeface="Arial" pitchFamily="34" charset="0"/>
                <a:ea typeface="Arial" pitchFamily="34" charset="-122"/>
                <a:cs typeface="Arial" pitchFamily="34" charset="-120"/>
              </a:rPr>
              <a:t>KG DAMAGED</a:t>
            </a:r>
            <a:endParaRPr lang="en-US" sz="900" dirty="0"/>
          </a:p>
        </p:txBody>
      </p:sp>
      <p:sp>
        <p:nvSpPr>
          <p:cNvPr id="12" name="Text 10"/>
          <p:cNvSpPr/>
          <p:nvPr/>
        </p:nvSpPr>
        <p:spPr>
          <a:xfrm>
            <a:off x="6492240" y="1325880"/>
            <a:ext cx="1097280" cy="320040"/>
          </a:xfrm>
          <a:prstGeom prst="rect">
            <a:avLst/>
          </a:prstGeom>
          <a:noFill/>
          <a:ln/>
        </p:spPr>
        <p:txBody>
          <a:bodyPr wrap="square" lIns="0" tIns="0" rIns="0" bIns="0" rtlCol="0" anchor="ctr"/>
          <a:lstStyle/>
          <a:p>
            <a:pPr algn="ctr" indent="0" marL="0">
              <a:buNone/>
            </a:pPr>
            <a:r>
              <a:rPr lang="en-US" sz="900" b="1" dirty="0">
                <a:solidFill>
                  <a:srgbClr val="666666"/>
                </a:solidFill>
                <a:latin typeface="Arial" pitchFamily="34" charset="0"/>
                <a:ea typeface="Arial" pitchFamily="34" charset="-122"/>
                <a:cs typeface="Arial" pitchFamily="34" charset="-120"/>
              </a:rPr>
              <a:t>LOSS (ETB)</a:t>
            </a:r>
            <a:endParaRPr lang="en-US" sz="900" dirty="0"/>
          </a:p>
        </p:txBody>
      </p:sp>
      <p:sp>
        <p:nvSpPr>
          <p:cNvPr id="13" name="Text 11"/>
          <p:cNvSpPr/>
          <p:nvPr/>
        </p:nvSpPr>
        <p:spPr>
          <a:xfrm>
            <a:off x="7589520" y="1325880"/>
            <a:ext cx="1097280" cy="320040"/>
          </a:xfrm>
          <a:prstGeom prst="rect">
            <a:avLst/>
          </a:prstGeom>
          <a:noFill/>
          <a:ln/>
        </p:spPr>
        <p:txBody>
          <a:bodyPr wrap="square" lIns="0" tIns="0" rIns="0" bIns="0" rtlCol="0" anchor="ctr"/>
          <a:lstStyle/>
          <a:p>
            <a:pPr algn="ctr" indent="0" marL="0">
              <a:buNone/>
            </a:pPr>
            <a:r>
              <a:rPr lang="en-US" sz="900" b="1" dirty="0">
                <a:solidFill>
                  <a:srgbClr val="666666"/>
                </a:solidFill>
                <a:latin typeface="Arial" pitchFamily="34" charset="0"/>
                <a:ea typeface="Arial" pitchFamily="34" charset="-122"/>
                <a:cs typeface="Arial" pitchFamily="34" charset="-120"/>
              </a:rPr>
              <a:t>% OF TOTAL</a:t>
            </a:r>
            <a:endParaRPr lang="en-US" sz="900" dirty="0"/>
          </a:p>
        </p:txBody>
      </p:sp>
      <p:sp>
        <p:nvSpPr>
          <p:cNvPr id="14" name="Shape 12"/>
          <p:cNvSpPr/>
          <p:nvPr/>
        </p:nvSpPr>
        <p:spPr>
          <a:xfrm>
            <a:off x="3383280" y="1673352"/>
            <a:ext cx="5394960" cy="347472"/>
          </a:xfrm>
          <a:prstGeom prst="rect">
            <a:avLst/>
          </a:prstGeom>
          <a:solidFill>
            <a:srgbClr val="FAFAFA"/>
          </a:solidFill>
          <a:ln/>
        </p:spPr>
      </p:sp>
      <p:sp>
        <p:nvSpPr>
          <p:cNvPr id="15" name="Text 13"/>
          <p:cNvSpPr/>
          <p:nvPr/>
        </p:nvSpPr>
        <p:spPr>
          <a:xfrm>
            <a:off x="3383280" y="1673352"/>
            <a:ext cx="2011680" cy="347472"/>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Carrot (big+small)</a:t>
            </a:r>
            <a:endParaRPr lang="en-US" sz="1100" dirty="0"/>
          </a:p>
        </p:txBody>
      </p:sp>
      <p:sp>
        <p:nvSpPr>
          <p:cNvPr id="16" name="Text 14"/>
          <p:cNvSpPr/>
          <p:nvPr/>
        </p:nvSpPr>
        <p:spPr>
          <a:xfrm>
            <a:off x="5394960" y="167335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338.2</a:t>
            </a:r>
            <a:endParaRPr lang="en-US" sz="1100" dirty="0"/>
          </a:p>
        </p:txBody>
      </p:sp>
      <p:sp>
        <p:nvSpPr>
          <p:cNvPr id="17" name="Text 15"/>
          <p:cNvSpPr/>
          <p:nvPr/>
        </p:nvSpPr>
        <p:spPr>
          <a:xfrm>
            <a:off x="6492240" y="167335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20,861</a:t>
            </a:r>
            <a:endParaRPr lang="en-US" sz="1100" dirty="0"/>
          </a:p>
        </p:txBody>
      </p:sp>
      <p:sp>
        <p:nvSpPr>
          <p:cNvPr id="18" name="Text 16"/>
          <p:cNvSpPr/>
          <p:nvPr/>
        </p:nvSpPr>
        <p:spPr>
          <a:xfrm>
            <a:off x="7589520" y="1673352"/>
            <a:ext cx="1097280" cy="347472"/>
          </a:xfrm>
          <a:prstGeom prst="rect">
            <a:avLst/>
          </a:prstGeom>
          <a:noFill/>
          <a:ln/>
        </p:spPr>
        <p:txBody>
          <a:bodyPr wrap="square" lIns="0" tIns="0" rIns="0" bIns="0" rtlCol="0" anchor="ctr"/>
          <a:lstStyle/>
          <a:p>
            <a:pPr algn="ctr" indent="0" marL="0">
              <a:buNone/>
            </a:pPr>
            <a:r>
              <a:rPr lang="en-US" sz="1100" dirty="0">
                <a:solidFill>
                  <a:srgbClr val="D32F2F"/>
                </a:solidFill>
                <a:latin typeface="Arial" pitchFamily="34" charset="0"/>
                <a:ea typeface="Arial" pitchFamily="34" charset="-122"/>
                <a:cs typeface="Arial" pitchFamily="34" charset="-120"/>
              </a:rPr>
              <a:t>45.5%</a:t>
            </a:r>
            <a:endParaRPr lang="en-US" sz="1100" dirty="0"/>
          </a:p>
        </p:txBody>
      </p:sp>
      <p:sp>
        <p:nvSpPr>
          <p:cNvPr id="19" name="Text 17"/>
          <p:cNvSpPr/>
          <p:nvPr/>
        </p:nvSpPr>
        <p:spPr>
          <a:xfrm>
            <a:off x="3383280" y="2039112"/>
            <a:ext cx="2011680" cy="347472"/>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Tomato (A + B)</a:t>
            </a:r>
            <a:endParaRPr lang="en-US" sz="1100" dirty="0"/>
          </a:p>
        </p:txBody>
      </p:sp>
      <p:sp>
        <p:nvSpPr>
          <p:cNvPr id="20" name="Text 18"/>
          <p:cNvSpPr/>
          <p:nvPr/>
        </p:nvSpPr>
        <p:spPr>
          <a:xfrm>
            <a:off x="5394960" y="203911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225.5</a:t>
            </a:r>
            <a:endParaRPr lang="en-US" sz="1100" dirty="0"/>
          </a:p>
        </p:txBody>
      </p:sp>
      <p:sp>
        <p:nvSpPr>
          <p:cNvPr id="21" name="Text 19"/>
          <p:cNvSpPr/>
          <p:nvPr/>
        </p:nvSpPr>
        <p:spPr>
          <a:xfrm>
            <a:off x="6492240" y="203911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7,573</a:t>
            </a:r>
            <a:endParaRPr lang="en-US" sz="1100" dirty="0"/>
          </a:p>
        </p:txBody>
      </p:sp>
      <p:sp>
        <p:nvSpPr>
          <p:cNvPr id="22" name="Text 20"/>
          <p:cNvSpPr/>
          <p:nvPr/>
        </p:nvSpPr>
        <p:spPr>
          <a:xfrm>
            <a:off x="7589520" y="2039112"/>
            <a:ext cx="1097280" cy="347472"/>
          </a:xfrm>
          <a:prstGeom prst="rect">
            <a:avLst/>
          </a:prstGeom>
          <a:noFill/>
          <a:ln/>
        </p:spPr>
        <p:txBody>
          <a:bodyPr wrap="square" lIns="0" tIns="0" rIns="0" bIns="0" rtlCol="0" anchor="ctr"/>
          <a:lstStyle/>
          <a:p>
            <a:pPr algn="ctr" indent="0" marL="0">
              <a:buNone/>
            </a:pPr>
            <a:r>
              <a:rPr lang="en-US" sz="1100" dirty="0">
                <a:solidFill>
                  <a:srgbClr val="E53935"/>
                </a:solidFill>
                <a:latin typeface="Arial" pitchFamily="34" charset="0"/>
                <a:ea typeface="Arial" pitchFamily="34" charset="-122"/>
                <a:cs typeface="Arial" pitchFamily="34" charset="-120"/>
              </a:rPr>
              <a:t>16.6%</a:t>
            </a:r>
            <a:endParaRPr lang="en-US" sz="1100" dirty="0"/>
          </a:p>
        </p:txBody>
      </p:sp>
      <p:sp>
        <p:nvSpPr>
          <p:cNvPr id="23" name="Shape 21"/>
          <p:cNvSpPr/>
          <p:nvPr/>
        </p:nvSpPr>
        <p:spPr>
          <a:xfrm>
            <a:off x="3383280" y="2404872"/>
            <a:ext cx="5394960" cy="347472"/>
          </a:xfrm>
          <a:prstGeom prst="rect">
            <a:avLst/>
          </a:prstGeom>
          <a:solidFill>
            <a:srgbClr val="FAFAFA"/>
          </a:solidFill>
          <a:ln/>
        </p:spPr>
      </p:sp>
      <p:sp>
        <p:nvSpPr>
          <p:cNvPr id="24" name="Text 22"/>
          <p:cNvSpPr/>
          <p:nvPr/>
        </p:nvSpPr>
        <p:spPr>
          <a:xfrm>
            <a:off x="3383280" y="2404872"/>
            <a:ext cx="2011680" cy="347472"/>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Avocado (ripe + reg)</a:t>
            </a:r>
            <a:endParaRPr lang="en-US" sz="1100" dirty="0"/>
          </a:p>
        </p:txBody>
      </p:sp>
      <p:sp>
        <p:nvSpPr>
          <p:cNvPr id="25" name="Text 23"/>
          <p:cNvSpPr/>
          <p:nvPr/>
        </p:nvSpPr>
        <p:spPr>
          <a:xfrm>
            <a:off x="5394960" y="240487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60.8</a:t>
            </a:r>
            <a:endParaRPr lang="en-US" sz="1100" dirty="0"/>
          </a:p>
        </p:txBody>
      </p:sp>
      <p:sp>
        <p:nvSpPr>
          <p:cNvPr id="26" name="Text 24"/>
          <p:cNvSpPr/>
          <p:nvPr/>
        </p:nvSpPr>
        <p:spPr>
          <a:xfrm>
            <a:off x="6492240" y="240487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6,162</a:t>
            </a:r>
            <a:endParaRPr lang="en-US" sz="1100" dirty="0"/>
          </a:p>
        </p:txBody>
      </p:sp>
      <p:sp>
        <p:nvSpPr>
          <p:cNvPr id="27" name="Text 25"/>
          <p:cNvSpPr/>
          <p:nvPr/>
        </p:nvSpPr>
        <p:spPr>
          <a:xfrm>
            <a:off x="7589520" y="2404872"/>
            <a:ext cx="1097280" cy="347472"/>
          </a:xfrm>
          <a:prstGeom prst="rect">
            <a:avLst/>
          </a:prstGeom>
          <a:noFill/>
          <a:ln/>
        </p:spPr>
        <p:txBody>
          <a:bodyPr wrap="square" lIns="0" tIns="0" rIns="0" bIns="0" rtlCol="0" anchor="ctr"/>
          <a:lstStyle/>
          <a:p>
            <a:pPr algn="ctr" indent="0" marL="0">
              <a:buNone/>
            </a:pPr>
            <a:r>
              <a:rPr lang="en-US" sz="1100" dirty="0">
                <a:solidFill>
                  <a:srgbClr val="FF6B6B"/>
                </a:solidFill>
                <a:latin typeface="Arial" pitchFamily="34" charset="0"/>
                <a:ea typeface="Arial" pitchFamily="34" charset="-122"/>
                <a:cs typeface="Arial" pitchFamily="34" charset="-120"/>
              </a:rPr>
              <a:t>13.5%</a:t>
            </a:r>
            <a:endParaRPr lang="en-US" sz="1100" dirty="0"/>
          </a:p>
        </p:txBody>
      </p:sp>
      <p:sp>
        <p:nvSpPr>
          <p:cNvPr id="28" name="Text 26"/>
          <p:cNvSpPr/>
          <p:nvPr/>
        </p:nvSpPr>
        <p:spPr>
          <a:xfrm>
            <a:off x="3383280" y="2770632"/>
            <a:ext cx="2011680" cy="347472"/>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Red Onion (C + reg)</a:t>
            </a:r>
            <a:endParaRPr lang="en-US" sz="1100" dirty="0"/>
          </a:p>
        </p:txBody>
      </p:sp>
      <p:sp>
        <p:nvSpPr>
          <p:cNvPr id="29" name="Text 27"/>
          <p:cNvSpPr/>
          <p:nvPr/>
        </p:nvSpPr>
        <p:spPr>
          <a:xfrm>
            <a:off x="5394960" y="277063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150.0</a:t>
            </a:r>
            <a:endParaRPr lang="en-US" sz="1100" dirty="0"/>
          </a:p>
        </p:txBody>
      </p:sp>
      <p:sp>
        <p:nvSpPr>
          <p:cNvPr id="30" name="Text 28"/>
          <p:cNvSpPr/>
          <p:nvPr/>
        </p:nvSpPr>
        <p:spPr>
          <a:xfrm>
            <a:off x="6492240" y="277063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3,450</a:t>
            </a:r>
            <a:endParaRPr lang="en-US" sz="1100" dirty="0"/>
          </a:p>
        </p:txBody>
      </p:sp>
      <p:sp>
        <p:nvSpPr>
          <p:cNvPr id="31" name="Text 29"/>
          <p:cNvSpPr/>
          <p:nvPr/>
        </p:nvSpPr>
        <p:spPr>
          <a:xfrm>
            <a:off x="7589520" y="2770632"/>
            <a:ext cx="1097280" cy="347472"/>
          </a:xfrm>
          <a:prstGeom prst="rect">
            <a:avLst/>
          </a:prstGeom>
          <a:noFill/>
          <a:ln/>
        </p:spPr>
        <p:txBody>
          <a:bodyPr wrap="square" lIns="0" tIns="0" rIns="0" bIns="0" rtlCol="0" anchor="ctr"/>
          <a:lstStyle/>
          <a:p>
            <a:pPr algn="ctr" indent="0" marL="0">
              <a:buNone/>
            </a:pPr>
            <a:r>
              <a:rPr lang="en-US" sz="1100" dirty="0">
                <a:solidFill>
                  <a:srgbClr val="FF8A8A"/>
                </a:solidFill>
                <a:latin typeface="Arial" pitchFamily="34" charset="0"/>
                <a:ea typeface="Arial" pitchFamily="34" charset="-122"/>
                <a:cs typeface="Arial" pitchFamily="34" charset="-120"/>
              </a:rPr>
              <a:t>7.6%</a:t>
            </a:r>
            <a:endParaRPr lang="en-US" sz="1100" dirty="0"/>
          </a:p>
        </p:txBody>
      </p:sp>
      <p:sp>
        <p:nvSpPr>
          <p:cNvPr id="32" name="Shape 30"/>
          <p:cNvSpPr/>
          <p:nvPr/>
        </p:nvSpPr>
        <p:spPr>
          <a:xfrm>
            <a:off x="3383280" y="3136392"/>
            <a:ext cx="5394960" cy="347472"/>
          </a:xfrm>
          <a:prstGeom prst="rect">
            <a:avLst/>
          </a:prstGeom>
          <a:solidFill>
            <a:srgbClr val="FAFAFA"/>
          </a:solidFill>
          <a:ln/>
        </p:spPr>
      </p:sp>
      <p:sp>
        <p:nvSpPr>
          <p:cNvPr id="33" name="Text 31"/>
          <p:cNvSpPr/>
          <p:nvPr/>
        </p:nvSpPr>
        <p:spPr>
          <a:xfrm>
            <a:off x="3383280" y="3136392"/>
            <a:ext cx="2011680" cy="347472"/>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Papaya</a:t>
            </a:r>
            <a:endParaRPr lang="en-US" sz="1100" dirty="0"/>
          </a:p>
        </p:txBody>
      </p:sp>
      <p:sp>
        <p:nvSpPr>
          <p:cNvPr id="34" name="Text 32"/>
          <p:cNvSpPr/>
          <p:nvPr/>
        </p:nvSpPr>
        <p:spPr>
          <a:xfrm>
            <a:off x="5394960" y="313639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25.3</a:t>
            </a:r>
            <a:endParaRPr lang="en-US" sz="1100" dirty="0"/>
          </a:p>
        </p:txBody>
      </p:sp>
      <p:sp>
        <p:nvSpPr>
          <p:cNvPr id="35" name="Text 33"/>
          <p:cNvSpPr/>
          <p:nvPr/>
        </p:nvSpPr>
        <p:spPr>
          <a:xfrm>
            <a:off x="6492240" y="313639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2,210</a:t>
            </a:r>
            <a:endParaRPr lang="en-US" sz="1100" dirty="0"/>
          </a:p>
        </p:txBody>
      </p:sp>
      <p:sp>
        <p:nvSpPr>
          <p:cNvPr id="36" name="Text 34"/>
          <p:cNvSpPr/>
          <p:nvPr/>
        </p:nvSpPr>
        <p:spPr>
          <a:xfrm>
            <a:off x="7589520" y="3136392"/>
            <a:ext cx="1097280" cy="347472"/>
          </a:xfrm>
          <a:prstGeom prst="rect">
            <a:avLst/>
          </a:prstGeom>
          <a:noFill/>
          <a:ln/>
        </p:spPr>
        <p:txBody>
          <a:bodyPr wrap="square" lIns="0" tIns="0" rIns="0" bIns="0" rtlCol="0" anchor="ctr"/>
          <a:lstStyle/>
          <a:p>
            <a:pPr algn="ctr" indent="0" marL="0">
              <a:buNone/>
            </a:pPr>
            <a:r>
              <a:rPr lang="en-US" sz="1100" dirty="0">
                <a:solidFill>
                  <a:srgbClr val="FFB3B3"/>
                </a:solidFill>
                <a:latin typeface="Arial" pitchFamily="34" charset="0"/>
                <a:ea typeface="Arial" pitchFamily="34" charset="-122"/>
                <a:cs typeface="Arial" pitchFamily="34" charset="-120"/>
              </a:rPr>
              <a:t>4.8%</a:t>
            </a:r>
            <a:endParaRPr lang="en-US" sz="1100" dirty="0"/>
          </a:p>
        </p:txBody>
      </p:sp>
      <p:sp>
        <p:nvSpPr>
          <p:cNvPr id="37" name="Text 35"/>
          <p:cNvSpPr/>
          <p:nvPr/>
        </p:nvSpPr>
        <p:spPr>
          <a:xfrm>
            <a:off x="3383280" y="3502152"/>
            <a:ext cx="2011680" cy="347472"/>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White Cabbage</a:t>
            </a:r>
            <a:endParaRPr lang="en-US" sz="1100" dirty="0"/>
          </a:p>
        </p:txBody>
      </p:sp>
      <p:sp>
        <p:nvSpPr>
          <p:cNvPr id="38" name="Text 36"/>
          <p:cNvSpPr/>
          <p:nvPr/>
        </p:nvSpPr>
        <p:spPr>
          <a:xfrm>
            <a:off x="5394960" y="350215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77.0</a:t>
            </a:r>
            <a:endParaRPr lang="en-US" sz="1100" dirty="0"/>
          </a:p>
        </p:txBody>
      </p:sp>
      <p:sp>
        <p:nvSpPr>
          <p:cNvPr id="39" name="Text 37"/>
          <p:cNvSpPr/>
          <p:nvPr/>
        </p:nvSpPr>
        <p:spPr>
          <a:xfrm>
            <a:off x="6492240" y="350215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1,386</a:t>
            </a:r>
            <a:endParaRPr lang="en-US" sz="1100" dirty="0"/>
          </a:p>
        </p:txBody>
      </p:sp>
      <p:sp>
        <p:nvSpPr>
          <p:cNvPr id="40" name="Text 38"/>
          <p:cNvSpPr/>
          <p:nvPr/>
        </p:nvSpPr>
        <p:spPr>
          <a:xfrm>
            <a:off x="7589520" y="3502152"/>
            <a:ext cx="1097280" cy="347472"/>
          </a:xfrm>
          <a:prstGeom prst="rect">
            <a:avLst/>
          </a:prstGeom>
          <a:noFill/>
          <a:ln/>
        </p:spPr>
        <p:txBody>
          <a:bodyPr wrap="square" lIns="0" tIns="0" rIns="0" bIns="0" rtlCol="0" anchor="ctr"/>
          <a:lstStyle/>
          <a:p>
            <a:pPr algn="ctr" indent="0" marL="0">
              <a:buNone/>
            </a:pPr>
            <a:r>
              <a:rPr lang="en-US" sz="1100" dirty="0">
                <a:solidFill>
                  <a:srgbClr val="FFCDD2"/>
                </a:solidFill>
                <a:latin typeface="Arial" pitchFamily="34" charset="0"/>
                <a:ea typeface="Arial" pitchFamily="34" charset="-122"/>
                <a:cs typeface="Arial" pitchFamily="34" charset="-120"/>
              </a:rPr>
              <a:t>3.0%</a:t>
            </a:r>
            <a:endParaRPr lang="en-US" sz="1100" dirty="0"/>
          </a:p>
        </p:txBody>
      </p:sp>
      <p:sp>
        <p:nvSpPr>
          <p:cNvPr id="41" name="Shape 39"/>
          <p:cNvSpPr/>
          <p:nvPr/>
        </p:nvSpPr>
        <p:spPr>
          <a:xfrm>
            <a:off x="3383280" y="3867912"/>
            <a:ext cx="5394960" cy="347472"/>
          </a:xfrm>
          <a:prstGeom prst="rect">
            <a:avLst/>
          </a:prstGeom>
          <a:solidFill>
            <a:srgbClr val="FAFAFA"/>
          </a:solidFill>
          <a:ln/>
        </p:spPr>
      </p:sp>
      <p:sp>
        <p:nvSpPr>
          <p:cNvPr id="42" name="Text 40"/>
          <p:cNvSpPr/>
          <p:nvPr/>
        </p:nvSpPr>
        <p:spPr>
          <a:xfrm>
            <a:off x="3383280" y="3867912"/>
            <a:ext cx="2011680" cy="347472"/>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Other 9 items</a:t>
            </a:r>
            <a:endParaRPr lang="en-US" sz="1100" dirty="0"/>
          </a:p>
        </p:txBody>
      </p:sp>
      <p:sp>
        <p:nvSpPr>
          <p:cNvPr id="43" name="Text 41"/>
          <p:cNvSpPr/>
          <p:nvPr/>
        </p:nvSpPr>
        <p:spPr>
          <a:xfrm>
            <a:off x="5394960" y="386791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56.2</a:t>
            </a:r>
            <a:endParaRPr lang="en-US" sz="1100" dirty="0"/>
          </a:p>
        </p:txBody>
      </p:sp>
      <p:sp>
        <p:nvSpPr>
          <p:cNvPr id="44" name="Text 42"/>
          <p:cNvSpPr/>
          <p:nvPr/>
        </p:nvSpPr>
        <p:spPr>
          <a:xfrm>
            <a:off x="6492240" y="3867912"/>
            <a:ext cx="1097280" cy="347472"/>
          </a:xfrm>
          <a:prstGeom prst="rect">
            <a:avLst/>
          </a:prstGeom>
          <a:noFill/>
          <a:ln/>
        </p:spPr>
        <p:txBody>
          <a:bodyPr wrap="square" lIns="0" tIns="0" rIns="0" bIns="0" rtlCol="0" anchor="ctr"/>
          <a:lstStyle/>
          <a:p>
            <a:pPr algn="ctr" indent="0" marL="0">
              <a:buNone/>
            </a:pPr>
            <a:r>
              <a:rPr lang="en-US" sz="1100" dirty="0">
                <a:solidFill>
                  <a:srgbClr val="333333"/>
                </a:solidFill>
                <a:latin typeface="Arial" pitchFamily="34" charset="0"/>
                <a:ea typeface="Arial" pitchFamily="34" charset="-122"/>
                <a:cs typeface="Arial" pitchFamily="34" charset="-120"/>
              </a:rPr>
              <a:t>3,175</a:t>
            </a:r>
            <a:endParaRPr lang="en-US" sz="1100" dirty="0"/>
          </a:p>
        </p:txBody>
      </p:sp>
      <p:sp>
        <p:nvSpPr>
          <p:cNvPr id="45" name="Text 43"/>
          <p:cNvSpPr/>
          <p:nvPr/>
        </p:nvSpPr>
        <p:spPr>
          <a:xfrm>
            <a:off x="7589520" y="3867912"/>
            <a:ext cx="1097280" cy="347472"/>
          </a:xfrm>
          <a:prstGeom prst="rect">
            <a:avLst/>
          </a:prstGeom>
          <a:noFill/>
          <a:ln/>
        </p:spPr>
        <p:txBody>
          <a:bodyPr wrap="square" lIns="0" tIns="0" rIns="0" bIns="0" rtlCol="0" anchor="ctr"/>
          <a:lstStyle/>
          <a:p>
            <a:pPr algn="ctr" indent="0" marL="0">
              <a:buNone/>
            </a:pPr>
            <a:r>
              <a:rPr lang="en-US" sz="1100" dirty="0">
                <a:solidFill>
                  <a:srgbClr val="EF9A9A"/>
                </a:solidFill>
                <a:latin typeface="Arial" pitchFamily="34" charset="0"/>
                <a:ea typeface="Arial" pitchFamily="34" charset="-122"/>
                <a:cs typeface="Arial" pitchFamily="34" charset="-120"/>
              </a:rPr>
              <a:t>7.0%</a:t>
            </a:r>
            <a:endParaRPr lang="en-US" sz="1100" dirty="0"/>
          </a:p>
        </p:txBody>
      </p:sp>
      <p:sp>
        <p:nvSpPr>
          <p:cNvPr id="46" name="Shape 44"/>
          <p:cNvSpPr/>
          <p:nvPr/>
        </p:nvSpPr>
        <p:spPr>
          <a:xfrm>
            <a:off x="548640" y="4297680"/>
            <a:ext cx="8229600" cy="594360"/>
          </a:xfrm>
          <a:prstGeom prst="roundRect">
            <a:avLst>
              <a:gd name="adj" fmla="val 15385"/>
            </a:avLst>
          </a:prstGeom>
          <a:solidFill>
            <a:srgbClr val="FFF5F5"/>
          </a:solidFill>
          <a:ln/>
        </p:spPr>
      </p:sp>
      <p:sp>
        <p:nvSpPr>
          <p:cNvPr id="47" name="Text 45"/>
          <p:cNvSpPr/>
          <p:nvPr/>
        </p:nvSpPr>
        <p:spPr>
          <a:xfrm>
            <a:off x="548640" y="4297680"/>
            <a:ext cx="8229600" cy="594360"/>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 Carrots cause 45.5% of all warehouse losses. Top 3 categories (carrots, tomatoes, avocados) = 75% of losses. Priority: review carrot sourcing immediately.</a:t>
            </a:r>
            <a:endParaRPr lang="en-US" sz="1200" dirty="0"/>
          </a:p>
        </p:txBody>
      </p:sp>
      <p:sp>
        <p:nvSpPr>
          <p:cNvPr id="48" name="Shape 46"/>
          <p:cNvSpPr/>
          <p:nvPr/>
        </p:nvSpPr>
        <p:spPr>
          <a:xfrm>
            <a:off x="8503920" y="4663440"/>
            <a:ext cx="365760" cy="365760"/>
          </a:xfrm>
          <a:prstGeom prst="ellipse">
            <a:avLst/>
          </a:prstGeom>
          <a:solidFill>
            <a:srgbClr val="E53935"/>
          </a:solidFill>
          <a:ln/>
        </p:spPr>
      </p:sp>
      <p:sp>
        <p:nvSpPr>
          <p:cNvPr id="49" name="Text 4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MARGIN ANALYSIS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CP1, CP2, Gross vs Net Margin</a:t>
            </a:r>
            <a:endParaRPr lang="en-US" sz="3000" dirty="0"/>
          </a:p>
        </p:txBody>
      </p:sp>
      <p:sp>
        <p:nvSpPr>
          <p:cNvPr id="5" name="Shape 3"/>
          <p:cNvSpPr/>
          <p:nvPr/>
        </p:nvSpPr>
        <p:spPr>
          <a:xfrm>
            <a:off x="548640" y="1325880"/>
            <a:ext cx="4023360" cy="1371600"/>
          </a:xfrm>
          <a:prstGeom prst="roundRect">
            <a:avLst>
              <a:gd name="adj" fmla="val 8000"/>
            </a:avLst>
          </a:prstGeom>
          <a:solidFill>
            <a:srgbClr val="FFF5F5"/>
          </a:solidFill>
          <a:ln/>
        </p:spPr>
      </p:sp>
      <p:sp>
        <p:nvSpPr>
          <p:cNvPr id="6" name="Shape 4"/>
          <p:cNvSpPr/>
          <p:nvPr/>
        </p:nvSpPr>
        <p:spPr>
          <a:xfrm>
            <a:off x="548640" y="1325880"/>
            <a:ext cx="4023360" cy="45720"/>
          </a:xfrm>
          <a:prstGeom prst="rect">
            <a:avLst/>
          </a:prstGeom>
          <a:solidFill>
            <a:srgbClr val="E53935"/>
          </a:solidFill>
          <a:ln/>
        </p:spPr>
      </p:sp>
      <p:sp>
        <p:nvSpPr>
          <p:cNvPr id="7" name="Text 5"/>
          <p:cNvSpPr/>
          <p:nvPr/>
        </p:nvSpPr>
        <p:spPr>
          <a:xfrm>
            <a:off x="685800" y="1435608"/>
            <a:ext cx="2286000" cy="50292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CP1 — Contribution</a:t>
            </a:r>
            <a:endParaRPr lang="en-US" sz="1300" dirty="0"/>
          </a:p>
          <a:p>
            <a:pPr indent="0" marL="0">
              <a:buNone/>
            </a:pPr>
            <a:r>
              <a:rPr lang="en-US" sz="1300" b="1" dirty="0">
                <a:solidFill>
                  <a:srgbClr val="E53935"/>
                </a:solidFill>
                <a:latin typeface="Arial" pitchFamily="34" charset="0"/>
                <a:ea typeface="Arial" pitchFamily="34" charset="-122"/>
                <a:cs typeface="Arial" pitchFamily="34" charset="-120"/>
              </a:rPr>
              <a:t>Margin Level 1</a:t>
            </a:r>
            <a:endParaRPr lang="en-US" sz="1300" dirty="0"/>
          </a:p>
        </p:txBody>
      </p:sp>
      <p:sp>
        <p:nvSpPr>
          <p:cNvPr id="8" name="Text 6"/>
          <p:cNvSpPr/>
          <p:nvPr/>
        </p:nvSpPr>
        <p:spPr>
          <a:xfrm>
            <a:off x="685800" y="1920240"/>
            <a:ext cx="3657600" cy="274320"/>
          </a:xfrm>
          <a:prstGeom prst="rect">
            <a:avLst/>
          </a:prstGeom>
          <a:noFill/>
          <a:ln/>
        </p:spPr>
        <p:txBody>
          <a:bodyPr wrap="square" lIns="0" tIns="0" rIns="0" bIns="0" rtlCol="0" anchor="ctr"/>
          <a:lstStyle/>
          <a:p>
            <a:pPr indent="0" marL="0">
              <a:buNone/>
            </a:pPr>
            <a:r>
              <a:rPr lang="en-US" sz="1100" i="1" dirty="0">
                <a:solidFill>
                  <a:srgbClr val="666666"/>
                </a:solidFill>
                <a:latin typeface="Arial" pitchFamily="34" charset="0"/>
                <a:ea typeface="Arial" pitchFamily="34" charset="-122"/>
                <a:cs typeface="Arial" pitchFamily="34" charset="-120"/>
              </a:rPr>
              <a:t>Revenue minus direct variable costs</a:t>
            </a:r>
            <a:endParaRPr lang="en-US" sz="1100" dirty="0"/>
          </a:p>
        </p:txBody>
      </p:sp>
      <p:sp>
        <p:nvSpPr>
          <p:cNvPr id="9" name="Text 7"/>
          <p:cNvSpPr/>
          <p:nvPr/>
        </p:nvSpPr>
        <p:spPr>
          <a:xfrm>
            <a:off x="685800" y="2240280"/>
            <a:ext cx="128016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Current</a:t>
            </a:r>
            <a:endParaRPr lang="en-US" sz="800" dirty="0"/>
          </a:p>
        </p:txBody>
      </p:sp>
      <p:sp>
        <p:nvSpPr>
          <p:cNvPr id="10" name="Text 8"/>
          <p:cNvSpPr/>
          <p:nvPr/>
        </p:nvSpPr>
        <p:spPr>
          <a:xfrm>
            <a:off x="685800" y="2404872"/>
            <a:ext cx="1371600" cy="256032"/>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-16.68%</a:t>
            </a:r>
            <a:endParaRPr lang="en-US" sz="1300" dirty="0"/>
          </a:p>
        </p:txBody>
      </p:sp>
      <p:sp>
        <p:nvSpPr>
          <p:cNvPr id="11" name="Text 9"/>
          <p:cNvSpPr/>
          <p:nvPr/>
        </p:nvSpPr>
        <p:spPr>
          <a:xfrm>
            <a:off x="2011680" y="2240280"/>
            <a:ext cx="118872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Target</a:t>
            </a:r>
            <a:endParaRPr lang="en-US" sz="800" dirty="0"/>
          </a:p>
        </p:txBody>
      </p:sp>
      <p:sp>
        <p:nvSpPr>
          <p:cNvPr id="12" name="Text 10"/>
          <p:cNvSpPr/>
          <p:nvPr/>
        </p:nvSpPr>
        <p:spPr>
          <a:xfrm>
            <a:off x="2011680" y="2404872"/>
            <a:ext cx="118872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+5%</a:t>
            </a:r>
            <a:endParaRPr lang="en-US" sz="1300" dirty="0"/>
          </a:p>
        </p:txBody>
      </p:sp>
      <p:sp>
        <p:nvSpPr>
          <p:cNvPr id="13" name="Shape 11"/>
          <p:cNvSpPr/>
          <p:nvPr/>
        </p:nvSpPr>
        <p:spPr>
          <a:xfrm>
            <a:off x="4937760" y="1325880"/>
            <a:ext cx="4023360" cy="1371600"/>
          </a:xfrm>
          <a:prstGeom prst="roundRect">
            <a:avLst>
              <a:gd name="adj" fmla="val 8000"/>
            </a:avLst>
          </a:prstGeom>
          <a:solidFill>
            <a:srgbClr val="FFF5F5"/>
          </a:solidFill>
          <a:ln/>
        </p:spPr>
      </p:sp>
      <p:sp>
        <p:nvSpPr>
          <p:cNvPr id="14" name="Shape 12"/>
          <p:cNvSpPr/>
          <p:nvPr/>
        </p:nvSpPr>
        <p:spPr>
          <a:xfrm>
            <a:off x="4937760" y="1325880"/>
            <a:ext cx="4023360" cy="45720"/>
          </a:xfrm>
          <a:prstGeom prst="rect">
            <a:avLst/>
          </a:prstGeom>
          <a:solidFill>
            <a:srgbClr val="E53935"/>
          </a:solidFill>
          <a:ln/>
        </p:spPr>
      </p:sp>
      <p:sp>
        <p:nvSpPr>
          <p:cNvPr id="15" name="Text 13"/>
          <p:cNvSpPr/>
          <p:nvPr/>
        </p:nvSpPr>
        <p:spPr>
          <a:xfrm>
            <a:off x="5074920" y="1435608"/>
            <a:ext cx="2286000" cy="50292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CP2 — Contribution</a:t>
            </a:r>
            <a:endParaRPr lang="en-US" sz="1300" dirty="0"/>
          </a:p>
          <a:p>
            <a:pPr indent="0" marL="0">
              <a:buNone/>
            </a:pPr>
            <a:r>
              <a:rPr lang="en-US" sz="1300" b="1" dirty="0">
                <a:solidFill>
                  <a:srgbClr val="E53935"/>
                </a:solidFill>
                <a:latin typeface="Arial" pitchFamily="34" charset="0"/>
                <a:ea typeface="Arial" pitchFamily="34" charset="-122"/>
                <a:cs typeface="Arial" pitchFamily="34" charset="-120"/>
              </a:rPr>
              <a:t>Margin Level 2</a:t>
            </a:r>
            <a:endParaRPr lang="en-US" sz="1300" dirty="0"/>
          </a:p>
        </p:txBody>
      </p:sp>
      <p:sp>
        <p:nvSpPr>
          <p:cNvPr id="16" name="Text 14"/>
          <p:cNvSpPr/>
          <p:nvPr/>
        </p:nvSpPr>
        <p:spPr>
          <a:xfrm>
            <a:off x="5074920" y="1920240"/>
            <a:ext cx="3657600" cy="274320"/>
          </a:xfrm>
          <a:prstGeom prst="rect">
            <a:avLst/>
          </a:prstGeom>
          <a:noFill/>
          <a:ln/>
        </p:spPr>
        <p:txBody>
          <a:bodyPr wrap="square" lIns="0" tIns="0" rIns="0" bIns="0" rtlCol="0" anchor="ctr"/>
          <a:lstStyle/>
          <a:p>
            <a:pPr indent="0" marL="0">
              <a:buNone/>
            </a:pPr>
            <a:r>
              <a:rPr lang="en-US" sz="1100" i="1" dirty="0">
                <a:solidFill>
                  <a:srgbClr val="666666"/>
                </a:solidFill>
                <a:latin typeface="Arial" pitchFamily="34" charset="0"/>
                <a:ea typeface="Arial" pitchFamily="34" charset="-122"/>
                <a:cs typeface="Arial" pitchFamily="34" charset="-120"/>
              </a:rPr>
              <a:t>CP1 minus direct fixed costs (delivery, warehouse)</a:t>
            </a:r>
            <a:endParaRPr lang="en-US" sz="1100" dirty="0"/>
          </a:p>
        </p:txBody>
      </p:sp>
      <p:sp>
        <p:nvSpPr>
          <p:cNvPr id="17" name="Text 15"/>
          <p:cNvSpPr/>
          <p:nvPr/>
        </p:nvSpPr>
        <p:spPr>
          <a:xfrm>
            <a:off x="5074920" y="2240280"/>
            <a:ext cx="128016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Current</a:t>
            </a:r>
            <a:endParaRPr lang="en-US" sz="800" dirty="0"/>
          </a:p>
        </p:txBody>
      </p:sp>
      <p:sp>
        <p:nvSpPr>
          <p:cNvPr id="18" name="Text 16"/>
          <p:cNvSpPr/>
          <p:nvPr/>
        </p:nvSpPr>
        <p:spPr>
          <a:xfrm>
            <a:off x="5074920" y="2404872"/>
            <a:ext cx="1371600" cy="256032"/>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Negative</a:t>
            </a:r>
            <a:endParaRPr lang="en-US" sz="1300" dirty="0"/>
          </a:p>
        </p:txBody>
      </p:sp>
      <p:sp>
        <p:nvSpPr>
          <p:cNvPr id="19" name="Text 17"/>
          <p:cNvSpPr/>
          <p:nvPr/>
        </p:nvSpPr>
        <p:spPr>
          <a:xfrm>
            <a:off x="6400800" y="2240280"/>
            <a:ext cx="118872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Target</a:t>
            </a:r>
            <a:endParaRPr lang="en-US" sz="800" dirty="0"/>
          </a:p>
        </p:txBody>
      </p:sp>
      <p:sp>
        <p:nvSpPr>
          <p:cNvPr id="20" name="Text 18"/>
          <p:cNvSpPr/>
          <p:nvPr/>
        </p:nvSpPr>
        <p:spPr>
          <a:xfrm>
            <a:off x="6400800" y="2404872"/>
            <a:ext cx="118872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Positive</a:t>
            </a:r>
            <a:endParaRPr lang="en-US" sz="1300" dirty="0"/>
          </a:p>
        </p:txBody>
      </p:sp>
      <p:sp>
        <p:nvSpPr>
          <p:cNvPr id="21" name="Shape 19"/>
          <p:cNvSpPr/>
          <p:nvPr/>
        </p:nvSpPr>
        <p:spPr>
          <a:xfrm>
            <a:off x="548640" y="2880360"/>
            <a:ext cx="4023360" cy="1371600"/>
          </a:xfrm>
          <a:prstGeom prst="roundRect">
            <a:avLst>
              <a:gd name="adj" fmla="val 8000"/>
            </a:avLst>
          </a:prstGeom>
          <a:solidFill>
            <a:srgbClr val="F8F8F8"/>
          </a:solidFill>
          <a:ln/>
        </p:spPr>
      </p:sp>
      <p:sp>
        <p:nvSpPr>
          <p:cNvPr id="22" name="Shape 20"/>
          <p:cNvSpPr/>
          <p:nvPr/>
        </p:nvSpPr>
        <p:spPr>
          <a:xfrm>
            <a:off x="548640" y="2880360"/>
            <a:ext cx="4023360" cy="45720"/>
          </a:xfrm>
          <a:prstGeom prst="rect">
            <a:avLst/>
          </a:prstGeom>
          <a:solidFill>
            <a:srgbClr val="E53935"/>
          </a:solidFill>
          <a:ln/>
        </p:spPr>
      </p:sp>
      <p:sp>
        <p:nvSpPr>
          <p:cNvPr id="23" name="Text 21"/>
          <p:cNvSpPr/>
          <p:nvPr/>
        </p:nvSpPr>
        <p:spPr>
          <a:xfrm>
            <a:off x="685800" y="2990088"/>
            <a:ext cx="2286000" cy="50292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Gross Margin</a:t>
            </a:r>
            <a:endParaRPr lang="en-US" sz="1300" dirty="0"/>
          </a:p>
        </p:txBody>
      </p:sp>
      <p:sp>
        <p:nvSpPr>
          <p:cNvPr id="24" name="Text 22"/>
          <p:cNvSpPr/>
          <p:nvPr/>
        </p:nvSpPr>
        <p:spPr>
          <a:xfrm>
            <a:off x="685800" y="3474720"/>
            <a:ext cx="3657600" cy="274320"/>
          </a:xfrm>
          <a:prstGeom prst="rect">
            <a:avLst/>
          </a:prstGeom>
          <a:noFill/>
          <a:ln/>
        </p:spPr>
        <p:txBody>
          <a:bodyPr wrap="square" lIns="0" tIns="0" rIns="0" bIns="0" rtlCol="0" anchor="ctr"/>
          <a:lstStyle/>
          <a:p>
            <a:pPr indent="0" marL="0">
              <a:buNone/>
            </a:pPr>
            <a:r>
              <a:rPr lang="en-US" sz="1100" i="1" dirty="0">
                <a:solidFill>
                  <a:srgbClr val="666666"/>
                </a:solidFill>
                <a:latin typeface="Arial" pitchFamily="34" charset="0"/>
                <a:ea typeface="Arial" pitchFamily="34" charset="-122"/>
                <a:cs typeface="Arial" pitchFamily="34" charset="-120"/>
              </a:rPr>
              <a:t>Revenue minus COGS (product cost)</a:t>
            </a:r>
            <a:endParaRPr lang="en-US" sz="1100" dirty="0"/>
          </a:p>
        </p:txBody>
      </p:sp>
      <p:sp>
        <p:nvSpPr>
          <p:cNvPr id="25" name="Text 23"/>
          <p:cNvSpPr/>
          <p:nvPr/>
        </p:nvSpPr>
        <p:spPr>
          <a:xfrm>
            <a:off x="685800" y="3794760"/>
            <a:ext cx="128016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Current</a:t>
            </a:r>
            <a:endParaRPr lang="en-US" sz="800" dirty="0"/>
          </a:p>
        </p:txBody>
      </p:sp>
      <p:sp>
        <p:nvSpPr>
          <p:cNvPr id="26" name="Text 24"/>
          <p:cNvSpPr/>
          <p:nvPr/>
        </p:nvSpPr>
        <p:spPr>
          <a:xfrm>
            <a:off x="685800" y="3959352"/>
            <a:ext cx="1371600" cy="256032"/>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-16.68% Feb</a:t>
            </a:r>
            <a:endParaRPr lang="en-US" sz="1300" dirty="0"/>
          </a:p>
          <a:p>
            <a:pPr indent="0" marL="0">
              <a:buNone/>
            </a:pPr>
            <a:r>
              <a:rPr lang="en-US" sz="1300" b="1" dirty="0">
                <a:solidFill>
                  <a:srgbClr val="E53935"/>
                </a:solidFill>
                <a:latin typeface="Arial" pitchFamily="34" charset="0"/>
                <a:ea typeface="Arial" pitchFamily="34" charset="-122"/>
                <a:cs typeface="Arial" pitchFamily="34" charset="-120"/>
              </a:rPr>
              <a:t>-45.49% Jan</a:t>
            </a:r>
            <a:endParaRPr lang="en-US" sz="1300" dirty="0"/>
          </a:p>
        </p:txBody>
      </p:sp>
      <p:sp>
        <p:nvSpPr>
          <p:cNvPr id="27" name="Text 25"/>
          <p:cNvSpPr/>
          <p:nvPr/>
        </p:nvSpPr>
        <p:spPr>
          <a:xfrm>
            <a:off x="2011680" y="3794760"/>
            <a:ext cx="118872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Target</a:t>
            </a:r>
            <a:endParaRPr lang="en-US" sz="800" dirty="0"/>
          </a:p>
        </p:txBody>
      </p:sp>
      <p:sp>
        <p:nvSpPr>
          <p:cNvPr id="28" name="Text 26"/>
          <p:cNvSpPr/>
          <p:nvPr/>
        </p:nvSpPr>
        <p:spPr>
          <a:xfrm>
            <a:off x="2011680" y="3959352"/>
            <a:ext cx="118872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+15-20%</a:t>
            </a:r>
            <a:endParaRPr lang="en-US" sz="1300" dirty="0"/>
          </a:p>
        </p:txBody>
      </p:sp>
      <p:sp>
        <p:nvSpPr>
          <p:cNvPr id="29" name="Shape 27"/>
          <p:cNvSpPr/>
          <p:nvPr/>
        </p:nvSpPr>
        <p:spPr>
          <a:xfrm>
            <a:off x="4937760" y="2880360"/>
            <a:ext cx="4023360" cy="1371600"/>
          </a:xfrm>
          <a:prstGeom prst="roundRect">
            <a:avLst>
              <a:gd name="adj" fmla="val 8000"/>
            </a:avLst>
          </a:prstGeom>
          <a:solidFill>
            <a:srgbClr val="F8F8F8"/>
          </a:solidFill>
          <a:ln/>
        </p:spPr>
      </p:sp>
      <p:sp>
        <p:nvSpPr>
          <p:cNvPr id="30" name="Shape 28"/>
          <p:cNvSpPr/>
          <p:nvPr/>
        </p:nvSpPr>
        <p:spPr>
          <a:xfrm>
            <a:off x="4937760" y="2880360"/>
            <a:ext cx="4023360" cy="45720"/>
          </a:xfrm>
          <a:prstGeom prst="rect">
            <a:avLst/>
          </a:prstGeom>
          <a:solidFill>
            <a:srgbClr val="E53935"/>
          </a:solidFill>
          <a:ln/>
        </p:spPr>
      </p:sp>
      <p:sp>
        <p:nvSpPr>
          <p:cNvPr id="31" name="Text 29"/>
          <p:cNvSpPr/>
          <p:nvPr/>
        </p:nvSpPr>
        <p:spPr>
          <a:xfrm>
            <a:off x="5074920" y="2990088"/>
            <a:ext cx="2286000" cy="50292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Net Margin</a:t>
            </a:r>
            <a:endParaRPr lang="en-US" sz="1300" dirty="0"/>
          </a:p>
        </p:txBody>
      </p:sp>
      <p:sp>
        <p:nvSpPr>
          <p:cNvPr id="32" name="Text 30"/>
          <p:cNvSpPr/>
          <p:nvPr/>
        </p:nvSpPr>
        <p:spPr>
          <a:xfrm>
            <a:off x="5074920" y="3474720"/>
            <a:ext cx="3657600" cy="274320"/>
          </a:xfrm>
          <a:prstGeom prst="rect">
            <a:avLst/>
          </a:prstGeom>
          <a:noFill/>
          <a:ln/>
        </p:spPr>
        <p:txBody>
          <a:bodyPr wrap="square" lIns="0" tIns="0" rIns="0" bIns="0" rtlCol="0" anchor="ctr"/>
          <a:lstStyle/>
          <a:p>
            <a:pPr indent="0" marL="0">
              <a:buNone/>
            </a:pPr>
            <a:r>
              <a:rPr lang="en-US" sz="1100" i="1" dirty="0">
                <a:solidFill>
                  <a:srgbClr val="666666"/>
                </a:solidFill>
                <a:latin typeface="Arial" pitchFamily="34" charset="0"/>
                <a:ea typeface="Arial" pitchFamily="34" charset="-122"/>
                <a:cs typeface="Arial" pitchFamily="34" charset="-120"/>
              </a:rPr>
              <a:t>After all SG&amp;A (salary, marketing, overhead)</a:t>
            </a:r>
            <a:endParaRPr lang="en-US" sz="1100" dirty="0"/>
          </a:p>
        </p:txBody>
      </p:sp>
      <p:sp>
        <p:nvSpPr>
          <p:cNvPr id="33" name="Text 31"/>
          <p:cNvSpPr/>
          <p:nvPr/>
        </p:nvSpPr>
        <p:spPr>
          <a:xfrm>
            <a:off x="5074920" y="3794760"/>
            <a:ext cx="128016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Current</a:t>
            </a:r>
            <a:endParaRPr lang="en-US" sz="800" dirty="0"/>
          </a:p>
        </p:txBody>
      </p:sp>
      <p:sp>
        <p:nvSpPr>
          <p:cNvPr id="34" name="Text 32"/>
          <p:cNvSpPr/>
          <p:nvPr/>
        </p:nvSpPr>
        <p:spPr>
          <a:xfrm>
            <a:off x="5074920" y="3959352"/>
            <a:ext cx="1371600" cy="256032"/>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Deeply Negative</a:t>
            </a:r>
            <a:endParaRPr lang="en-US" sz="1300" dirty="0"/>
          </a:p>
        </p:txBody>
      </p:sp>
      <p:sp>
        <p:nvSpPr>
          <p:cNvPr id="35" name="Text 33"/>
          <p:cNvSpPr/>
          <p:nvPr/>
        </p:nvSpPr>
        <p:spPr>
          <a:xfrm>
            <a:off x="6400800" y="3794760"/>
            <a:ext cx="1188720" cy="182880"/>
          </a:xfrm>
          <a:prstGeom prst="rect">
            <a:avLst/>
          </a:prstGeom>
          <a:noFill/>
          <a:ln/>
        </p:spPr>
        <p:txBody>
          <a:bodyPr wrap="square" lIns="0" tIns="0" rIns="0" bIns="0" rtlCol="0" anchor="ctr"/>
          <a:lstStyle/>
          <a:p>
            <a:pPr indent="0" marL="0">
              <a:buNone/>
            </a:pPr>
            <a:r>
              <a:rPr lang="en-US" sz="800" b="1" dirty="0">
                <a:solidFill>
                  <a:srgbClr val="888888"/>
                </a:solidFill>
                <a:latin typeface="Arial" pitchFamily="34" charset="0"/>
                <a:ea typeface="Arial" pitchFamily="34" charset="-122"/>
                <a:cs typeface="Arial" pitchFamily="34" charset="-120"/>
              </a:rPr>
              <a:t>Target</a:t>
            </a:r>
            <a:endParaRPr lang="en-US" sz="800" dirty="0"/>
          </a:p>
        </p:txBody>
      </p:sp>
      <p:sp>
        <p:nvSpPr>
          <p:cNvPr id="36" name="Text 34"/>
          <p:cNvSpPr/>
          <p:nvPr/>
        </p:nvSpPr>
        <p:spPr>
          <a:xfrm>
            <a:off x="6400800" y="3959352"/>
            <a:ext cx="1188720" cy="256032"/>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+10%</a:t>
            </a:r>
            <a:endParaRPr lang="en-US" sz="1300" dirty="0"/>
          </a:p>
        </p:txBody>
      </p:sp>
      <p:sp>
        <p:nvSpPr>
          <p:cNvPr id="37" name="Text 35"/>
          <p:cNvSpPr/>
          <p:nvPr/>
        </p:nvSpPr>
        <p:spPr>
          <a:xfrm>
            <a:off x="548640" y="4389120"/>
            <a:ext cx="8229600" cy="274320"/>
          </a:xfrm>
          <a:prstGeom prst="rect">
            <a:avLst/>
          </a:prstGeom>
          <a:noFill/>
          <a:ln/>
        </p:spPr>
        <p:txBody>
          <a:bodyPr wrap="square" lIns="0" tIns="0" rIns="0" bIns="0" rtlCol="0" anchor="ctr"/>
          <a:lstStyle/>
          <a:p>
            <a:pPr indent="0" marL="0">
              <a:buNone/>
            </a:pPr>
            <a:r>
              <a:rPr lang="en-US" sz="1000" b="1" spc="200" kern="0" dirty="0">
                <a:solidFill>
                  <a:srgbClr val="888888"/>
                </a:solidFill>
                <a:latin typeface="Arial" pitchFamily="34" charset="0"/>
                <a:ea typeface="Arial" pitchFamily="34" charset="-122"/>
                <a:cs typeface="Arial" pitchFamily="34" charset="-120"/>
              </a:rPr>
              <a:t>MARGIN WATERFALL (Per KG, February)</a:t>
            </a:r>
            <a:endParaRPr lang="en-US" sz="1000" dirty="0"/>
          </a:p>
        </p:txBody>
      </p:sp>
      <p:sp>
        <p:nvSpPr>
          <p:cNvPr id="38" name="Shape 36"/>
          <p:cNvSpPr/>
          <p:nvPr/>
        </p:nvSpPr>
        <p:spPr>
          <a:xfrm>
            <a:off x="548640" y="4681728"/>
            <a:ext cx="0" cy="228600"/>
          </a:xfrm>
          <a:prstGeom prst="rect">
            <a:avLst/>
          </a:prstGeom>
          <a:solidFill>
            <a:srgbClr val="999999"/>
          </a:solidFill>
          <a:ln/>
        </p:spPr>
      </p:sp>
      <p:sp>
        <p:nvSpPr>
          <p:cNvPr id="39" name="Text 37"/>
          <p:cNvSpPr/>
          <p:nvPr/>
        </p:nvSpPr>
        <p:spPr>
          <a:xfrm>
            <a:off x="548640" y="4681728"/>
            <a:ext cx="1097280" cy="22860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Supplier Buy</a:t>
            </a:r>
            <a:endParaRPr lang="en-US" sz="900" dirty="0"/>
          </a:p>
        </p:txBody>
      </p:sp>
      <p:sp>
        <p:nvSpPr>
          <p:cNvPr id="40" name="Text 38"/>
          <p:cNvSpPr/>
          <p:nvPr/>
        </p:nvSpPr>
        <p:spPr>
          <a:xfrm>
            <a:off x="1371600" y="4681728"/>
            <a:ext cx="365760" cy="228600"/>
          </a:xfrm>
          <a:prstGeom prst="rect">
            <a:avLst/>
          </a:prstGeom>
          <a:noFill/>
          <a:ln/>
        </p:spPr>
        <p:txBody>
          <a:bodyPr wrap="square" lIns="0" tIns="0" rIns="0" bIns="0" rtlCol="0" anchor="ctr"/>
          <a:lstStyle/>
          <a:p>
            <a:pPr indent="0" marL="0">
              <a:buNone/>
            </a:pPr>
            <a:r>
              <a:rPr lang="en-US" sz="900" b="1" dirty="0">
                <a:solidFill>
                  <a:srgbClr val="E53935"/>
                </a:solidFill>
                <a:latin typeface="Arial" pitchFamily="34" charset="0"/>
                <a:ea typeface="Arial" pitchFamily="34" charset="-122"/>
                <a:cs typeface="Arial" pitchFamily="34" charset="-120"/>
              </a:rPr>
              <a:t>40 ETB</a:t>
            </a:r>
            <a:endParaRPr lang="en-US" sz="900" dirty="0"/>
          </a:p>
        </p:txBody>
      </p:sp>
      <p:sp>
        <p:nvSpPr>
          <p:cNvPr id="41" name="Shape 39"/>
          <p:cNvSpPr/>
          <p:nvPr/>
        </p:nvSpPr>
        <p:spPr>
          <a:xfrm>
            <a:off x="2103120" y="4681728"/>
            <a:ext cx="0" cy="228600"/>
          </a:xfrm>
          <a:prstGeom prst="rect">
            <a:avLst/>
          </a:prstGeom>
          <a:solidFill>
            <a:srgbClr val="E53935"/>
          </a:solidFill>
          <a:ln/>
        </p:spPr>
      </p:sp>
      <p:sp>
        <p:nvSpPr>
          <p:cNvPr id="42" name="Text 40"/>
          <p:cNvSpPr/>
          <p:nvPr/>
        </p:nvSpPr>
        <p:spPr>
          <a:xfrm>
            <a:off x="2103120" y="4681728"/>
            <a:ext cx="1097280" cy="228600"/>
          </a:xfrm>
          <a:prstGeom prst="rect">
            <a:avLst/>
          </a:prstGeom>
          <a:noFill/>
          <a:ln/>
        </p:spPr>
        <p:txBody>
          <a:bodyPr wrap="square" lIns="0" tIns="0" rIns="0" bIns="0" rtlCol="0" anchor="ctr"/>
          <a:lstStyle/>
          <a:p>
            <a:pPr indent="0" marL="0">
              <a:buNone/>
            </a:pPr>
            <a:r>
              <a:rPr lang="en-US" sz="900" dirty="0">
                <a:solidFill>
                  <a:srgbClr val="E53935"/>
                </a:solidFill>
                <a:latin typeface="Arial" pitchFamily="34" charset="0"/>
                <a:ea typeface="Arial" pitchFamily="34" charset="-122"/>
                <a:cs typeface="Arial" pitchFamily="34" charset="-120"/>
              </a:rPr>
              <a:t>Sell Price</a:t>
            </a:r>
            <a:endParaRPr lang="en-US" sz="900" dirty="0"/>
          </a:p>
        </p:txBody>
      </p:sp>
      <p:sp>
        <p:nvSpPr>
          <p:cNvPr id="43" name="Text 41"/>
          <p:cNvSpPr/>
          <p:nvPr/>
        </p:nvSpPr>
        <p:spPr>
          <a:xfrm>
            <a:off x="2743200" y="4681728"/>
            <a:ext cx="365760" cy="228600"/>
          </a:xfrm>
          <a:prstGeom prst="rect">
            <a:avLst/>
          </a:prstGeom>
          <a:noFill/>
          <a:ln/>
        </p:spPr>
        <p:txBody>
          <a:bodyPr wrap="square" lIns="0" tIns="0" rIns="0" bIns="0" rtlCol="0" anchor="ctr"/>
          <a:lstStyle/>
          <a:p>
            <a:pPr indent="0" marL="0">
              <a:buNone/>
            </a:pPr>
            <a:r>
              <a:rPr lang="en-US" sz="900" b="1" dirty="0">
                <a:solidFill>
                  <a:srgbClr val="E53935"/>
                </a:solidFill>
                <a:latin typeface="Arial" pitchFamily="34" charset="0"/>
                <a:ea typeface="Arial" pitchFamily="34" charset="-122"/>
                <a:cs typeface="Arial" pitchFamily="34" charset="-120"/>
              </a:rPr>
              <a:t>46 ETB</a:t>
            </a:r>
            <a:endParaRPr lang="en-US" sz="900" dirty="0"/>
          </a:p>
        </p:txBody>
      </p:sp>
      <p:sp>
        <p:nvSpPr>
          <p:cNvPr id="44" name="Shape 42"/>
          <p:cNvSpPr/>
          <p:nvPr/>
        </p:nvSpPr>
        <p:spPr>
          <a:xfrm>
            <a:off x="3657600" y="4681728"/>
            <a:ext cx="1371600" cy="228600"/>
          </a:xfrm>
          <a:prstGeom prst="rect">
            <a:avLst/>
          </a:prstGeom>
          <a:solidFill>
            <a:srgbClr val="F8F8F8"/>
          </a:solidFill>
          <a:ln/>
        </p:spPr>
      </p:sp>
      <p:sp>
        <p:nvSpPr>
          <p:cNvPr id="45" name="Text 43"/>
          <p:cNvSpPr/>
          <p:nvPr/>
        </p:nvSpPr>
        <p:spPr>
          <a:xfrm>
            <a:off x="3657600" y="4681728"/>
            <a:ext cx="1097280" cy="228600"/>
          </a:xfrm>
          <a:prstGeom prst="rect">
            <a:avLst/>
          </a:prstGeom>
          <a:noFill/>
          <a:ln/>
        </p:spPr>
        <p:txBody>
          <a:bodyPr wrap="square" lIns="0" tIns="0" rIns="0" bIns="0" rtlCol="0" anchor="ctr"/>
          <a:lstStyle/>
          <a:p>
            <a:pPr indent="0" marL="0">
              <a:buNone/>
            </a:pPr>
            <a:r>
              <a:rPr lang="en-US" sz="900" dirty="0">
                <a:solidFill>
                  <a:srgbClr val="E53935"/>
                </a:solidFill>
                <a:latin typeface="Arial" pitchFamily="34" charset="0"/>
                <a:ea typeface="Arial" pitchFamily="34" charset="-122"/>
                <a:cs typeface="Arial" pitchFamily="34" charset="-120"/>
              </a:rPr>
              <a:t>Total Spread</a:t>
            </a:r>
            <a:endParaRPr lang="en-US" sz="900" dirty="0"/>
          </a:p>
        </p:txBody>
      </p:sp>
      <p:sp>
        <p:nvSpPr>
          <p:cNvPr id="46" name="Text 44"/>
          <p:cNvSpPr/>
          <p:nvPr/>
        </p:nvSpPr>
        <p:spPr>
          <a:xfrm>
            <a:off x="4297680" y="4681728"/>
            <a:ext cx="365760" cy="228600"/>
          </a:xfrm>
          <a:prstGeom prst="rect">
            <a:avLst/>
          </a:prstGeom>
          <a:noFill/>
          <a:ln/>
        </p:spPr>
        <p:txBody>
          <a:bodyPr wrap="square" lIns="0" tIns="0" rIns="0" bIns="0" rtlCol="0" anchor="ctr"/>
          <a:lstStyle/>
          <a:p>
            <a:pPr indent="0" marL="0">
              <a:buNone/>
            </a:pPr>
            <a:r>
              <a:rPr lang="en-US" sz="900" b="1" dirty="0">
                <a:solidFill>
                  <a:srgbClr val="E53935"/>
                </a:solidFill>
                <a:latin typeface="Arial" pitchFamily="34" charset="0"/>
                <a:ea typeface="Arial" pitchFamily="34" charset="-122"/>
                <a:cs typeface="Arial" pitchFamily="34" charset="-120"/>
              </a:rPr>
              <a:t>6 ETB</a:t>
            </a:r>
            <a:endParaRPr lang="en-US" sz="900" dirty="0"/>
          </a:p>
        </p:txBody>
      </p:sp>
      <p:sp>
        <p:nvSpPr>
          <p:cNvPr id="47" name="Shape 45"/>
          <p:cNvSpPr/>
          <p:nvPr/>
        </p:nvSpPr>
        <p:spPr>
          <a:xfrm>
            <a:off x="5212080" y="4681728"/>
            <a:ext cx="1371600" cy="228600"/>
          </a:xfrm>
          <a:prstGeom prst="rect">
            <a:avLst/>
          </a:prstGeom>
          <a:solidFill>
            <a:srgbClr val="F8F8F8"/>
          </a:solidFill>
          <a:ln/>
        </p:spPr>
      </p:sp>
      <p:sp>
        <p:nvSpPr>
          <p:cNvPr id="48" name="Text 46"/>
          <p:cNvSpPr/>
          <p:nvPr/>
        </p:nvSpPr>
        <p:spPr>
          <a:xfrm>
            <a:off x="5212080" y="4681728"/>
            <a:ext cx="1097280" cy="22860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SL/Captain</a:t>
            </a:r>
            <a:endParaRPr lang="en-US" sz="900" dirty="0"/>
          </a:p>
        </p:txBody>
      </p:sp>
      <p:sp>
        <p:nvSpPr>
          <p:cNvPr id="49" name="Text 47"/>
          <p:cNvSpPr/>
          <p:nvPr/>
        </p:nvSpPr>
        <p:spPr>
          <a:xfrm>
            <a:off x="6035040" y="4681728"/>
            <a:ext cx="365760" cy="228600"/>
          </a:xfrm>
          <a:prstGeom prst="rect">
            <a:avLst/>
          </a:prstGeom>
          <a:noFill/>
          <a:ln/>
        </p:spPr>
        <p:txBody>
          <a:bodyPr wrap="square" lIns="0" tIns="0" rIns="0" bIns="0" rtlCol="0" anchor="ctr"/>
          <a:lstStyle/>
          <a:p>
            <a:pPr indent="0" marL="0">
              <a:buNone/>
            </a:pPr>
            <a:r>
              <a:rPr lang="en-US" sz="900" b="1" dirty="0">
                <a:solidFill>
                  <a:srgbClr val="E53935"/>
                </a:solidFill>
                <a:latin typeface="Arial" pitchFamily="34" charset="0"/>
                <a:ea typeface="Arial" pitchFamily="34" charset="-122"/>
                <a:cs typeface="Arial" pitchFamily="34" charset="-120"/>
              </a:rPr>
              <a:t>-3 ETB</a:t>
            </a:r>
            <a:endParaRPr lang="en-US" sz="900" dirty="0"/>
          </a:p>
        </p:txBody>
      </p:sp>
      <p:sp>
        <p:nvSpPr>
          <p:cNvPr id="50" name="Shape 48"/>
          <p:cNvSpPr/>
          <p:nvPr/>
        </p:nvSpPr>
        <p:spPr>
          <a:xfrm>
            <a:off x="6766560" y="4681728"/>
            <a:ext cx="1371600" cy="228600"/>
          </a:xfrm>
          <a:prstGeom prst="rect">
            <a:avLst/>
          </a:prstGeom>
          <a:solidFill>
            <a:srgbClr val="1A1A1A"/>
          </a:solidFill>
          <a:ln/>
        </p:spPr>
      </p:sp>
      <p:sp>
        <p:nvSpPr>
          <p:cNvPr id="51" name="Text 49"/>
          <p:cNvSpPr/>
          <p:nvPr/>
        </p:nvSpPr>
        <p:spPr>
          <a:xfrm>
            <a:off x="6766560" y="4681728"/>
            <a:ext cx="1097280" cy="22860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ChipChip Net</a:t>
            </a:r>
            <a:endParaRPr lang="en-US" sz="900" dirty="0"/>
          </a:p>
        </p:txBody>
      </p:sp>
      <p:sp>
        <p:nvSpPr>
          <p:cNvPr id="52" name="Text 50"/>
          <p:cNvSpPr/>
          <p:nvPr/>
        </p:nvSpPr>
        <p:spPr>
          <a:xfrm>
            <a:off x="7589520" y="4681728"/>
            <a:ext cx="365760" cy="228600"/>
          </a:xfrm>
          <a:prstGeom prst="rect">
            <a:avLst/>
          </a:prstGeom>
          <a:noFill/>
          <a:ln/>
        </p:spPr>
        <p:txBody>
          <a:bodyPr wrap="square" lIns="0" tIns="0" rIns="0" bIns="0" rtlCol="0" anchor="ctr"/>
          <a:lstStyle/>
          <a:p>
            <a:pPr indent="0" marL="0">
              <a:buNone/>
            </a:pPr>
            <a:r>
              <a:rPr lang="en-US" sz="900" b="1" dirty="0">
                <a:solidFill>
                  <a:srgbClr val="E53935"/>
                </a:solidFill>
                <a:latin typeface="Arial" pitchFamily="34" charset="0"/>
                <a:ea typeface="Arial" pitchFamily="34" charset="-122"/>
                <a:cs typeface="Arial" pitchFamily="34" charset="-120"/>
              </a:rPr>
              <a:t>~2 ETB</a:t>
            </a:r>
            <a:endParaRPr lang="en-US" sz="900" dirty="0"/>
          </a:p>
        </p:txBody>
      </p:sp>
      <p:sp>
        <p:nvSpPr>
          <p:cNvPr id="53" name="Shape 51"/>
          <p:cNvSpPr/>
          <p:nvPr/>
        </p:nvSpPr>
        <p:spPr>
          <a:xfrm>
            <a:off x="8503920" y="4663440"/>
            <a:ext cx="365760" cy="365760"/>
          </a:xfrm>
          <a:prstGeom prst="ellipse">
            <a:avLst/>
          </a:prstGeom>
          <a:solidFill>
            <a:srgbClr val="E53935"/>
          </a:solidFill>
          <a:ln/>
        </p:spPr>
      </p:sp>
      <p:sp>
        <p:nvSpPr>
          <p:cNvPr id="54" name="Text 52"/>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COMPETITIVE LANDSCAPE</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Ethiopian Food Market Analysis</a:t>
            </a:r>
            <a:endParaRPr lang="en-US" sz="3000" dirty="0"/>
          </a:p>
        </p:txBody>
      </p:sp>
      <p:sp>
        <p:nvSpPr>
          <p:cNvPr id="5" name="Shape 3"/>
          <p:cNvSpPr/>
          <p:nvPr/>
        </p:nvSpPr>
        <p:spPr>
          <a:xfrm>
            <a:off x="548640" y="1280160"/>
            <a:ext cx="2926080" cy="365760"/>
          </a:xfrm>
          <a:prstGeom prst="rect">
            <a:avLst/>
          </a:prstGeom>
          <a:solidFill>
            <a:srgbClr val="E53935"/>
          </a:solidFill>
          <a:ln/>
        </p:spPr>
      </p:sp>
      <p:sp>
        <p:nvSpPr>
          <p:cNvPr id="6" name="Text 4"/>
          <p:cNvSpPr/>
          <p:nvPr/>
        </p:nvSpPr>
        <p:spPr>
          <a:xfrm>
            <a:off x="548640" y="1280160"/>
            <a:ext cx="29260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Dimension</a:t>
            </a:r>
            <a:endParaRPr lang="en-US" sz="1000" dirty="0"/>
          </a:p>
        </p:txBody>
      </p:sp>
      <p:sp>
        <p:nvSpPr>
          <p:cNvPr id="7" name="Shape 5"/>
          <p:cNvSpPr/>
          <p:nvPr/>
        </p:nvSpPr>
        <p:spPr>
          <a:xfrm>
            <a:off x="3474720" y="1280160"/>
            <a:ext cx="2011680" cy="365760"/>
          </a:xfrm>
          <a:prstGeom prst="rect">
            <a:avLst/>
          </a:prstGeom>
          <a:solidFill>
            <a:srgbClr val="1A1A1A"/>
          </a:solidFill>
          <a:ln/>
        </p:spPr>
      </p:sp>
      <p:sp>
        <p:nvSpPr>
          <p:cNvPr id="8" name="Text 6"/>
          <p:cNvSpPr/>
          <p:nvPr/>
        </p:nvSpPr>
        <p:spPr>
          <a:xfrm>
            <a:off x="3474720" y="128016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ChipChip</a:t>
            </a:r>
            <a:endParaRPr lang="en-US" sz="1000" dirty="0"/>
          </a:p>
        </p:txBody>
      </p:sp>
      <p:sp>
        <p:nvSpPr>
          <p:cNvPr id="9" name="Shape 7"/>
          <p:cNvSpPr/>
          <p:nvPr/>
        </p:nvSpPr>
        <p:spPr>
          <a:xfrm>
            <a:off x="5486400" y="1280160"/>
            <a:ext cx="2011680" cy="365760"/>
          </a:xfrm>
          <a:prstGeom prst="rect">
            <a:avLst/>
          </a:prstGeom>
          <a:solidFill>
            <a:srgbClr val="1A1A1A"/>
          </a:solidFill>
          <a:ln/>
        </p:spPr>
      </p:sp>
      <p:sp>
        <p:nvSpPr>
          <p:cNvPr id="10" name="Text 8"/>
          <p:cNvSpPr/>
          <p:nvPr/>
        </p:nvSpPr>
        <p:spPr>
          <a:xfrm>
            <a:off x="5486400" y="1280160"/>
            <a:ext cx="20116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Traditional Market</a:t>
            </a:r>
            <a:endParaRPr lang="en-US" sz="1000" dirty="0"/>
          </a:p>
        </p:txBody>
      </p:sp>
      <p:sp>
        <p:nvSpPr>
          <p:cNvPr id="11" name="Shape 9"/>
          <p:cNvSpPr/>
          <p:nvPr/>
        </p:nvSpPr>
        <p:spPr>
          <a:xfrm>
            <a:off x="7498080" y="1280160"/>
            <a:ext cx="1828800" cy="365760"/>
          </a:xfrm>
          <a:prstGeom prst="rect">
            <a:avLst/>
          </a:prstGeom>
          <a:solidFill>
            <a:srgbClr val="1A1A1A"/>
          </a:solidFill>
          <a:ln/>
        </p:spPr>
      </p:sp>
      <p:sp>
        <p:nvSpPr>
          <p:cNvPr id="12" name="Text 10"/>
          <p:cNvSpPr/>
          <p:nvPr/>
        </p:nvSpPr>
        <p:spPr>
          <a:xfrm>
            <a:off x="7498080" y="1280160"/>
            <a:ext cx="18288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Delivery Platforms</a:t>
            </a:r>
            <a:endParaRPr lang="en-US" sz="1000" dirty="0"/>
          </a:p>
        </p:txBody>
      </p:sp>
      <p:sp>
        <p:nvSpPr>
          <p:cNvPr id="13" name="Shape 11"/>
          <p:cNvSpPr/>
          <p:nvPr/>
        </p:nvSpPr>
        <p:spPr>
          <a:xfrm>
            <a:off x="548640" y="1691640"/>
            <a:ext cx="2926080" cy="420624"/>
          </a:xfrm>
          <a:prstGeom prst="rect">
            <a:avLst/>
          </a:prstGeom>
          <a:solidFill>
            <a:srgbClr val="FAFAFA"/>
          </a:solidFill>
          <a:ln/>
        </p:spPr>
      </p:sp>
      <p:sp>
        <p:nvSpPr>
          <p:cNvPr id="14" name="Text 12"/>
          <p:cNvSpPr/>
          <p:nvPr/>
        </p:nvSpPr>
        <p:spPr>
          <a:xfrm>
            <a:off x="548640" y="1691640"/>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Model</a:t>
            </a:r>
            <a:endParaRPr lang="en-US" sz="1000" dirty="0"/>
          </a:p>
        </p:txBody>
      </p:sp>
      <p:sp>
        <p:nvSpPr>
          <p:cNvPr id="15" name="Shape 13"/>
          <p:cNvSpPr/>
          <p:nvPr/>
        </p:nvSpPr>
        <p:spPr>
          <a:xfrm>
            <a:off x="3474720" y="1691640"/>
            <a:ext cx="2011680" cy="420624"/>
          </a:xfrm>
          <a:prstGeom prst="rect">
            <a:avLst/>
          </a:prstGeom>
          <a:solidFill>
            <a:srgbClr val="FAFAFA"/>
          </a:solidFill>
          <a:ln/>
        </p:spPr>
      </p:sp>
      <p:sp>
        <p:nvSpPr>
          <p:cNvPr id="16" name="Text 14"/>
          <p:cNvSpPr/>
          <p:nvPr/>
        </p:nvSpPr>
        <p:spPr>
          <a:xfrm>
            <a:off x="3474720" y="1691640"/>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Asset-light</a:t>
            </a:r>
            <a:endParaRPr lang="en-US" sz="1000" dirty="0"/>
          </a:p>
          <a:p>
            <a:pPr algn="ctr" indent="0" marL="0">
              <a:buNone/>
            </a:pPr>
            <a:r>
              <a:rPr lang="en-US" sz="1000" b="1" dirty="0">
                <a:solidFill>
                  <a:srgbClr val="1A1A1A"/>
                </a:solidFill>
                <a:latin typeface="Arial" pitchFamily="34" charset="0"/>
                <a:ea typeface="Arial" pitchFamily="34" charset="-122"/>
                <a:cs typeface="Arial" pitchFamily="34" charset="-120"/>
              </a:rPr>
              <a:t>Marketplace</a:t>
            </a:r>
            <a:endParaRPr lang="en-US" sz="1000" dirty="0"/>
          </a:p>
        </p:txBody>
      </p:sp>
      <p:sp>
        <p:nvSpPr>
          <p:cNvPr id="17" name="Shape 15"/>
          <p:cNvSpPr/>
          <p:nvPr/>
        </p:nvSpPr>
        <p:spPr>
          <a:xfrm>
            <a:off x="5486400" y="1691640"/>
            <a:ext cx="2011680" cy="420624"/>
          </a:xfrm>
          <a:prstGeom prst="rect">
            <a:avLst/>
          </a:prstGeom>
          <a:solidFill>
            <a:srgbClr val="FAFAFA"/>
          </a:solidFill>
          <a:ln/>
        </p:spPr>
      </p:sp>
      <p:sp>
        <p:nvSpPr>
          <p:cNvPr id="18" name="Text 16"/>
          <p:cNvSpPr/>
          <p:nvPr/>
        </p:nvSpPr>
        <p:spPr>
          <a:xfrm>
            <a:off x="5486400" y="1691640"/>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Fragmented</a:t>
            </a:r>
            <a:endParaRPr lang="en-US" sz="1000" dirty="0"/>
          </a:p>
          <a:p>
            <a:pPr algn="l" indent="0" marL="0">
              <a:buNone/>
            </a:pPr>
            <a:r>
              <a:rPr lang="en-US" sz="1000" dirty="0">
                <a:solidFill>
                  <a:srgbClr val="666666"/>
                </a:solidFill>
                <a:latin typeface="Arial" pitchFamily="34" charset="0"/>
                <a:ea typeface="Arial" pitchFamily="34" charset="-122"/>
                <a:cs typeface="Arial" pitchFamily="34" charset="-120"/>
              </a:rPr>
              <a:t>Middlemen</a:t>
            </a:r>
            <a:endParaRPr lang="en-US" sz="1000" dirty="0"/>
          </a:p>
        </p:txBody>
      </p:sp>
      <p:sp>
        <p:nvSpPr>
          <p:cNvPr id="19" name="Shape 17"/>
          <p:cNvSpPr/>
          <p:nvPr/>
        </p:nvSpPr>
        <p:spPr>
          <a:xfrm>
            <a:off x="7498080" y="1691640"/>
            <a:ext cx="1828800" cy="420624"/>
          </a:xfrm>
          <a:prstGeom prst="rect">
            <a:avLst/>
          </a:prstGeom>
          <a:solidFill>
            <a:srgbClr val="FAFAFA"/>
          </a:solidFill>
          <a:ln/>
        </p:spPr>
      </p:sp>
      <p:sp>
        <p:nvSpPr>
          <p:cNvPr id="20" name="Text 18"/>
          <p:cNvSpPr/>
          <p:nvPr/>
        </p:nvSpPr>
        <p:spPr>
          <a:xfrm>
            <a:off x="7498080" y="1691640"/>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Warehouse-heavy</a:t>
            </a:r>
            <a:endParaRPr lang="en-US" sz="1000" dirty="0"/>
          </a:p>
        </p:txBody>
      </p:sp>
      <p:sp>
        <p:nvSpPr>
          <p:cNvPr id="21" name="Shape 19"/>
          <p:cNvSpPr/>
          <p:nvPr/>
        </p:nvSpPr>
        <p:spPr>
          <a:xfrm>
            <a:off x="548640" y="2130552"/>
            <a:ext cx="2926080" cy="420624"/>
          </a:xfrm>
          <a:prstGeom prst="rect">
            <a:avLst/>
          </a:prstGeom>
          <a:solidFill>
            <a:srgbClr val="FFFFFF"/>
          </a:solidFill>
          <a:ln/>
        </p:spPr>
      </p:sp>
      <p:sp>
        <p:nvSpPr>
          <p:cNvPr id="22" name="Text 20"/>
          <p:cNvSpPr/>
          <p:nvPr/>
        </p:nvSpPr>
        <p:spPr>
          <a:xfrm>
            <a:off x="548640" y="2130552"/>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Pricing</a:t>
            </a:r>
            <a:endParaRPr lang="en-US" sz="1000" dirty="0"/>
          </a:p>
        </p:txBody>
      </p:sp>
      <p:sp>
        <p:nvSpPr>
          <p:cNvPr id="23" name="Shape 21"/>
          <p:cNvSpPr/>
          <p:nvPr/>
        </p:nvSpPr>
        <p:spPr>
          <a:xfrm>
            <a:off x="3474720" y="2130552"/>
            <a:ext cx="2011680" cy="420624"/>
          </a:xfrm>
          <a:prstGeom prst="rect">
            <a:avLst/>
          </a:prstGeom>
          <a:solidFill>
            <a:srgbClr val="FFFFFF"/>
          </a:solidFill>
          <a:ln/>
        </p:spPr>
      </p:sp>
      <p:sp>
        <p:nvSpPr>
          <p:cNvPr id="24" name="Text 22"/>
          <p:cNvSpPr/>
          <p:nvPr/>
        </p:nvSpPr>
        <p:spPr>
          <a:xfrm>
            <a:off x="3474720" y="2130552"/>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Algorithmic</a:t>
            </a:r>
            <a:endParaRPr lang="en-US" sz="1000" dirty="0"/>
          </a:p>
          <a:p>
            <a:pPr algn="ctr" indent="0" marL="0">
              <a:buNone/>
            </a:pPr>
            <a:r>
              <a:rPr lang="en-US" sz="1000" b="1" dirty="0">
                <a:solidFill>
                  <a:srgbClr val="1A1A1A"/>
                </a:solidFill>
                <a:latin typeface="Arial" pitchFamily="34" charset="0"/>
                <a:ea typeface="Arial" pitchFamily="34" charset="-122"/>
                <a:cs typeface="Arial" pitchFamily="34" charset="-120"/>
              </a:rPr>
              <a:t>Discipline-driven</a:t>
            </a:r>
            <a:endParaRPr lang="en-US" sz="1000" dirty="0"/>
          </a:p>
        </p:txBody>
      </p:sp>
      <p:sp>
        <p:nvSpPr>
          <p:cNvPr id="25" name="Shape 23"/>
          <p:cNvSpPr/>
          <p:nvPr/>
        </p:nvSpPr>
        <p:spPr>
          <a:xfrm>
            <a:off x="5486400" y="2130552"/>
            <a:ext cx="2011680" cy="420624"/>
          </a:xfrm>
          <a:prstGeom prst="rect">
            <a:avLst/>
          </a:prstGeom>
          <a:solidFill>
            <a:srgbClr val="FFFFFF"/>
          </a:solidFill>
          <a:ln/>
        </p:spPr>
      </p:sp>
      <p:sp>
        <p:nvSpPr>
          <p:cNvPr id="26" name="Text 24"/>
          <p:cNvSpPr/>
          <p:nvPr/>
        </p:nvSpPr>
        <p:spPr>
          <a:xfrm>
            <a:off x="5486400" y="2130552"/>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Negotiation-based</a:t>
            </a:r>
            <a:endParaRPr lang="en-US" sz="1000" dirty="0"/>
          </a:p>
        </p:txBody>
      </p:sp>
      <p:sp>
        <p:nvSpPr>
          <p:cNvPr id="27" name="Shape 25"/>
          <p:cNvSpPr/>
          <p:nvPr/>
        </p:nvSpPr>
        <p:spPr>
          <a:xfrm>
            <a:off x="7498080" y="2130552"/>
            <a:ext cx="1828800" cy="420624"/>
          </a:xfrm>
          <a:prstGeom prst="rect">
            <a:avLst/>
          </a:prstGeom>
          <a:solidFill>
            <a:srgbClr val="FFFFFF"/>
          </a:solidFill>
          <a:ln/>
        </p:spPr>
      </p:sp>
      <p:sp>
        <p:nvSpPr>
          <p:cNvPr id="28" name="Text 26"/>
          <p:cNvSpPr/>
          <p:nvPr/>
        </p:nvSpPr>
        <p:spPr>
          <a:xfrm>
            <a:off x="7498080" y="2130552"/>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Fixed Markup</a:t>
            </a:r>
            <a:endParaRPr lang="en-US" sz="1000" dirty="0"/>
          </a:p>
        </p:txBody>
      </p:sp>
      <p:sp>
        <p:nvSpPr>
          <p:cNvPr id="29" name="Shape 27"/>
          <p:cNvSpPr/>
          <p:nvPr/>
        </p:nvSpPr>
        <p:spPr>
          <a:xfrm>
            <a:off x="548640" y="2569464"/>
            <a:ext cx="2926080" cy="420624"/>
          </a:xfrm>
          <a:prstGeom prst="rect">
            <a:avLst/>
          </a:prstGeom>
          <a:solidFill>
            <a:srgbClr val="FAFAFA"/>
          </a:solidFill>
          <a:ln/>
        </p:spPr>
      </p:sp>
      <p:sp>
        <p:nvSpPr>
          <p:cNvPr id="30" name="Text 28"/>
          <p:cNvSpPr/>
          <p:nvPr/>
        </p:nvSpPr>
        <p:spPr>
          <a:xfrm>
            <a:off x="548640" y="2569464"/>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Aggregation</a:t>
            </a:r>
            <a:endParaRPr lang="en-US" sz="1000" dirty="0"/>
          </a:p>
        </p:txBody>
      </p:sp>
      <p:sp>
        <p:nvSpPr>
          <p:cNvPr id="31" name="Shape 29"/>
          <p:cNvSpPr/>
          <p:nvPr/>
        </p:nvSpPr>
        <p:spPr>
          <a:xfrm>
            <a:off x="3474720" y="2569464"/>
            <a:ext cx="2011680" cy="420624"/>
          </a:xfrm>
          <a:prstGeom prst="rect">
            <a:avLst/>
          </a:prstGeom>
          <a:solidFill>
            <a:srgbClr val="FAFAFA"/>
          </a:solidFill>
          <a:ln/>
        </p:spPr>
      </p:sp>
      <p:sp>
        <p:nvSpPr>
          <p:cNvPr id="32" name="Text 30"/>
          <p:cNvSpPr/>
          <p:nvPr/>
        </p:nvSpPr>
        <p:spPr>
          <a:xfrm>
            <a:off x="3474720" y="2569464"/>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SGL Network</a:t>
            </a:r>
            <a:endParaRPr lang="en-US" sz="1000" dirty="0"/>
          </a:p>
          <a:p>
            <a:pPr algn="ctr" indent="0" marL="0">
              <a:buNone/>
            </a:pPr>
            <a:r>
              <a:rPr lang="en-US" sz="1000" b="1" dirty="0">
                <a:solidFill>
                  <a:srgbClr val="1A1A1A"/>
                </a:solidFill>
                <a:latin typeface="Arial" pitchFamily="34" charset="0"/>
                <a:ea typeface="Arial" pitchFamily="34" charset="-122"/>
                <a:cs typeface="Arial" pitchFamily="34" charset="-120"/>
              </a:rPr>
              <a:t>Community-based</a:t>
            </a:r>
            <a:endParaRPr lang="en-US" sz="1000" dirty="0"/>
          </a:p>
        </p:txBody>
      </p:sp>
      <p:sp>
        <p:nvSpPr>
          <p:cNvPr id="33" name="Shape 31"/>
          <p:cNvSpPr/>
          <p:nvPr/>
        </p:nvSpPr>
        <p:spPr>
          <a:xfrm>
            <a:off x="5486400" y="2569464"/>
            <a:ext cx="2011680" cy="420624"/>
          </a:xfrm>
          <a:prstGeom prst="rect">
            <a:avLst/>
          </a:prstGeom>
          <a:solidFill>
            <a:srgbClr val="FAFAFA"/>
          </a:solidFill>
          <a:ln/>
        </p:spPr>
      </p:sp>
      <p:sp>
        <p:nvSpPr>
          <p:cNvPr id="34" name="Text 32"/>
          <p:cNvSpPr/>
          <p:nvPr/>
        </p:nvSpPr>
        <p:spPr>
          <a:xfrm>
            <a:off x="5486400" y="2569464"/>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None</a:t>
            </a:r>
            <a:endParaRPr lang="en-US" sz="1000" dirty="0"/>
          </a:p>
        </p:txBody>
      </p:sp>
      <p:sp>
        <p:nvSpPr>
          <p:cNvPr id="35" name="Shape 33"/>
          <p:cNvSpPr/>
          <p:nvPr/>
        </p:nvSpPr>
        <p:spPr>
          <a:xfrm>
            <a:off x="7498080" y="2569464"/>
            <a:ext cx="1828800" cy="420624"/>
          </a:xfrm>
          <a:prstGeom prst="rect">
            <a:avLst/>
          </a:prstGeom>
          <a:solidFill>
            <a:srgbClr val="FAFAFA"/>
          </a:solidFill>
          <a:ln/>
        </p:spPr>
      </p:sp>
      <p:sp>
        <p:nvSpPr>
          <p:cNvPr id="36" name="Text 34"/>
          <p:cNvSpPr/>
          <p:nvPr/>
        </p:nvSpPr>
        <p:spPr>
          <a:xfrm>
            <a:off x="7498080" y="2569464"/>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Individual Orders</a:t>
            </a:r>
            <a:endParaRPr lang="en-US" sz="1000" dirty="0"/>
          </a:p>
        </p:txBody>
      </p:sp>
      <p:sp>
        <p:nvSpPr>
          <p:cNvPr id="37" name="Shape 35"/>
          <p:cNvSpPr/>
          <p:nvPr/>
        </p:nvSpPr>
        <p:spPr>
          <a:xfrm>
            <a:off x="548640" y="3008376"/>
            <a:ext cx="2926080" cy="420624"/>
          </a:xfrm>
          <a:prstGeom prst="rect">
            <a:avLst/>
          </a:prstGeom>
          <a:solidFill>
            <a:srgbClr val="FFFFFF"/>
          </a:solidFill>
          <a:ln/>
        </p:spPr>
      </p:sp>
      <p:sp>
        <p:nvSpPr>
          <p:cNvPr id="38" name="Text 36"/>
          <p:cNvSpPr/>
          <p:nvPr/>
        </p:nvSpPr>
        <p:spPr>
          <a:xfrm>
            <a:off x="548640" y="3008376"/>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Delivery</a:t>
            </a:r>
            <a:endParaRPr lang="en-US" sz="1000" dirty="0"/>
          </a:p>
        </p:txBody>
      </p:sp>
      <p:sp>
        <p:nvSpPr>
          <p:cNvPr id="39" name="Shape 37"/>
          <p:cNvSpPr/>
          <p:nvPr/>
        </p:nvSpPr>
        <p:spPr>
          <a:xfrm>
            <a:off x="3474720" y="3008376"/>
            <a:ext cx="2011680" cy="420624"/>
          </a:xfrm>
          <a:prstGeom prst="rect">
            <a:avLst/>
          </a:prstGeom>
          <a:solidFill>
            <a:srgbClr val="FFFFFF"/>
          </a:solidFill>
          <a:ln/>
        </p:spPr>
      </p:sp>
      <p:sp>
        <p:nvSpPr>
          <p:cNvPr id="40" name="Text 38"/>
          <p:cNvSpPr/>
          <p:nvPr/>
        </p:nvSpPr>
        <p:spPr>
          <a:xfrm>
            <a:off x="3474720" y="3008376"/>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3 ETB home</a:t>
            </a:r>
            <a:endParaRPr lang="en-US" sz="1000" dirty="0"/>
          </a:p>
          <a:p>
            <a:pPr algn="ctr" indent="0" marL="0">
              <a:buNone/>
            </a:pPr>
            <a:r>
              <a:rPr lang="en-US" sz="1000" b="1" dirty="0">
                <a:solidFill>
                  <a:srgbClr val="1A1A1A"/>
                </a:solidFill>
                <a:latin typeface="Arial" pitchFamily="34" charset="0"/>
                <a:ea typeface="Arial" pitchFamily="34" charset="-122"/>
                <a:cs typeface="Arial" pitchFamily="34" charset="-120"/>
              </a:rPr>
              <a:t>FREE pickup</a:t>
            </a:r>
            <a:endParaRPr lang="en-US" sz="1000" dirty="0"/>
          </a:p>
        </p:txBody>
      </p:sp>
      <p:sp>
        <p:nvSpPr>
          <p:cNvPr id="41" name="Shape 39"/>
          <p:cNvSpPr/>
          <p:nvPr/>
        </p:nvSpPr>
        <p:spPr>
          <a:xfrm>
            <a:off x="5486400" y="3008376"/>
            <a:ext cx="2011680" cy="420624"/>
          </a:xfrm>
          <a:prstGeom prst="rect">
            <a:avLst/>
          </a:prstGeom>
          <a:solidFill>
            <a:srgbClr val="FFFFFF"/>
          </a:solidFill>
          <a:ln/>
        </p:spPr>
      </p:sp>
      <p:sp>
        <p:nvSpPr>
          <p:cNvPr id="42" name="Text 40"/>
          <p:cNvSpPr/>
          <p:nvPr/>
        </p:nvSpPr>
        <p:spPr>
          <a:xfrm>
            <a:off x="5486400" y="3008376"/>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Self-service</a:t>
            </a:r>
            <a:endParaRPr lang="en-US" sz="1000" dirty="0"/>
          </a:p>
        </p:txBody>
      </p:sp>
      <p:sp>
        <p:nvSpPr>
          <p:cNvPr id="43" name="Shape 41"/>
          <p:cNvSpPr/>
          <p:nvPr/>
        </p:nvSpPr>
        <p:spPr>
          <a:xfrm>
            <a:off x="7498080" y="3008376"/>
            <a:ext cx="1828800" cy="420624"/>
          </a:xfrm>
          <a:prstGeom prst="rect">
            <a:avLst/>
          </a:prstGeom>
          <a:solidFill>
            <a:srgbClr val="FFFFFF"/>
          </a:solidFill>
          <a:ln/>
        </p:spPr>
      </p:sp>
      <p:sp>
        <p:nvSpPr>
          <p:cNvPr id="44" name="Text 42"/>
          <p:cNvSpPr/>
          <p:nvPr/>
        </p:nvSpPr>
        <p:spPr>
          <a:xfrm>
            <a:off x="7498080" y="3008376"/>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50-150 ETB</a:t>
            </a:r>
            <a:endParaRPr lang="en-US" sz="1000" dirty="0"/>
          </a:p>
        </p:txBody>
      </p:sp>
      <p:sp>
        <p:nvSpPr>
          <p:cNvPr id="45" name="Shape 43"/>
          <p:cNvSpPr/>
          <p:nvPr/>
        </p:nvSpPr>
        <p:spPr>
          <a:xfrm>
            <a:off x="548640" y="3447288"/>
            <a:ext cx="2926080" cy="420624"/>
          </a:xfrm>
          <a:prstGeom prst="rect">
            <a:avLst/>
          </a:prstGeom>
          <a:solidFill>
            <a:srgbClr val="FAFAFA"/>
          </a:solidFill>
          <a:ln/>
        </p:spPr>
      </p:sp>
      <p:sp>
        <p:nvSpPr>
          <p:cNvPr id="46" name="Text 44"/>
          <p:cNvSpPr/>
          <p:nvPr/>
        </p:nvSpPr>
        <p:spPr>
          <a:xfrm>
            <a:off x="548640" y="3447288"/>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Credit</a:t>
            </a:r>
            <a:endParaRPr lang="en-US" sz="1000" dirty="0"/>
          </a:p>
        </p:txBody>
      </p:sp>
      <p:sp>
        <p:nvSpPr>
          <p:cNvPr id="47" name="Shape 45"/>
          <p:cNvSpPr/>
          <p:nvPr/>
        </p:nvSpPr>
        <p:spPr>
          <a:xfrm>
            <a:off x="3474720" y="3447288"/>
            <a:ext cx="2011680" cy="420624"/>
          </a:xfrm>
          <a:prstGeom prst="rect">
            <a:avLst/>
          </a:prstGeom>
          <a:solidFill>
            <a:srgbClr val="FAFAFA"/>
          </a:solidFill>
          <a:ln/>
        </p:spPr>
      </p:sp>
      <p:sp>
        <p:nvSpPr>
          <p:cNvPr id="48" name="Text 46"/>
          <p:cNvSpPr/>
          <p:nvPr/>
        </p:nvSpPr>
        <p:spPr>
          <a:xfrm>
            <a:off x="3474720" y="3447288"/>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BNPL (Planned)</a:t>
            </a:r>
            <a:endParaRPr lang="en-US" sz="1000" dirty="0"/>
          </a:p>
        </p:txBody>
      </p:sp>
      <p:sp>
        <p:nvSpPr>
          <p:cNvPr id="49" name="Shape 47"/>
          <p:cNvSpPr/>
          <p:nvPr/>
        </p:nvSpPr>
        <p:spPr>
          <a:xfrm>
            <a:off x="5486400" y="3447288"/>
            <a:ext cx="2011680" cy="420624"/>
          </a:xfrm>
          <a:prstGeom prst="rect">
            <a:avLst/>
          </a:prstGeom>
          <a:solidFill>
            <a:srgbClr val="FAFAFA"/>
          </a:solidFill>
          <a:ln/>
        </p:spPr>
      </p:sp>
      <p:sp>
        <p:nvSpPr>
          <p:cNvPr id="50" name="Text 48"/>
          <p:cNvSpPr/>
          <p:nvPr/>
        </p:nvSpPr>
        <p:spPr>
          <a:xfrm>
            <a:off x="5486400" y="3447288"/>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Cash Only</a:t>
            </a:r>
            <a:endParaRPr lang="en-US" sz="1000" dirty="0"/>
          </a:p>
        </p:txBody>
      </p:sp>
      <p:sp>
        <p:nvSpPr>
          <p:cNvPr id="51" name="Shape 49"/>
          <p:cNvSpPr/>
          <p:nvPr/>
        </p:nvSpPr>
        <p:spPr>
          <a:xfrm>
            <a:off x="7498080" y="3447288"/>
            <a:ext cx="1828800" cy="420624"/>
          </a:xfrm>
          <a:prstGeom prst="rect">
            <a:avLst/>
          </a:prstGeom>
          <a:solidFill>
            <a:srgbClr val="FAFAFA"/>
          </a:solidFill>
          <a:ln/>
        </p:spPr>
      </p:sp>
      <p:sp>
        <p:nvSpPr>
          <p:cNvPr id="52" name="Text 50"/>
          <p:cNvSpPr/>
          <p:nvPr/>
        </p:nvSpPr>
        <p:spPr>
          <a:xfrm>
            <a:off x="7498080" y="3447288"/>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Credit Cards</a:t>
            </a:r>
            <a:endParaRPr lang="en-US" sz="1000" dirty="0"/>
          </a:p>
        </p:txBody>
      </p:sp>
      <p:sp>
        <p:nvSpPr>
          <p:cNvPr id="53" name="Shape 51"/>
          <p:cNvSpPr/>
          <p:nvPr/>
        </p:nvSpPr>
        <p:spPr>
          <a:xfrm>
            <a:off x="548640" y="3886200"/>
            <a:ext cx="2926080" cy="420624"/>
          </a:xfrm>
          <a:prstGeom prst="rect">
            <a:avLst/>
          </a:prstGeom>
          <a:solidFill>
            <a:srgbClr val="FFFFFF"/>
          </a:solidFill>
          <a:ln/>
        </p:spPr>
      </p:sp>
      <p:sp>
        <p:nvSpPr>
          <p:cNvPr id="54" name="Text 52"/>
          <p:cNvSpPr/>
          <p:nvPr/>
        </p:nvSpPr>
        <p:spPr>
          <a:xfrm>
            <a:off x="548640" y="3886200"/>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Data</a:t>
            </a:r>
            <a:endParaRPr lang="en-US" sz="1000" dirty="0"/>
          </a:p>
        </p:txBody>
      </p:sp>
      <p:sp>
        <p:nvSpPr>
          <p:cNvPr id="55" name="Shape 53"/>
          <p:cNvSpPr/>
          <p:nvPr/>
        </p:nvSpPr>
        <p:spPr>
          <a:xfrm>
            <a:off x="3474720" y="3886200"/>
            <a:ext cx="2011680" cy="420624"/>
          </a:xfrm>
          <a:prstGeom prst="rect">
            <a:avLst/>
          </a:prstGeom>
          <a:solidFill>
            <a:srgbClr val="FFFFFF"/>
          </a:solidFill>
          <a:ln/>
        </p:spPr>
      </p:sp>
      <p:sp>
        <p:nvSpPr>
          <p:cNvPr id="56" name="Text 54"/>
          <p:cNvSpPr/>
          <p:nvPr/>
        </p:nvSpPr>
        <p:spPr>
          <a:xfrm>
            <a:off x="3474720" y="3886200"/>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Full Supply Chain</a:t>
            </a:r>
            <a:endParaRPr lang="en-US" sz="1000" dirty="0"/>
          </a:p>
          <a:p>
            <a:pPr algn="ctr" indent="0" marL="0">
              <a:buNone/>
            </a:pPr>
            <a:r>
              <a:rPr lang="en-US" sz="1000" b="1" dirty="0">
                <a:solidFill>
                  <a:srgbClr val="1A1A1A"/>
                </a:solidFill>
                <a:latin typeface="Arial" pitchFamily="34" charset="0"/>
                <a:ea typeface="Arial" pitchFamily="34" charset="-122"/>
                <a:cs typeface="Arial" pitchFamily="34" charset="-120"/>
              </a:rPr>
              <a:t>Visibility</a:t>
            </a:r>
            <a:endParaRPr lang="en-US" sz="1000" dirty="0"/>
          </a:p>
        </p:txBody>
      </p:sp>
      <p:sp>
        <p:nvSpPr>
          <p:cNvPr id="57" name="Shape 55"/>
          <p:cNvSpPr/>
          <p:nvPr/>
        </p:nvSpPr>
        <p:spPr>
          <a:xfrm>
            <a:off x="5486400" y="3886200"/>
            <a:ext cx="2011680" cy="420624"/>
          </a:xfrm>
          <a:prstGeom prst="rect">
            <a:avLst/>
          </a:prstGeom>
          <a:solidFill>
            <a:srgbClr val="FFFFFF"/>
          </a:solidFill>
          <a:ln/>
        </p:spPr>
      </p:sp>
      <p:sp>
        <p:nvSpPr>
          <p:cNvPr id="58" name="Text 56"/>
          <p:cNvSpPr/>
          <p:nvPr/>
        </p:nvSpPr>
        <p:spPr>
          <a:xfrm>
            <a:off x="5486400" y="3886200"/>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Zero</a:t>
            </a:r>
            <a:endParaRPr lang="en-US" sz="1000" dirty="0"/>
          </a:p>
        </p:txBody>
      </p:sp>
      <p:sp>
        <p:nvSpPr>
          <p:cNvPr id="59" name="Shape 57"/>
          <p:cNvSpPr/>
          <p:nvPr/>
        </p:nvSpPr>
        <p:spPr>
          <a:xfrm>
            <a:off x="7498080" y="3886200"/>
            <a:ext cx="1828800" cy="420624"/>
          </a:xfrm>
          <a:prstGeom prst="rect">
            <a:avLst/>
          </a:prstGeom>
          <a:solidFill>
            <a:srgbClr val="FFFFFF"/>
          </a:solidFill>
          <a:ln/>
        </p:spPr>
      </p:sp>
      <p:sp>
        <p:nvSpPr>
          <p:cNvPr id="60" name="Text 58"/>
          <p:cNvSpPr/>
          <p:nvPr/>
        </p:nvSpPr>
        <p:spPr>
          <a:xfrm>
            <a:off x="7498080" y="3886200"/>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Limited</a:t>
            </a:r>
            <a:endParaRPr lang="en-US" sz="1000" dirty="0"/>
          </a:p>
        </p:txBody>
      </p:sp>
      <p:sp>
        <p:nvSpPr>
          <p:cNvPr id="61" name="Shape 59"/>
          <p:cNvSpPr/>
          <p:nvPr/>
        </p:nvSpPr>
        <p:spPr>
          <a:xfrm>
            <a:off x="548640" y="4325112"/>
            <a:ext cx="2926080" cy="420624"/>
          </a:xfrm>
          <a:prstGeom prst="rect">
            <a:avLst/>
          </a:prstGeom>
          <a:solidFill>
            <a:srgbClr val="FAFAFA"/>
          </a:solidFill>
          <a:ln/>
        </p:spPr>
      </p:sp>
      <p:sp>
        <p:nvSpPr>
          <p:cNvPr id="62" name="Text 60"/>
          <p:cNvSpPr/>
          <p:nvPr/>
        </p:nvSpPr>
        <p:spPr>
          <a:xfrm>
            <a:off x="548640" y="4325112"/>
            <a:ext cx="2926080" cy="420624"/>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Quality</a:t>
            </a:r>
            <a:endParaRPr lang="en-US" sz="1000" dirty="0"/>
          </a:p>
        </p:txBody>
      </p:sp>
      <p:sp>
        <p:nvSpPr>
          <p:cNvPr id="63" name="Shape 61"/>
          <p:cNvSpPr/>
          <p:nvPr/>
        </p:nvSpPr>
        <p:spPr>
          <a:xfrm>
            <a:off x="3474720" y="4325112"/>
            <a:ext cx="2011680" cy="420624"/>
          </a:xfrm>
          <a:prstGeom prst="rect">
            <a:avLst/>
          </a:prstGeom>
          <a:solidFill>
            <a:srgbClr val="FAFAFA"/>
          </a:solidFill>
          <a:ln/>
        </p:spPr>
      </p:sp>
      <p:sp>
        <p:nvSpPr>
          <p:cNvPr id="64" name="Text 62"/>
          <p:cNvSpPr/>
          <p:nvPr/>
        </p:nvSpPr>
        <p:spPr>
          <a:xfrm>
            <a:off x="3474720" y="4325112"/>
            <a:ext cx="2011680" cy="420624"/>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5-Gate QC System</a:t>
            </a:r>
            <a:endParaRPr lang="en-US" sz="1000" dirty="0"/>
          </a:p>
        </p:txBody>
      </p:sp>
      <p:sp>
        <p:nvSpPr>
          <p:cNvPr id="65" name="Shape 63"/>
          <p:cNvSpPr/>
          <p:nvPr/>
        </p:nvSpPr>
        <p:spPr>
          <a:xfrm>
            <a:off x="5486400" y="4325112"/>
            <a:ext cx="2011680" cy="420624"/>
          </a:xfrm>
          <a:prstGeom prst="rect">
            <a:avLst/>
          </a:prstGeom>
          <a:solidFill>
            <a:srgbClr val="FAFAFA"/>
          </a:solidFill>
          <a:ln/>
        </p:spPr>
      </p:sp>
      <p:sp>
        <p:nvSpPr>
          <p:cNvPr id="66" name="Text 64"/>
          <p:cNvSpPr/>
          <p:nvPr/>
        </p:nvSpPr>
        <p:spPr>
          <a:xfrm>
            <a:off x="5486400" y="4325112"/>
            <a:ext cx="201168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Visual Inspection</a:t>
            </a:r>
            <a:endParaRPr lang="en-US" sz="1000" dirty="0"/>
          </a:p>
        </p:txBody>
      </p:sp>
      <p:sp>
        <p:nvSpPr>
          <p:cNvPr id="67" name="Shape 65"/>
          <p:cNvSpPr/>
          <p:nvPr/>
        </p:nvSpPr>
        <p:spPr>
          <a:xfrm>
            <a:off x="7498080" y="4325112"/>
            <a:ext cx="1828800" cy="420624"/>
          </a:xfrm>
          <a:prstGeom prst="rect">
            <a:avLst/>
          </a:prstGeom>
          <a:solidFill>
            <a:srgbClr val="FAFAFA"/>
          </a:solidFill>
          <a:ln/>
        </p:spPr>
      </p:sp>
      <p:sp>
        <p:nvSpPr>
          <p:cNvPr id="68" name="Text 66"/>
          <p:cNvSpPr/>
          <p:nvPr/>
        </p:nvSpPr>
        <p:spPr>
          <a:xfrm>
            <a:off x="7498080" y="4325112"/>
            <a:ext cx="1828800" cy="420624"/>
          </a:xfrm>
          <a:prstGeom prst="rect">
            <a:avLst/>
          </a:prstGeom>
          <a:noFill/>
          <a:ln/>
        </p:spPr>
        <p:txBody>
          <a:bodyPr wrap="square" lIns="0" tIns="0" rIns="0" bIns="0" rtlCol="0" anchor="ctr"/>
          <a:lstStyle/>
          <a:p>
            <a:pPr algn="l" indent="0" marL="0">
              <a:buNone/>
            </a:pPr>
            <a:r>
              <a:rPr lang="en-US" sz="1000" dirty="0">
                <a:solidFill>
                  <a:srgbClr val="666666"/>
                </a:solidFill>
                <a:latin typeface="Arial" pitchFamily="34" charset="0"/>
                <a:ea typeface="Arial" pitchFamily="34" charset="-122"/>
                <a:cs typeface="Arial" pitchFamily="34" charset="-120"/>
              </a:rPr>
              <a:t>Variable</a:t>
            </a:r>
            <a:endParaRPr lang="en-US" sz="1000" dirty="0"/>
          </a:p>
        </p:txBody>
      </p:sp>
      <p:sp>
        <p:nvSpPr>
          <p:cNvPr id="69" name="Shape 67"/>
          <p:cNvSpPr/>
          <p:nvPr/>
        </p:nvSpPr>
        <p:spPr>
          <a:xfrm>
            <a:off x="548640" y="4754880"/>
            <a:ext cx="8229600" cy="274320"/>
          </a:xfrm>
          <a:prstGeom prst="roundRect">
            <a:avLst>
              <a:gd name="adj" fmla="val 26667"/>
            </a:avLst>
          </a:prstGeom>
          <a:solidFill>
            <a:srgbClr val="FFF5F5"/>
          </a:solidFill>
          <a:ln/>
        </p:spPr>
      </p:sp>
      <p:sp>
        <p:nvSpPr>
          <p:cNvPr id="70" name="Text 68"/>
          <p:cNvSpPr/>
          <p:nvPr/>
        </p:nvSpPr>
        <p:spPr>
          <a:xfrm>
            <a:off x="548640" y="4754880"/>
            <a:ext cx="8229600" cy="27432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ChipChip is cheaper than Sunday Market on staples (red onion, tomato, potato) by 3-12 Birr across 14 competitors, 18 products</a:t>
            </a:r>
            <a:endParaRPr lang="en-US" sz="900" dirty="0"/>
          </a:p>
        </p:txBody>
      </p:sp>
      <p:sp>
        <p:nvSpPr>
          <p:cNvPr id="71" name="Shape 69"/>
          <p:cNvSpPr/>
          <p:nvPr/>
        </p:nvSpPr>
        <p:spPr>
          <a:xfrm>
            <a:off x="8503920" y="4663440"/>
            <a:ext cx="365760" cy="365760"/>
          </a:xfrm>
          <a:prstGeom prst="ellipse">
            <a:avLst/>
          </a:prstGeom>
          <a:solidFill>
            <a:srgbClr val="E53935"/>
          </a:solidFill>
          <a:ln/>
        </p:spPr>
      </p:sp>
      <p:sp>
        <p:nvSpPr>
          <p:cNvPr id="72" name="Text 7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731520" y="914400"/>
            <a:ext cx="3657600" cy="1371600"/>
          </a:xfrm>
          <a:prstGeom prst="rect">
            <a:avLst/>
          </a:prstGeom>
          <a:noFill/>
          <a:ln/>
        </p:spPr>
        <p:txBody>
          <a:bodyPr wrap="square" lIns="0" tIns="0" rIns="0" bIns="0" rtlCol="0" anchor="ctr"/>
          <a:lstStyle/>
          <a:p>
            <a:pPr indent="0" marL="0">
              <a:buNone/>
            </a:pPr>
            <a:r>
              <a:rPr lang="en-US" sz="7200" b="1" spc="800" kern="0" dirty="0">
                <a:solidFill>
                  <a:srgbClr val="E53935"/>
                </a:solidFill>
                <a:latin typeface="Arial" pitchFamily="34" charset="0"/>
                <a:ea typeface="Arial" pitchFamily="34" charset="-122"/>
                <a:cs typeface="Arial" pitchFamily="34" charset="-120"/>
              </a:rPr>
              <a:t>18</a:t>
            </a:r>
            <a:endParaRPr lang="en-US" sz="7200" dirty="0"/>
          </a:p>
        </p:txBody>
      </p:sp>
      <p:sp>
        <p:nvSpPr>
          <p:cNvPr id="4" name="Text 2"/>
          <p:cNvSpPr/>
          <p:nvPr/>
        </p:nvSpPr>
        <p:spPr>
          <a:xfrm>
            <a:off x="731520" y="2103120"/>
            <a:ext cx="7315200" cy="6400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MARKET</a:t>
            </a:r>
            <a:endParaRPr lang="en-US" sz="4400" dirty="0"/>
          </a:p>
        </p:txBody>
      </p:sp>
      <p:sp>
        <p:nvSpPr>
          <p:cNvPr id="5" name="Text 3"/>
          <p:cNvSpPr/>
          <p:nvPr/>
        </p:nvSpPr>
        <p:spPr>
          <a:xfrm>
            <a:off x="731520" y="2743200"/>
            <a:ext cx="7315200" cy="640080"/>
          </a:xfrm>
          <a:prstGeom prst="rect">
            <a:avLst/>
          </a:prstGeom>
          <a:noFill/>
          <a:ln/>
        </p:spPr>
        <p:txBody>
          <a:bodyPr wrap="square" lIns="0" tIns="0" rIns="0" bIns="0" rtlCol="0" anchor="ctr"/>
          <a:lstStyle/>
          <a:p>
            <a:pPr indent="0" marL="0">
              <a:buNone/>
            </a:pPr>
            <a:r>
              <a:rPr lang="en-US" sz="4400" b="1" dirty="0">
                <a:solidFill>
                  <a:srgbClr val="E53935"/>
                </a:solidFill>
                <a:latin typeface="Arial" pitchFamily="34" charset="0"/>
                <a:ea typeface="Arial" pitchFamily="34" charset="-122"/>
                <a:cs typeface="Arial" pitchFamily="34" charset="-120"/>
              </a:rPr>
              <a:t>POSITIONING</a:t>
            </a:r>
            <a:endParaRPr lang="en-US" sz="4400" dirty="0"/>
          </a:p>
        </p:txBody>
      </p:sp>
      <p:sp>
        <p:nvSpPr>
          <p:cNvPr id="6" name="Text 4"/>
          <p:cNvSpPr/>
          <p:nvPr/>
        </p:nvSpPr>
        <p:spPr>
          <a:xfrm>
            <a:off x="731520" y="3657600"/>
            <a:ext cx="5486400" cy="457200"/>
          </a:xfrm>
          <a:prstGeom prst="rect">
            <a:avLst/>
          </a:prstGeom>
          <a:noFill/>
          <a:ln/>
        </p:spPr>
        <p:txBody>
          <a:bodyPr wrap="square" lIns="0" tIns="0" rIns="0" bIns="0" rtlCol="0" anchor="ctr"/>
          <a:lstStyle/>
          <a:p>
            <a:pPr indent="0" marL="0">
              <a:buNone/>
            </a:pPr>
            <a:r>
              <a:rPr lang="en-US" sz="1600" dirty="0">
                <a:solidFill>
                  <a:srgbClr val="999999"/>
                </a:solidFill>
                <a:latin typeface="Arial" pitchFamily="34" charset="0"/>
                <a:ea typeface="Arial" pitchFamily="34" charset="-122"/>
                <a:cs typeface="Arial" pitchFamily="34" charset="-120"/>
              </a:rPr>
              <a:t>Why Ethiopia's Food Trade Needs ChipChip</a:t>
            </a:r>
            <a:endParaRPr lang="en-US" sz="1600" dirty="0"/>
          </a:p>
        </p:txBody>
      </p:sp>
      <p:sp>
        <p:nvSpPr>
          <p:cNvPr id="7" name="Text 5"/>
          <p:cNvSpPr/>
          <p:nvPr/>
        </p:nvSpPr>
        <p:spPr>
          <a:xfrm>
            <a:off x="731520" y="4206240"/>
            <a:ext cx="6400800" cy="320040"/>
          </a:xfrm>
          <a:prstGeom prst="rect">
            <a:avLst/>
          </a:prstGeom>
          <a:noFill/>
          <a:ln/>
        </p:spPr>
        <p:txBody>
          <a:bodyPr wrap="square" lIns="0" tIns="0" rIns="0" bIns="0" rtlCol="0" anchor="ctr"/>
          <a:lstStyle/>
          <a:p>
            <a:pPr indent="0" marL="0">
              <a:buNone/>
            </a:pPr>
            <a:r>
              <a:rPr lang="en-US" sz="1300" dirty="0">
                <a:solidFill>
                  <a:srgbClr val="CCCCCC"/>
                </a:solidFill>
                <a:latin typeface="Arial" pitchFamily="34" charset="0"/>
                <a:ea typeface="Arial" pitchFamily="34" charset="-122"/>
                <a:cs typeface="Arial" pitchFamily="34" charset="-120"/>
              </a:rPr>
              <a:t>120M+ People · 80%+ Rural · 30-50% Middleman Markup</a:t>
            </a:r>
            <a:endParaRPr lang="en-US" sz="1300" dirty="0"/>
          </a:p>
        </p:txBody>
      </p:sp>
      <p:sp>
        <p:nvSpPr>
          <p:cNvPr id="8" name="Shape 6"/>
          <p:cNvSpPr/>
          <p:nvPr/>
        </p:nvSpPr>
        <p:spPr>
          <a:xfrm>
            <a:off x="8503920" y="4663440"/>
            <a:ext cx="365760" cy="365760"/>
          </a:xfrm>
          <a:prstGeom prst="ellipse">
            <a:avLst/>
          </a:prstGeom>
          <a:solidFill>
            <a:srgbClr val="E53935"/>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73152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RISK ASSESSMENT MATRIX</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Severity-Ranked Risk Register</a:t>
            </a:r>
            <a:endParaRPr lang="en-US" sz="3000" dirty="0"/>
          </a:p>
        </p:txBody>
      </p:sp>
      <p:sp>
        <p:nvSpPr>
          <p:cNvPr id="5" name="Shape 3"/>
          <p:cNvSpPr/>
          <p:nvPr/>
        </p:nvSpPr>
        <p:spPr>
          <a:xfrm>
            <a:off x="548640" y="1280160"/>
            <a:ext cx="8229600" cy="420624"/>
          </a:xfrm>
          <a:prstGeom prst="rect">
            <a:avLst/>
          </a:prstGeom>
          <a:solidFill>
            <a:srgbClr val="FAFAFA"/>
          </a:solidFill>
          <a:ln/>
        </p:spPr>
      </p:sp>
      <p:sp>
        <p:nvSpPr>
          <p:cNvPr id="6" name="Shape 4"/>
          <p:cNvSpPr/>
          <p:nvPr/>
        </p:nvSpPr>
        <p:spPr>
          <a:xfrm>
            <a:off x="548640" y="1280160"/>
            <a:ext cx="54864" cy="420624"/>
          </a:xfrm>
          <a:prstGeom prst="rect">
            <a:avLst/>
          </a:prstGeom>
          <a:solidFill>
            <a:srgbClr val="D32F2F"/>
          </a:solidFill>
          <a:ln/>
        </p:spPr>
      </p:sp>
      <p:sp>
        <p:nvSpPr>
          <p:cNvPr id="7" name="Text 5"/>
          <p:cNvSpPr/>
          <p:nvPr/>
        </p:nvSpPr>
        <p:spPr>
          <a:xfrm>
            <a:off x="685800" y="1280160"/>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Financial Runway</a:t>
            </a:r>
            <a:endParaRPr lang="en-US" sz="1000" dirty="0"/>
          </a:p>
        </p:txBody>
      </p:sp>
      <p:sp>
        <p:nvSpPr>
          <p:cNvPr id="8" name="Shape 6"/>
          <p:cNvSpPr/>
          <p:nvPr/>
        </p:nvSpPr>
        <p:spPr>
          <a:xfrm>
            <a:off x="2148840" y="1344168"/>
            <a:ext cx="731520" cy="274320"/>
          </a:xfrm>
          <a:prstGeom prst="roundRect">
            <a:avLst>
              <a:gd name="adj" fmla="val 50000"/>
            </a:avLst>
          </a:prstGeom>
          <a:solidFill>
            <a:srgbClr val="D32F2F">
              <a:alpha val="40000"/>
            </a:srgbClr>
          </a:solidFill>
          <a:ln/>
        </p:spPr>
      </p:sp>
      <p:sp>
        <p:nvSpPr>
          <p:cNvPr id="9" name="Text 7"/>
          <p:cNvSpPr/>
          <p:nvPr/>
        </p:nvSpPr>
        <p:spPr>
          <a:xfrm>
            <a:off x="2148840" y="1344168"/>
            <a:ext cx="731520" cy="274320"/>
          </a:xfrm>
          <a:prstGeom prst="rect">
            <a:avLst/>
          </a:prstGeom>
          <a:noFill/>
          <a:ln/>
        </p:spPr>
        <p:txBody>
          <a:bodyPr wrap="square" lIns="0" tIns="0" rIns="0" bIns="0" rtlCol="0" anchor="ctr"/>
          <a:lstStyle/>
          <a:p>
            <a:pPr algn="ctr" indent="0" marL="0">
              <a:buNone/>
            </a:pPr>
            <a:r>
              <a:rPr lang="en-US" sz="800" b="1" dirty="0">
                <a:solidFill>
                  <a:srgbClr val="D32F2F"/>
                </a:solidFill>
                <a:latin typeface="Arial" pitchFamily="34" charset="0"/>
                <a:ea typeface="Arial" pitchFamily="34" charset="-122"/>
                <a:cs typeface="Arial" pitchFamily="34" charset="-120"/>
              </a:rPr>
              <a:t>CRITICAL</a:t>
            </a:r>
            <a:endParaRPr lang="en-US" sz="800" dirty="0"/>
          </a:p>
        </p:txBody>
      </p:sp>
      <p:sp>
        <p:nvSpPr>
          <p:cNvPr id="10" name="Text 8"/>
          <p:cNvSpPr/>
          <p:nvPr/>
        </p:nvSpPr>
        <p:spPr>
          <a:xfrm>
            <a:off x="2926080" y="1280160"/>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Burning 10.16M ETB vs 7.4M ETB revenue. Unsustainable beyond current runway.</a:t>
            </a:r>
            <a:endParaRPr lang="en-US" sz="1000" dirty="0"/>
          </a:p>
        </p:txBody>
      </p:sp>
      <p:sp>
        <p:nvSpPr>
          <p:cNvPr id="11" name="Text 9"/>
          <p:cNvSpPr/>
          <p:nvPr/>
        </p:nvSpPr>
        <p:spPr>
          <a:xfrm>
            <a:off x="5943600" y="1280160"/>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CP1 auto-block, B2B migration, BNPL launch, SG&amp;A reduction</a:t>
            </a:r>
            <a:endParaRPr lang="en-US" sz="900" dirty="0"/>
          </a:p>
        </p:txBody>
      </p:sp>
      <p:sp>
        <p:nvSpPr>
          <p:cNvPr id="12" name="Shape 10"/>
          <p:cNvSpPr/>
          <p:nvPr/>
        </p:nvSpPr>
        <p:spPr>
          <a:xfrm>
            <a:off x="548640" y="1719072"/>
            <a:ext cx="54864" cy="420624"/>
          </a:xfrm>
          <a:prstGeom prst="rect">
            <a:avLst/>
          </a:prstGeom>
          <a:solidFill>
            <a:srgbClr val="E53935"/>
          </a:solidFill>
          <a:ln/>
        </p:spPr>
      </p:sp>
      <p:sp>
        <p:nvSpPr>
          <p:cNvPr id="13" name="Text 11"/>
          <p:cNvSpPr/>
          <p:nvPr/>
        </p:nvSpPr>
        <p:spPr>
          <a:xfrm>
            <a:off x="685800" y="1719072"/>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Technology Execution</a:t>
            </a:r>
            <a:endParaRPr lang="en-US" sz="1000" dirty="0"/>
          </a:p>
        </p:txBody>
      </p:sp>
      <p:sp>
        <p:nvSpPr>
          <p:cNvPr id="14" name="Shape 12"/>
          <p:cNvSpPr/>
          <p:nvPr/>
        </p:nvSpPr>
        <p:spPr>
          <a:xfrm>
            <a:off x="2148840" y="1783080"/>
            <a:ext cx="731520" cy="274320"/>
          </a:xfrm>
          <a:prstGeom prst="roundRect">
            <a:avLst>
              <a:gd name="adj" fmla="val 50000"/>
            </a:avLst>
          </a:prstGeom>
          <a:solidFill>
            <a:srgbClr val="E53935">
              <a:alpha val="40000"/>
            </a:srgbClr>
          </a:solidFill>
          <a:ln/>
        </p:spPr>
      </p:sp>
      <p:sp>
        <p:nvSpPr>
          <p:cNvPr id="15" name="Text 13"/>
          <p:cNvSpPr/>
          <p:nvPr/>
        </p:nvSpPr>
        <p:spPr>
          <a:xfrm>
            <a:off x="2148840" y="1783080"/>
            <a:ext cx="731520" cy="274320"/>
          </a:xfrm>
          <a:prstGeom prst="rect">
            <a:avLst/>
          </a:prstGeom>
          <a:noFill/>
          <a:ln/>
        </p:spPr>
        <p:txBody>
          <a:bodyPr wrap="square" lIns="0" tIns="0" rIns="0" bIns="0" rtlCol="0" anchor="ctr"/>
          <a:lstStyle/>
          <a:p>
            <a:pPr algn="ctr" indent="0" marL="0">
              <a:buNone/>
            </a:pPr>
            <a:r>
              <a:rPr lang="en-US" sz="800" b="1" dirty="0">
                <a:solidFill>
                  <a:srgbClr val="E53935"/>
                </a:solidFill>
                <a:latin typeface="Arial" pitchFamily="34" charset="0"/>
                <a:ea typeface="Arial" pitchFamily="34" charset="-122"/>
                <a:cs typeface="Arial" pitchFamily="34" charset="-120"/>
              </a:rPr>
              <a:t>HIGH</a:t>
            </a:r>
            <a:endParaRPr lang="en-US" sz="800" dirty="0"/>
          </a:p>
        </p:txBody>
      </p:sp>
      <p:sp>
        <p:nvSpPr>
          <p:cNvPr id="16" name="Text 14"/>
          <p:cNvSpPr/>
          <p:nvPr/>
        </p:nvSpPr>
        <p:spPr>
          <a:xfrm>
            <a:off x="2926080" y="1719072"/>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SettingsView non-functional, no CRM, no analytics, manual processes everywhere.</a:t>
            </a:r>
            <a:endParaRPr lang="en-US" sz="1000" dirty="0"/>
          </a:p>
        </p:txBody>
      </p:sp>
      <p:sp>
        <p:nvSpPr>
          <p:cNvPr id="17" name="Text 15"/>
          <p:cNvSpPr/>
          <p:nvPr/>
        </p:nvSpPr>
        <p:spPr>
          <a:xfrm>
            <a:off x="5943600" y="1719072"/>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Prioritize enforcement systems, build CRM, real-time KPI dashboard</a:t>
            </a:r>
            <a:endParaRPr lang="en-US" sz="900" dirty="0"/>
          </a:p>
        </p:txBody>
      </p:sp>
      <p:sp>
        <p:nvSpPr>
          <p:cNvPr id="18" name="Shape 16"/>
          <p:cNvSpPr/>
          <p:nvPr/>
        </p:nvSpPr>
        <p:spPr>
          <a:xfrm>
            <a:off x="548640" y="2157984"/>
            <a:ext cx="8229600" cy="420624"/>
          </a:xfrm>
          <a:prstGeom prst="rect">
            <a:avLst/>
          </a:prstGeom>
          <a:solidFill>
            <a:srgbClr val="FAFAFA"/>
          </a:solidFill>
          <a:ln/>
        </p:spPr>
      </p:sp>
      <p:sp>
        <p:nvSpPr>
          <p:cNvPr id="19" name="Shape 17"/>
          <p:cNvSpPr/>
          <p:nvPr/>
        </p:nvSpPr>
        <p:spPr>
          <a:xfrm>
            <a:off x="548640" y="2157984"/>
            <a:ext cx="54864" cy="420624"/>
          </a:xfrm>
          <a:prstGeom prst="rect">
            <a:avLst/>
          </a:prstGeom>
          <a:solidFill>
            <a:srgbClr val="E53935"/>
          </a:solidFill>
          <a:ln/>
        </p:spPr>
      </p:sp>
      <p:sp>
        <p:nvSpPr>
          <p:cNvPr id="20" name="Text 18"/>
          <p:cNvSpPr/>
          <p:nvPr/>
        </p:nvSpPr>
        <p:spPr>
          <a:xfrm>
            <a:off x="685800" y="2157984"/>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BNPL Default Risk</a:t>
            </a:r>
            <a:endParaRPr lang="en-US" sz="1000" dirty="0"/>
          </a:p>
        </p:txBody>
      </p:sp>
      <p:sp>
        <p:nvSpPr>
          <p:cNvPr id="21" name="Shape 19"/>
          <p:cNvSpPr/>
          <p:nvPr/>
        </p:nvSpPr>
        <p:spPr>
          <a:xfrm>
            <a:off x="2148840" y="2221992"/>
            <a:ext cx="731520" cy="274320"/>
          </a:xfrm>
          <a:prstGeom prst="roundRect">
            <a:avLst>
              <a:gd name="adj" fmla="val 50000"/>
            </a:avLst>
          </a:prstGeom>
          <a:solidFill>
            <a:srgbClr val="E53935">
              <a:alpha val="40000"/>
            </a:srgbClr>
          </a:solidFill>
          <a:ln/>
        </p:spPr>
      </p:sp>
      <p:sp>
        <p:nvSpPr>
          <p:cNvPr id="22" name="Text 20"/>
          <p:cNvSpPr/>
          <p:nvPr/>
        </p:nvSpPr>
        <p:spPr>
          <a:xfrm>
            <a:off x="2148840" y="2221992"/>
            <a:ext cx="731520" cy="274320"/>
          </a:xfrm>
          <a:prstGeom prst="rect">
            <a:avLst/>
          </a:prstGeom>
          <a:noFill/>
          <a:ln/>
        </p:spPr>
        <p:txBody>
          <a:bodyPr wrap="square" lIns="0" tIns="0" rIns="0" bIns="0" rtlCol="0" anchor="ctr"/>
          <a:lstStyle/>
          <a:p>
            <a:pPr algn="ctr" indent="0" marL="0">
              <a:buNone/>
            </a:pPr>
            <a:r>
              <a:rPr lang="en-US" sz="800" b="1" dirty="0">
                <a:solidFill>
                  <a:srgbClr val="E53935"/>
                </a:solidFill>
                <a:latin typeface="Arial" pitchFamily="34" charset="0"/>
                <a:ea typeface="Arial" pitchFamily="34" charset="-122"/>
                <a:cs typeface="Arial" pitchFamily="34" charset="-120"/>
              </a:rPr>
              <a:t>HIGH</a:t>
            </a:r>
            <a:endParaRPr lang="en-US" sz="800" dirty="0"/>
          </a:p>
        </p:txBody>
      </p:sp>
      <p:sp>
        <p:nvSpPr>
          <p:cNvPr id="23" name="Text 21"/>
          <p:cNvSpPr/>
          <p:nvPr/>
        </p:nvSpPr>
        <p:spPr>
          <a:xfrm>
            <a:off x="2926080" y="2157984"/>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5-7% default risk in emerging markets. Unchecked defaults could destroy margins.</a:t>
            </a:r>
            <a:endParaRPr lang="en-US" sz="1000" dirty="0"/>
          </a:p>
        </p:txBody>
      </p:sp>
      <p:sp>
        <p:nvSpPr>
          <p:cNvPr id="24" name="Text 22"/>
          <p:cNvSpPr/>
          <p:nvPr/>
        </p:nvSpPr>
        <p:spPr>
          <a:xfrm>
            <a:off x="5943600" y="2157984"/>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Short 7-14 day cycles, hard caps, auto-block on missed payments</a:t>
            </a:r>
            <a:endParaRPr lang="en-US" sz="900" dirty="0"/>
          </a:p>
        </p:txBody>
      </p:sp>
      <p:sp>
        <p:nvSpPr>
          <p:cNvPr id="25" name="Shape 23"/>
          <p:cNvSpPr/>
          <p:nvPr/>
        </p:nvSpPr>
        <p:spPr>
          <a:xfrm>
            <a:off x="548640" y="2596896"/>
            <a:ext cx="54864" cy="420624"/>
          </a:xfrm>
          <a:prstGeom prst="rect">
            <a:avLst/>
          </a:prstGeom>
          <a:solidFill>
            <a:srgbClr val="E53935"/>
          </a:solidFill>
          <a:ln/>
        </p:spPr>
      </p:sp>
      <p:sp>
        <p:nvSpPr>
          <p:cNvPr id="26" name="Text 24"/>
          <p:cNvSpPr/>
          <p:nvPr/>
        </p:nvSpPr>
        <p:spPr>
          <a:xfrm>
            <a:off x="685800" y="2596896"/>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SGL Churn</a:t>
            </a:r>
            <a:endParaRPr lang="en-US" sz="1000" dirty="0"/>
          </a:p>
        </p:txBody>
      </p:sp>
      <p:sp>
        <p:nvSpPr>
          <p:cNvPr id="27" name="Shape 25"/>
          <p:cNvSpPr/>
          <p:nvPr/>
        </p:nvSpPr>
        <p:spPr>
          <a:xfrm>
            <a:off x="2148840" y="2660904"/>
            <a:ext cx="731520" cy="274320"/>
          </a:xfrm>
          <a:prstGeom prst="roundRect">
            <a:avLst>
              <a:gd name="adj" fmla="val 50000"/>
            </a:avLst>
          </a:prstGeom>
          <a:solidFill>
            <a:srgbClr val="E53935">
              <a:alpha val="40000"/>
            </a:srgbClr>
          </a:solidFill>
          <a:ln/>
        </p:spPr>
      </p:sp>
      <p:sp>
        <p:nvSpPr>
          <p:cNvPr id="28" name="Text 26"/>
          <p:cNvSpPr/>
          <p:nvPr/>
        </p:nvSpPr>
        <p:spPr>
          <a:xfrm>
            <a:off x="2148840" y="2660904"/>
            <a:ext cx="731520" cy="274320"/>
          </a:xfrm>
          <a:prstGeom prst="rect">
            <a:avLst/>
          </a:prstGeom>
          <a:noFill/>
          <a:ln/>
        </p:spPr>
        <p:txBody>
          <a:bodyPr wrap="square" lIns="0" tIns="0" rIns="0" bIns="0" rtlCol="0" anchor="ctr"/>
          <a:lstStyle/>
          <a:p>
            <a:pPr algn="ctr" indent="0" marL="0">
              <a:buNone/>
            </a:pPr>
            <a:r>
              <a:rPr lang="en-US" sz="800" b="1" dirty="0">
                <a:solidFill>
                  <a:srgbClr val="E53935"/>
                </a:solidFill>
                <a:latin typeface="Arial" pitchFamily="34" charset="0"/>
                <a:ea typeface="Arial" pitchFamily="34" charset="-122"/>
                <a:cs typeface="Arial" pitchFamily="34" charset="-120"/>
              </a:rPr>
              <a:t>HIGH</a:t>
            </a:r>
            <a:endParaRPr lang="en-US" sz="800" dirty="0"/>
          </a:p>
        </p:txBody>
      </p:sp>
      <p:sp>
        <p:nvSpPr>
          <p:cNvPr id="29" name="Text 27"/>
          <p:cNvSpPr/>
          <p:nvPr/>
        </p:nvSpPr>
        <p:spPr>
          <a:xfrm>
            <a:off x="2926080" y="2596896"/>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Untracked drop-off in first 7 days. Commission dissatisfaction may reduce retention.</a:t>
            </a:r>
            <a:endParaRPr lang="en-US" sz="1000" dirty="0"/>
          </a:p>
        </p:txBody>
      </p:sp>
      <p:sp>
        <p:nvSpPr>
          <p:cNvPr id="30" name="Text 28"/>
          <p:cNvSpPr/>
          <p:nvPr/>
        </p:nvSpPr>
        <p:spPr>
          <a:xfrm>
            <a:off x="5943600" y="2596896"/>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7-day automated onboarding, commission transparency dashboard</a:t>
            </a:r>
            <a:endParaRPr lang="en-US" sz="900" dirty="0"/>
          </a:p>
        </p:txBody>
      </p:sp>
      <p:sp>
        <p:nvSpPr>
          <p:cNvPr id="31" name="Shape 29"/>
          <p:cNvSpPr/>
          <p:nvPr/>
        </p:nvSpPr>
        <p:spPr>
          <a:xfrm>
            <a:off x="548640" y="3035808"/>
            <a:ext cx="8229600" cy="420624"/>
          </a:xfrm>
          <a:prstGeom prst="rect">
            <a:avLst/>
          </a:prstGeom>
          <a:solidFill>
            <a:srgbClr val="FAFAFA"/>
          </a:solidFill>
          <a:ln/>
        </p:spPr>
      </p:sp>
      <p:sp>
        <p:nvSpPr>
          <p:cNvPr id="32" name="Shape 30"/>
          <p:cNvSpPr/>
          <p:nvPr/>
        </p:nvSpPr>
        <p:spPr>
          <a:xfrm>
            <a:off x="548640" y="3035808"/>
            <a:ext cx="54864" cy="420624"/>
          </a:xfrm>
          <a:prstGeom prst="rect">
            <a:avLst/>
          </a:prstGeom>
          <a:solidFill>
            <a:srgbClr val="FF9800"/>
          </a:solidFill>
          <a:ln/>
        </p:spPr>
      </p:sp>
      <p:sp>
        <p:nvSpPr>
          <p:cNvPr id="33" name="Text 31"/>
          <p:cNvSpPr/>
          <p:nvPr/>
        </p:nvSpPr>
        <p:spPr>
          <a:xfrm>
            <a:off x="685800" y="3035808"/>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B2B Pipeline Disruption</a:t>
            </a:r>
            <a:endParaRPr lang="en-US" sz="1000" dirty="0"/>
          </a:p>
        </p:txBody>
      </p:sp>
      <p:sp>
        <p:nvSpPr>
          <p:cNvPr id="34" name="Shape 32"/>
          <p:cNvSpPr/>
          <p:nvPr/>
        </p:nvSpPr>
        <p:spPr>
          <a:xfrm>
            <a:off x="2148840" y="3099816"/>
            <a:ext cx="731520" cy="274320"/>
          </a:xfrm>
          <a:prstGeom prst="roundRect">
            <a:avLst>
              <a:gd name="adj" fmla="val 50000"/>
            </a:avLst>
          </a:prstGeom>
          <a:solidFill>
            <a:srgbClr val="FF9800">
              <a:alpha val="40000"/>
            </a:srgbClr>
          </a:solidFill>
          <a:ln/>
        </p:spPr>
      </p:sp>
      <p:sp>
        <p:nvSpPr>
          <p:cNvPr id="35" name="Text 33"/>
          <p:cNvSpPr/>
          <p:nvPr/>
        </p:nvSpPr>
        <p:spPr>
          <a:xfrm>
            <a:off x="2148840" y="3099816"/>
            <a:ext cx="731520" cy="274320"/>
          </a:xfrm>
          <a:prstGeom prst="rect">
            <a:avLst/>
          </a:prstGeom>
          <a:noFill/>
          <a:ln/>
        </p:spPr>
        <p:txBody>
          <a:bodyPr wrap="square" lIns="0" tIns="0" rIns="0" bIns="0" rtlCol="0" anchor="ctr"/>
          <a:lstStyle/>
          <a:p>
            <a:pPr algn="ctr" indent="0" marL="0">
              <a:buNone/>
            </a:pPr>
            <a:r>
              <a:rPr lang="en-US" sz="800" b="1" dirty="0">
                <a:solidFill>
                  <a:srgbClr val="FF9800"/>
                </a:solidFill>
                <a:latin typeface="Arial" pitchFamily="34" charset="0"/>
                <a:ea typeface="Arial" pitchFamily="34" charset="-122"/>
                <a:cs typeface="Arial" pitchFamily="34" charset="-120"/>
              </a:rPr>
              <a:t>MEDIUM</a:t>
            </a:r>
            <a:endParaRPr lang="en-US" sz="800" dirty="0"/>
          </a:p>
        </p:txBody>
      </p:sp>
      <p:sp>
        <p:nvSpPr>
          <p:cNvPr id="36" name="Text 34"/>
          <p:cNvSpPr/>
          <p:nvPr/>
        </p:nvSpPr>
        <p:spPr>
          <a:xfrm>
            <a:off x="2926080" y="3035808"/>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B2B collapsed to zero in W2 during warehouse transition. Still 58% below W1 levels.</a:t>
            </a:r>
            <a:endParaRPr lang="en-US" sz="1000" dirty="0"/>
          </a:p>
        </p:txBody>
      </p:sp>
      <p:sp>
        <p:nvSpPr>
          <p:cNvPr id="37" name="Text 35"/>
          <p:cNvSpPr/>
          <p:nvPr/>
        </p:nvSpPr>
        <p:spPr>
          <a:xfrm>
            <a:off x="5943600" y="3035808"/>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HORECA captain outreach, recurring order incentives, recovery sprint</a:t>
            </a:r>
            <a:endParaRPr lang="en-US" sz="900" dirty="0"/>
          </a:p>
        </p:txBody>
      </p:sp>
      <p:sp>
        <p:nvSpPr>
          <p:cNvPr id="38" name="Shape 36"/>
          <p:cNvSpPr/>
          <p:nvPr/>
        </p:nvSpPr>
        <p:spPr>
          <a:xfrm>
            <a:off x="548640" y="3474720"/>
            <a:ext cx="54864" cy="420624"/>
          </a:xfrm>
          <a:prstGeom prst="rect">
            <a:avLst/>
          </a:prstGeom>
          <a:solidFill>
            <a:srgbClr val="FF9800"/>
          </a:solidFill>
          <a:ln/>
        </p:spPr>
      </p:sp>
      <p:sp>
        <p:nvSpPr>
          <p:cNvPr id="39" name="Text 37"/>
          <p:cNvSpPr/>
          <p:nvPr/>
        </p:nvSpPr>
        <p:spPr>
          <a:xfrm>
            <a:off x="685800" y="3474720"/>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Supplier Reliability</a:t>
            </a:r>
            <a:endParaRPr lang="en-US" sz="1000" dirty="0"/>
          </a:p>
        </p:txBody>
      </p:sp>
      <p:sp>
        <p:nvSpPr>
          <p:cNvPr id="40" name="Shape 38"/>
          <p:cNvSpPr/>
          <p:nvPr/>
        </p:nvSpPr>
        <p:spPr>
          <a:xfrm>
            <a:off x="2148840" y="3538728"/>
            <a:ext cx="731520" cy="274320"/>
          </a:xfrm>
          <a:prstGeom prst="roundRect">
            <a:avLst>
              <a:gd name="adj" fmla="val 50000"/>
            </a:avLst>
          </a:prstGeom>
          <a:solidFill>
            <a:srgbClr val="FF9800">
              <a:alpha val="40000"/>
            </a:srgbClr>
          </a:solidFill>
          <a:ln/>
        </p:spPr>
      </p:sp>
      <p:sp>
        <p:nvSpPr>
          <p:cNvPr id="41" name="Text 39"/>
          <p:cNvSpPr/>
          <p:nvPr/>
        </p:nvSpPr>
        <p:spPr>
          <a:xfrm>
            <a:off x="2148840" y="3538728"/>
            <a:ext cx="731520" cy="274320"/>
          </a:xfrm>
          <a:prstGeom prst="rect">
            <a:avLst/>
          </a:prstGeom>
          <a:noFill/>
          <a:ln/>
        </p:spPr>
        <p:txBody>
          <a:bodyPr wrap="square" lIns="0" tIns="0" rIns="0" bIns="0" rtlCol="0" anchor="ctr"/>
          <a:lstStyle/>
          <a:p>
            <a:pPr algn="ctr" indent="0" marL="0">
              <a:buNone/>
            </a:pPr>
            <a:r>
              <a:rPr lang="en-US" sz="800" b="1" dirty="0">
                <a:solidFill>
                  <a:srgbClr val="FF9800"/>
                </a:solidFill>
                <a:latin typeface="Arial" pitchFamily="34" charset="0"/>
                <a:ea typeface="Arial" pitchFamily="34" charset="-122"/>
                <a:cs typeface="Arial" pitchFamily="34" charset="-120"/>
              </a:rPr>
              <a:t>MEDIUM</a:t>
            </a:r>
            <a:endParaRPr lang="en-US" sz="800" dirty="0"/>
          </a:p>
        </p:txBody>
      </p:sp>
      <p:sp>
        <p:nvSpPr>
          <p:cNvPr id="42" name="Text 40"/>
          <p:cNvSpPr/>
          <p:nvPr/>
        </p:nvSpPr>
        <p:spPr>
          <a:xfrm>
            <a:off x="2926080" y="3474720"/>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Late delivery, wrong quality, wrong quantity damages ChipChip reputation.</a:t>
            </a:r>
            <a:endParaRPr lang="en-US" sz="1000" dirty="0"/>
          </a:p>
        </p:txBody>
      </p:sp>
      <p:sp>
        <p:nvSpPr>
          <p:cNvPr id="43" name="Text 41"/>
          <p:cNvSpPr/>
          <p:nvPr/>
        </p:nvSpPr>
        <p:spPr>
          <a:xfrm>
            <a:off x="5943600" y="3474720"/>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Supplier Reputation Network, 5-gate QC, ≥3 suppliers per product</a:t>
            </a:r>
            <a:endParaRPr lang="en-US" sz="900" dirty="0"/>
          </a:p>
        </p:txBody>
      </p:sp>
      <p:sp>
        <p:nvSpPr>
          <p:cNvPr id="44" name="Shape 42"/>
          <p:cNvSpPr/>
          <p:nvPr/>
        </p:nvSpPr>
        <p:spPr>
          <a:xfrm>
            <a:off x="548640" y="3913632"/>
            <a:ext cx="8229600" cy="420624"/>
          </a:xfrm>
          <a:prstGeom prst="rect">
            <a:avLst/>
          </a:prstGeom>
          <a:solidFill>
            <a:srgbClr val="FAFAFA"/>
          </a:solidFill>
          <a:ln/>
        </p:spPr>
      </p:sp>
      <p:sp>
        <p:nvSpPr>
          <p:cNvPr id="45" name="Shape 43"/>
          <p:cNvSpPr/>
          <p:nvPr/>
        </p:nvSpPr>
        <p:spPr>
          <a:xfrm>
            <a:off x="548640" y="3913632"/>
            <a:ext cx="54864" cy="420624"/>
          </a:xfrm>
          <a:prstGeom prst="rect">
            <a:avLst/>
          </a:prstGeom>
          <a:solidFill>
            <a:srgbClr val="FF9800"/>
          </a:solidFill>
          <a:ln/>
        </p:spPr>
      </p:sp>
      <p:sp>
        <p:nvSpPr>
          <p:cNvPr id="46" name="Text 44"/>
          <p:cNvSpPr/>
          <p:nvPr/>
        </p:nvSpPr>
        <p:spPr>
          <a:xfrm>
            <a:off x="685800" y="3913632"/>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Macroeconomic/Regulatory</a:t>
            </a:r>
            <a:endParaRPr lang="en-US" sz="1000" dirty="0"/>
          </a:p>
        </p:txBody>
      </p:sp>
      <p:sp>
        <p:nvSpPr>
          <p:cNvPr id="47" name="Shape 45"/>
          <p:cNvSpPr/>
          <p:nvPr/>
        </p:nvSpPr>
        <p:spPr>
          <a:xfrm>
            <a:off x="2148840" y="3977640"/>
            <a:ext cx="731520" cy="274320"/>
          </a:xfrm>
          <a:prstGeom prst="roundRect">
            <a:avLst>
              <a:gd name="adj" fmla="val 50000"/>
            </a:avLst>
          </a:prstGeom>
          <a:solidFill>
            <a:srgbClr val="FF9800">
              <a:alpha val="40000"/>
            </a:srgbClr>
          </a:solidFill>
          <a:ln/>
        </p:spPr>
      </p:sp>
      <p:sp>
        <p:nvSpPr>
          <p:cNvPr id="48" name="Text 46"/>
          <p:cNvSpPr/>
          <p:nvPr/>
        </p:nvSpPr>
        <p:spPr>
          <a:xfrm>
            <a:off x="2148840" y="3977640"/>
            <a:ext cx="731520" cy="274320"/>
          </a:xfrm>
          <a:prstGeom prst="rect">
            <a:avLst/>
          </a:prstGeom>
          <a:noFill/>
          <a:ln/>
        </p:spPr>
        <p:txBody>
          <a:bodyPr wrap="square" lIns="0" tIns="0" rIns="0" bIns="0" rtlCol="0" anchor="ctr"/>
          <a:lstStyle/>
          <a:p>
            <a:pPr algn="ctr" indent="0" marL="0">
              <a:buNone/>
            </a:pPr>
            <a:r>
              <a:rPr lang="en-US" sz="800" b="1" dirty="0">
                <a:solidFill>
                  <a:srgbClr val="FF9800"/>
                </a:solidFill>
                <a:latin typeface="Arial" pitchFamily="34" charset="0"/>
                <a:ea typeface="Arial" pitchFamily="34" charset="-122"/>
                <a:cs typeface="Arial" pitchFamily="34" charset="-120"/>
              </a:rPr>
              <a:t>MEDIUM</a:t>
            </a:r>
            <a:endParaRPr lang="en-US" sz="800" dirty="0"/>
          </a:p>
        </p:txBody>
      </p:sp>
      <p:sp>
        <p:nvSpPr>
          <p:cNvPr id="49" name="Text 47"/>
          <p:cNvSpPr/>
          <p:nvPr/>
        </p:nvSpPr>
        <p:spPr>
          <a:xfrm>
            <a:off x="2926080" y="3913632"/>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Currency volatility, food inflation, regulatory uncertainty in Ethiopia.</a:t>
            </a:r>
            <a:endParaRPr lang="en-US" sz="1000" dirty="0"/>
          </a:p>
        </p:txBody>
      </p:sp>
      <p:sp>
        <p:nvSpPr>
          <p:cNvPr id="50" name="Text 48"/>
          <p:cNvSpPr/>
          <p:nvPr/>
        </p:nvSpPr>
        <p:spPr>
          <a:xfrm>
            <a:off x="5943600" y="3913632"/>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Dynamic daily pricing, consignment model, multi-currency BNPL terms</a:t>
            </a:r>
            <a:endParaRPr lang="en-US" sz="900" dirty="0"/>
          </a:p>
        </p:txBody>
      </p:sp>
      <p:sp>
        <p:nvSpPr>
          <p:cNvPr id="51" name="Shape 49"/>
          <p:cNvSpPr/>
          <p:nvPr/>
        </p:nvSpPr>
        <p:spPr>
          <a:xfrm>
            <a:off x="548640" y="4352544"/>
            <a:ext cx="54864" cy="420624"/>
          </a:xfrm>
          <a:prstGeom prst="rect">
            <a:avLst/>
          </a:prstGeom>
          <a:solidFill>
            <a:srgbClr val="4CAF50"/>
          </a:solidFill>
          <a:ln/>
        </p:spPr>
      </p:sp>
      <p:sp>
        <p:nvSpPr>
          <p:cNvPr id="52" name="Text 50"/>
          <p:cNvSpPr/>
          <p:nvPr/>
        </p:nvSpPr>
        <p:spPr>
          <a:xfrm>
            <a:off x="685800" y="4352544"/>
            <a:ext cx="1463040" cy="420624"/>
          </a:xfrm>
          <a:prstGeom prst="rect">
            <a:avLst/>
          </a:prstGeom>
          <a:noFill/>
          <a:ln/>
        </p:spPr>
        <p:txBody>
          <a:bodyPr wrap="square" lIns="0" tIns="0" rIns="0" bIns="0" rtlCol="0" anchor="ctr"/>
          <a:lstStyle/>
          <a:p>
            <a:pPr indent="0" marL="0">
              <a:buNone/>
            </a:pPr>
            <a:r>
              <a:rPr lang="en-US" sz="1000" b="1" dirty="0">
                <a:solidFill>
                  <a:srgbClr val="1A1A1A"/>
                </a:solidFill>
                <a:latin typeface="Arial" pitchFamily="34" charset="0"/>
                <a:ea typeface="Arial" pitchFamily="34" charset="-122"/>
                <a:cs typeface="Arial" pitchFamily="34" charset="-120"/>
              </a:rPr>
              <a:t>Competitive Entry</a:t>
            </a:r>
            <a:endParaRPr lang="en-US" sz="1000" dirty="0"/>
          </a:p>
        </p:txBody>
      </p:sp>
      <p:sp>
        <p:nvSpPr>
          <p:cNvPr id="53" name="Shape 51"/>
          <p:cNvSpPr/>
          <p:nvPr/>
        </p:nvSpPr>
        <p:spPr>
          <a:xfrm>
            <a:off x="2148840" y="4416552"/>
            <a:ext cx="731520" cy="274320"/>
          </a:xfrm>
          <a:prstGeom prst="roundRect">
            <a:avLst>
              <a:gd name="adj" fmla="val 50000"/>
            </a:avLst>
          </a:prstGeom>
          <a:solidFill>
            <a:srgbClr val="4CAF50">
              <a:alpha val="40000"/>
            </a:srgbClr>
          </a:solidFill>
          <a:ln/>
        </p:spPr>
      </p:sp>
      <p:sp>
        <p:nvSpPr>
          <p:cNvPr id="54" name="Text 52"/>
          <p:cNvSpPr/>
          <p:nvPr/>
        </p:nvSpPr>
        <p:spPr>
          <a:xfrm>
            <a:off x="2148840" y="4416552"/>
            <a:ext cx="731520" cy="274320"/>
          </a:xfrm>
          <a:prstGeom prst="rect">
            <a:avLst/>
          </a:prstGeom>
          <a:noFill/>
          <a:ln/>
        </p:spPr>
        <p:txBody>
          <a:bodyPr wrap="square" lIns="0" tIns="0" rIns="0" bIns="0" rtlCol="0" anchor="ctr"/>
          <a:lstStyle/>
          <a:p>
            <a:pPr algn="ctr" indent="0" marL="0">
              <a:buNone/>
            </a:pPr>
            <a:r>
              <a:rPr lang="en-US" sz="800" b="1" dirty="0">
                <a:solidFill>
                  <a:srgbClr val="4CAF50"/>
                </a:solidFill>
                <a:latin typeface="Arial" pitchFamily="34" charset="0"/>
                <a:ea typeface="Arial" pitchFamily="34" charset="-122"/>
                <a:cs typeface="Arial" pitchFamily="34" charset="-120"/>
              </a:rPr>
              <a:t>LOW-MED</a:t>
            </a:r>
            <a:endParaRPr lang="en-US" sz="800" dirty="0"/>
          </a:p>
        </p:txBody>
      </p:sp>
      <p:sp>
        <p:nvSpPr>
          <p:cNvPr id="55" name="Text 53"/>
          <p:cNvSpPr/>
          <p:nvPr/>
        </p:nvSpPr>
        <p:spPr>
          <a:xfrm>
            <a:off x="2926080" y="4352544"/>
            <a:ext cx="2926080" cy="420624"/>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Larger players with deeper capital could enter food tech market.</a:t>
            </a:r>
            <a:endParaRPr lang="en-US" sz="1000" dirty="0"/>
          </a:p>
        </p:txBody>
      </p:sp>
      <p:sp>
        <p:nvSpPr>
          <p:cNvPr id="56" name="Text 54"/>
          <p:cNvSpPr/>
          <p:nvPr/>
        </p:nvSpPr>
        <p:spPr>
          <a:xfrm>
            <a:off x="5943600" y="4352544"/>
            <a:ext cx="2834640" cy="420624"/>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Move fast on B2B + BNPL to deepen moat before competitors enter</a:t>
            </a:r>
            <a:endParaRPr lang="en-US" sz="900" dirty="0"/>
          </a:p>
        </p:txBody>
      </p:sp>
      <p:sp>
        <p:nvSpPr>
          <p:cNvPr id="57" name="Shape 55"/>
          <p:cNvSpPr/>
          <p:nvPr/>
        </p:nvSpPr>
        <p:spPr>
          <a:xfrm>
            <a:off x="8503920" y="4663440"/>
            <a:ext cx="365760" cy="365760"/>
          </a:xfrm>
          <a:prstGeom prst="ellipse">
            <a:avLst/>
          </a:prstGeom>
          <a:solidFill>
            <a:srgbClr val="E53935"/>
          </a:solidFill>
          <a:ln/>
        </p:spPr>
      </p:sp>
      <p:sp>
        <p:nvSpPr>
          <p:cNvPr id="58" name="Text 56"/>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FINANCIAL HEALTH</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Burn Rate &amp; Path to Sustainability</a:t>
            </a:r>
            <a:endParaRPr lang="en-US" sz="3000" dirty="0"/>
          </a:p>
        </p:txBody>
      </p:sp>
      <p:sp>
        <p:nvSpPr>
          <p:cNvPr id="5" name="Shape 3"/>
          <p:cNvSpPr/>
          <p:nvPr/>
        </p:nvSpPr>
        <p:spPr>
          <a:xfrm>
            <a:off x="548640" y="1371600"/>
            <a:ext cx="2560320" cy="1188720"/>
          </a:xfrm>
          <a:prstGeom prst="roundRect">
            <a:avLst>
              <a:gd name="adj" fmla="val 9231"/>
            </a:avLst>
          </a:prstGeom>
          <a:solidFill>
            <a:srgbClr val="FFF5F5"/>
          </a:solidFill>
          <a:ln/>
        </p:spPr>
      </p:sp>
      <p:sp>
        <p:nvSpPr>
          <p:cNvPr id="6" name="Text 4"/>
          <p:cNvSpPr/>
          <p:nvPr/>
        </p:nvSpPr>
        <p:spPr>
          <a:xfrm>
            <a:off x="548640" y="1417320"/>
            <a:ext cx="2560320" cy="274320"/>
          </a:xfrm>
          <a:prstGeom prst="rect">
            <a:avLst/>
          </a:prstGeom>
          <a:noFill/>
          <a:ln/>
        </p:spPr>
        <p:txBody>
          <a:bodyPr wrap="square" lIns="0" tIns="0" rIns="0" bIns="0" rtlCol="0" anchor="ctr"/>
          <a:lstStyle/>
          <a:p>
            <a:pPr algn="ctr" indent="0" marL="0">
              <a:buNone/>
            </a:pPr>
            <a:r>
              <a:rPr lang="en-US" sz="1200" dirty="0">
                <a:solidFill>
                  <a:srgbClr val="888888"/>
                </a:solidFill>
                <a:latin typeface="Arial" pitchFamily="34" charset="0"/>
                <a:ea typeface="Arial" pitchFamily="34" charset="-122"/>
                <a:cs typeface="Arial" pitchFamily="34" charset="-120"/>
              </a:rPr>
              <a:t>January Burn</a:t>
            </a:r>
            <a:endParaRPr lang="en-US" sz="1200" dirty="0"/>
          </a:p>
        </p:txBody>
      </p:sp>
      <p:sp>
        <p:nvSpPr>
          <p:cNvPr id="7" name="Text 5"/>
          <p:cNvSpPr/>
          <p:nvPr/>
        </p:nvSpPr>
        <p:spPr>
          <a:xfrm>
            <a:off x="548640" y="1691640"/>
            <a:ext cx="2560320" cy="457200"/>
          </a:xfrm>
          <a:prstGeom prst="rect">
            <a:avLst/>
          </a:prstGeom>
          <a:noFill/>
          <a:ln/>
        </p:spPr>
        <p:txBody>
          <a:bodyPr wrap="square" lIns="0" tIns="0" rIns="0" bIns="0" rtlCol="0" anchor="ctr"/>
          <a:lstStyle/>
          <a:p>
            <a:pPr algn="ctr" indent="0" marL="0">
              <a:buNone/>
            </a:pPr>
            <a:r>
              <a:rPr lang="en-US" sz="2000" b="1" dirty="0">
                <a:solidFill>
                  <a:srgbClr val="D32F2F"/>
                </a:solidFill>
                <a:latin typeface="Arial" pitchFamily="34" charset="0"/>
                <a:ea typeface="Arial" pitchFamily="34" charset="-122"/>
                <a:cs typeface="Arial" pitchFamily="34" charset="-120"/>
              </a:rPr>
              <a:t>19,650,000 ETB</a:t>
            </a:r>
            <a:endParaRPr lang="en-US" sz="2000" dirty="0"/>
          </a:p>
        </p:txBody>
      </p:sp>
      <p:sp>
        <p:nvSpPr>
          <p:cNvPr id="8" name="Text 6"/>
          <p:cNvSpPr/>
          <p:nvPr/>
        </p:nvSpPr>
        <p:spPr>
          <a:xfrm>
            <a:off x="548640" y="2194560"/>
            <a:ext cx="2560320" cy="228600"/>
          </a:xfrm>
          <a:prstGeom prst="rect">
            <a:avLst/>
          </a:prstGeom>
          <a:noFill/>
          <a:ln/>
        </p:spPr>
        <p:txBody>
          <a:bodyPr wrap="square" lIns="0" tIns="0" rIns="0" bIns="0" rtlCol="0" anchor="ctr"/>
          <a:lstStyle/>
          <a:p>
            <a:pPr algn="ctr" indent="0" marL="0">
              <a:buNone/>
            </a:pPr>
            <a:r>
              <a:rPr lang="en-US" sz="1000" dirty="0">
                <a:solidFill>
                  <a:srgbClr val="999999"/>
                </a:solidFill>
                <a:latin typeface="Arial" pitchFamily="34" charset="0"/>
                <a:ea typeface="Arial" pitchFamily="34" charset="-122"/>
                <a:cs typeface="Arial" pitchFamily="34" charset="-120"/>
              </a:rPr>
              <a:t>Pre-discipline reset</a:t>
            </a:r>
            <a:endParaRPr lang="en-US" sz="1000" dirty="0"/>
          </a:p>
        </p:txBody>
      </p:sp>
      <p:sp>
        <p:nvSpPr>
          <p:cNvPr id="9" name="Shape 7"/>
          <p:cNvSpPr/>
          <p:nvPr/>
        </p:nvSpPr>
        <p:spPr>
          <a:xfrm>
            <a:off x="3337560" y="1783080"/>
            <a:ext cx="457200" cy="457200"/>
          </a:xfrm>
          <a:prstGeom prst="ellipse">
            <a:avLst/>
          </a:prstGeom>
          <a:solidFill>
            <a:srgbClr val="E53935"/>
          </a:solidFill>
          <a:ln/>
        </p:spPr>
      </p:sp>
      <p:sp>
        <p:nvSpPr>
          <p:cNvPr id="10" name="Text 8"/>
          <p:cNvSpPr/>
          <p:nvPr/>
        </p:nvSpPr>
        <p:spPr>
          <a:xfrm>
            <a:off x="3337560" y="17830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3337560" y="2286000"/>
            <a:ext cx="457200" cy="182880"/>
          </a:xfrm>
          <a:prstGeom prst="rect">
            <a:avLst/>
          </a:prstGeom>
          <a:noFill/>
          <a:ln/>
        </p:spPr>
        <p:txBody>
          <a:bodyPr wrap="square" lIns="0" tIns="0" rIns="0" bIns="0" rtlCol="0" anchor="ctr"/>
          <a:lstStyle/>
          <a:p>
            <a:pPr algn="ctr" indent="0" marL="0">
              <a:buNone/>
            </a:pPr>
            <a:r>
              <a:rPr lang="en-US" sz="1000" b="1" dirty="0">
                <a:solidFill>
                  <a:srgbClr val="E53935"/>
                </a:solidFill>
                <a:latin typeface="Arial" pitchFamily="34" charset="0"/>
                <a:ea typeface="Arial" pitchFamily="34" charset="-122"/>
                <a:cs typeface="Arial" pitchFamily="34" charset="-120"/>
              </a:rPr>
              <a:t>-48%</a:t>
            </a:r>
            <a:endParaRPr lang="en-US" sz="1000" dirty="0"/>
          </a:p>
        </p:txBody>
      </p:sp>
      <p:sp>
        <p:nvSpPr>
          <p:cNvPr id="12" name="Shape 10"/>
          <p:cNvSpPr/>
          <p:nvPr/>
        </p:nvSpPr>
        <p:spPr>
          <a:xfrm>
            <a:off x="4023360" y="1371600"/>
            <a:ext cx="2560320" cy="1188720"/>
          </a:xfrm>
          <a:prstGeom prst="roundRect">
            <a:avLst>
              <a:gd name="adj" fmla="val 9231"/>
            </a:avLst>
          </a:prstGeom>
          <a:solidFill>
            <a:srgbClr val="FFF5F5"/>
          </a:solidFill>
          <a:ln/>
        </p:spPr>
      </p:sp>
      <p:sp>
        <p:nvSpPr>
          <p:cNvPr id="13" name="Text 11"/>
          <p:cNvSpPr/>
          <p:nvPr/>
        </p:nvSpPr>
        <p:spPr>
          <a:xfrm>
            <a:off x="4023360" y="1417320"/>
            <a:ext cx="2560320" cy="274320"/>
          </a:xfrm>
          <a:prstGeom prst="rect">
            <a:avLst/>
          </a:prstGeom>
          <a:noFill/>
          <a:ln/>
        </p:spPr>
        <p:txBody>
          <a:bodyPr wrap="square" lIns="0" tIns="0" rIns="0" bIns="0" rtlCol="0" anchor="ctr"/>
          <a:lstStyle/>
          <a:p>
            <a:pPr algn="ctr" indent="0" marL="0">
              <a:buNone/>
            </a:pPr>
            <a:r>
              <a:rPr lang="en-US" sz="1200" dirty="0">
                <a:solidFill>
                  <a:srgbClr val="888888"/>
                </a:solidFill>
                <a:latin typeface="Arial" pitchFamily="34" charset="0"/>
                <a:ea typeface="Arial" pitchFamily="34" charset="-122"/>
                <a:cs typeface="Arial" pitchFamily="34" charset="-120"/>
              </a:rPr>
              <a:t>February Burn</a:t>
            </a:r>
            <a:endParaRPr lang="en-US" sz="1200" dirty="0"/>
          </a:p>
        </p:txBody>
      </p:sp>
      <p:sp>
        <p:nvSpPr>
          <p:cNvPr id="14" name="Text 12"/>
          <p:cNvSpPr/>
          <p:nvPr/>
        </p:nvSpPr>
        <p:spPr>
          <a:xfrm>
            <a:off x="4023360" y="1691640"/>
            <a:ext cx="2560320" cy="457200"/>
          </a:xfrm>
          <a:prstGeom prst="rect">
            <a:avLst/>
          </a:prstGeom>
          <a:noFill/>
          <a:ln/>
        </p:spPr>
        <p:txBody>
          <a:bodyPr wrap="square" lIns="0" tIns="0" rIns="0" bIns="0" rtlCol="0" anchor="ctr"/>
          <a:lstStyle/>
          <a:p>
            <a:pPr algn="ctr" indent="0" marL="0">
              <a:buNone/>
            </a:pPr>
            <a:r>
              <a:rPr lang="en-US" sz="2000" b="1" dirty="0">
                <a:solidFill>
                  <a:srgbClr val="E53935"/>
                </a:solidFill>
                <a:latin typeface="Arial" pitchFamily="34" charset="0"/>
                <a:ea typeface="Arial" pitchFamily="34" charset="-122"/>
                <a:cs typeface="Arial" pitchFamily="34" charset="-120"/>
              </a:rPr>
              <a:t>10,160,000 ETB</a:t>
            </a:r>
            <a:endParaRPr lang="en-US" sz="2000" dirty="0"/>
          </a:p>
        </p:txBody>
      </p:sp>
      <p:sp>
        <p:nvSpPr>
          <p:cNvPr id="15" name="Text 13"/>
          <p:cNvSpPr/>
          <p:nvPr/>
        </p:nvSpPr>
        <p:spPr>
          <a:xfrm>
            <a:off x="4023360" y="2194560"/>
            <a:ext cx="2560320" cy="228600"/>
          </a:xfrm>
          <a:prstGeom prst="rect">
            <a:avLst/>
          </a:prstGeom>
          <a:noFill/>
          <a:ln/>
        </p:spPr>
        <p:txBody>
          <a:bodyPr wrap="square" lIns="0" tIns="0" rIns="0" bIns="0" rtlCol="0" anchor="ctr"/>
          <a:lstStyle/>
          <a:p>
            <a:pPr algn="ctr" indent="0" marL="0">
              <a:buNone/>
            </a:pPr>
            <a:r>
              <a:rPr lang="en-US" sz="1000" dirty="0">
                <a:solidFill>
                  <a:srgbClr val="999999"/>
                </a:solidFill>
                <a:latin typeface="Arial" pitchFamily="34" charset="0"/>
                <a:ea typeface="Arial" pitchFamily="34" charset="-122"/>
                <a:cs typeface="Arial" pitchFamily="34" charset="-120"/>
              </a:rPr>
              <a:t>Post-discipline reset</a:t>
            </a:r>
            <a:endParaRPr lang="en-US" sz="1000" dirty="0"/>
          </a:p>
        </p:txBody>
      </p:sp>
      <p:sp>
        <p:nvSpPr>
          <p:cNvPr id="16" name="Shape 14"/>
          <p:cNvSpPr/>
          <p:nvPr/>
        </p:nvSpPr>
        <p:spPr>
          <a:xfrm>
            <a:off x="6858000" y="1371600"/>
            <a:ext cx="1920240" cy="1188720"/>
          </a:xfrm>
          <a:prstGeom prst="roundRect">
            <a:avLst>
              <a:gd name="adj" fmla="val 9231"/>
            </a:avLst>
          </a:prstGeom>
          <a:solidFill>
            <a:srgbClr val="1A1A1A"/>
          </a:solidFill>
          <a:ln/>
        </p:spPr>
      </p:sp>
      <p:sp>
        <p:nvSpPr>
          <p:cNvPr id="17" name="Text 15"/>
          <p:cNvSpPr/>
          <p:nvPr/>
        </p:nvSpPr>
        <p:spPr>
          <a:xfrm>
            <a:off x="6858000" y="1417320"/>
            <a:ext cx="1920240" cy="274320"/>
          </a:xfrm>
          <a:prstGeom prst="rect">
            <a:avLst/>
          </a:prstGeom>
          <a:noFill/>
          <a:ln/>
        </p:spPr>
        <p:txBody>
          <a:bodyPr wrap="square" lIns="0" tIns="0" rIns="0" bIns="0" rtlCol="0" anchor="ctr"/>
          <a:lstStyle/>
          <a:p>
            <a:pPr algn="ctr" indent="0" marL="0">
              <a:buNone/>
            </a:pPr>
            <a:r>
              <a:rPr lang="en-US" sz="1200" dirty="0">
                <a:solidFill>
                  <a:srgbClr val="999999"/>
                </a:solidFill>
                <a:latin typeface="Arial" pitchFamily="34" charset="0"/>
                <a:ea typeface="Arial" pitchFamily="34" charset="-122"/>
                <a:cs typeface="Arial" pitchFamily="34" charset="-120"/>
              </a:rPr>
              <a:t>Monthly Gap</a:t>
            </a:r>
            <a:endParaRPr lang="en-US" sz="1200" dirty="0"/>
          </a:p>
        </p:txBody>
      </p:sp>
      <p:sp>
        <p:nvSpPr>
          <p:cNvPr id="18" name="Text 16"/>
          <p:cNvSpPr/>
          <p:nvPr/>
        </p:nvSpPr>
        <p:spPr>
          <a:xfrm>
            <a:off x="6858000" y="1691640"/>
            <a:ext cx="1920240" cy="457200"/>
          </a:xfrm>
          <a:prstGeom prst="rect">
            <a:avLst/>
          </a:prstGeom>
          <a:noFill/>
          <a:ln/>
        </p:spPr>
        <p:txBody>
          <a:bodyPr wrap="square" lIns="0" tIns="0" rIns="0" bIns="0" rtlCol="0" anchor="ctr"/>
          <a:lstStyle/>
          <a:p>
            <a:pPr algn="ctr" indent="0" marL="0">
              <a:buNone/>
            </a:pPr>
            <a:r>
              <a:rPr lang="en-US" sz="2000" b="1" dirty="0">
                <a:solidFill>
                  <a:srgbClr val="D32F2F"/>
                </a:solidFill>
                <a:latin typeface="Arial" pitchFamily="34" charset="0"/>
                <a:ea typeface="Arial" pitchFamily="34" charset="-122"/>
                <a:cs typeface="Arial" pitchFamily="34" charset="-120"/>
              </a:rPr>
              <a:t>-2.7M ETB</a:t>
            </a:r>
            <a:endParaRPr lang="en-US" sz="2000" dirty="0"/>
          </a:p>
        </p:txBody>
      </p:sp>
      <p:sp>
        <p:nvSpPr>
          <p:cNvPr id="19" name="Text 17"/>
          <p:cNvSpPr/>
          <p:nvPr/>
        </p:nvSpPr>
        <p:spPr>
          <a:xfrm>
            <a:off x="6858000" y="2194560"/>
            <a:ext cx="1920240" cy="228600"/>
          </a:xfrm>
          <a:prstGeom prst="rect">
            <a:avLst/>
          </a:prstGeom>
          <a:noFill/>
          <a:ln/>
        </p:spPr>
        <p:txBody>
          <a:bodyPr wrap="square" lIns="0" tIns="0" rIns="0" bIns="0"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Still losing money</a:t>
            </a:r>
            <a:endParaRPr lang="en-US" sz="1000" dirty="0"/>
          </a:p>
        </p:txBody>
      </p:sp>
      <p:sp>
        <p:nvSpPr>
          <p:cNvPr id="20" name="Text 18"/>
          <p:cNvSpPr/>
          <p:nvPr/>
        </p:nvSpPr>
        <p:spPr>
          <a:xfrm>
            <a:off x="548640" y="2880360"/>
            <a:ext cx="36576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Q1 KPI REDUCTION TARGETS</a:t>
            </a:r>
            <a:endParaRPr lang="en-US" sz="1000" dirty="0"/>
          </a:p>
        </p:txBody>
      </p:sp>
      <p:sp>
        <p:nvSpPr>
          <p:cNvPr id="21" name="Shape 19"/>
          <p:cNvSpPr/>
          <p:nvPr/>
        </p:nvSpPr>
        <p:spPr>
          <a:xfrm>
            <a:off x="548640" y="3200400"/>
            <a:ext cx="2468880" cy="640080"/>
          </a:xfrm>
          <a:prstGeom prst="roundRect">
            <a:avLst>
              <a:gd name="adj" fmla="val 14286"/>
            </a:avLst>
          </a:prstGeom>
          <a:solidFill>
            <a:srgbClr val="F8F8F8"/>
          </a:solidFill>
          <a:ln/>
        </p:spPr>
      </p:sp>
      <p:sp>
        <p:nvSpPr>
          <p:cNvPr id="22" name="Text 20"/>
          <p:cNvSpPr/>
          <p:nvPr/>
        </p:nvSpPr>
        <p:spPr>
          <a:xfrm>
            <a:off x="548640" y="3246120"/>
            <a:ext cx="24688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Marketing</a:t>
            </a:r>
            <a:endParaRPr lang="en-US" sz="1200" dirty="0"/>
          </a:p>
        </p:txBody>
      </p:sp>
      <p:sp>
        <p:nvSpPr>
          <p:cNvPr id="23" name="Text 21"/>
          <p:cNvSpPr/>
          <p:nvPr/>
        </p:nvSpPr>
        <p:spPr>
          <a:xfrm>
            <a:off x="548640" y="3520440"/>
            <a:ext cx="2468880" cy="27432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-35%</a:t>
            </a:r>
            <a:endParaRPr lang="en-US" sz="1600" dirty="0"/>
          </a:p>
        </p:txBody>
      </p:sp>
      <p:sp>
        <p:nvSpPr>
          <p:cNvPr id="24" name="Shape 22"/>
          <p:cNvSpPr/>
          <p:nvPr/>
        </p:nvSpPr>
        <p:spPr>
          <a:xfrm>
            <a:off x="3291840" y="3200400"/>
            <a:ext cx="2468880" cy="640080"/>
          </a:xfrm>
          <a:prstGeom prst="roundRect">
            <a:avLst>
              <a:gd name="adj" fmla="val 14286"/>
            </a:avLst>
          </a:prstGeom>
          <a:solidFill>
            <a:srgbClr val="F8F8F8"/>
          </a:solidFill>
          <a:ln/>
        </p:spPr>
      </p:sp>
      <p:sp>
        <p:nvSpPr>
          <p:cNvPr id="25" name="Text 23"/>
          <p:cNvSpPr/>
          <p:nvPr/>
        </p:nvSpPr>
        <p:spPr>
          <a:xfrm>
            <a:off x="3291840" y="3246120"/>
            <a:ext cx="24688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Warehouse</a:t>
            </a:r>
            <a:endParaRPr lang="en-US" sz="1200" dirty="0"/>
          </a:p>
        </p:txBody>
      </p:sp>
      <p:sp>
        <p:nvSpPr>
          <p:cNvPr id="26" name="Text 24"/>
          <p:cNvSpPr/>
          <p:nvPr/>
        </p:nvSpPr>
        <p:spPr>
          <a:xfrm>
            <a:off x="3291840" y="3520440"/>
            <a:ext cx="2468880" cy="27432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-15%</a:t>
            </a:r>
            <a:endParaRPr lang="en-US" sz="1600" dirty="0"/>
          </a:p>
        </p:txBody>
      </p:sp>
      <p:sp>
        <p:nvSpPr>
          <p:cNvPr id="27" name="Shape 25"/>
          <p:cNvSpPr/>
          <p:nvPr/>
        </p:nvSpPr>
        <p:spPr>
          <a:xfrm>
            <a:off x="6035040" y="3200400"/>
            <a:ext cx="2468880" cy="640080"/>
          </a:xfrm>
          <a:prstGeom prst="roundRect">
            <a:avLst>
              <a:gd name="adj" fmla="val 14286"/>
            </a:avLst>
          </a:prstGeom>
          <a:solidFill>
            <a:srgbClr val="F8F8F8"/>
          </a:solidFill>
          <a:ln/>
        </p:spPr>
      </p:sp>
      <p:sp>
        <p:nvSpPr>
          <p:cNvPr id="28" name="Text 26"/>
          <p:cNvSpPr/>
          <p:nvPr/>
        </p:nvSpPr>
        <p:spPr>
          <a:xfrm>
            <a:off x="6035040" y="3246120"/>
            <a:ext cx="24688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Salary</a:t>
            </a:r>
            <a:endParaRPr lang="en-US" sz="1200" dirty="0"/>
          </a:p>
        </p:txBody>
      </p:sp>
      <p:sp>
        <p:nvSpPr>
          <p:cNvPr id="29" name="Text 27"/>
          <p:cNvSpPr/>
          <p:nvPr/>
        </p:nvSpPr>
        <p:spPr>
          <a:xfrm>
            <a:off x="6035040" y="3520440"/>
            <a:ext cx="2468880" cy="27432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-10%</a:t>
            </a:r>
            <a:endParaRPr lang="en-US" sz="1600" dirty="0"/>
          </a:p>
        </p:txBody>
      </p:sp>
      <p:sp>
        <p:nvSpPr>
          <p:cNvPr id="30" name="Shape 28"/>
          <p:cNvSpPr/>
          <p:nvPr/>
        </p:nvSpPr>
        <p:spPr>
          <a:xfrm>
            <a:off x="548640" y="4023360"/>
            <a:ext cx="8229600" cy="777240"/>
          </a:xfrm>
          <a:prstGeom prst="roundRect">
            <a:avLst>
              <a:gd name="adj" fmla="val 11765"/>
            </a:avLst>
          </a:prstGeom>
          <a:solidFill>
            <a:srgbClr val="FFF5F5"/>
          </a:solidFill>
          <a:ln/>
        </p:spPr>
      </p:sp>
      <p:sp>
        <p:nvSpPr>
          <p:cNvPr id="31" name="Text 29"/>
          <p:cNvSpPr/>
          <p:nvPr/>
        </p:nvSpPr>
        <p:spPr>
          <a:xfrm>
            <a:off x="731520" y="4041648"/>
            <a:ext cx="7863840" cy="228600"/>
          </a:xfrm>
          <a:prstGeom prst="rect">
            <a:avLst/>
          </a:prstGeom>
          <a:noFill/>
          <a:ln/>
        </p:spPr>
        <p:txBody>
          <a:bodyPr wrap="square" lIns="0" tIns="0" rIns="0" bIns="0" rtlCol="0" anchor="ctr"/>
          <a:lstStyle/>
          <a:p>
            <a:pPr algn="ctr" indent="0" marL="0">
              <a:buNone/>
            </a:pPr>
            <a:r>
              <a:rPr lang="en-US" sz="1000" b="1" dirty="0">
                <a:solidFill>
                  <a:srgbClr val="E53935"/>
                </a:solidFill>
                <a:latin typeface="Arial" pitchFamily="34" charset="0"/>
                <a:ea typeface="Arial" pitchFamily="34" charset="-122"/>
                <a:cs typeface="Arial" pitchFamily="34" charset="-120"/>
              </a:rPr>
              <a:t>PATH TO SUSTAINABILITY</a:t>
            </a:r>
            <a:endParaRPr lang="en-US" sz="1000" dirty="0"/>
          </a:p>
        </p:txBody>
      </p:sp>
      <p:sp>
        <p:nvSpPr>
          <p:cNvPr id="32" name="Text 30"/>
          <p:cNvSpPr/>
          <p:nvPr/>
        </p:nvSpPr>
        <p:spPr>
          <a:xfrm>
            <a:off x="731520" y="4251960"/>
            <a:ext cx="7863840" cy="45720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CP1 ≥ +5% </a:t>
            </a:r>
            <a:pPr algn="ctr" indent="0" marL="0">
              <a:buNone/>
            </a:pPr>
            <a:r>
              <a:rPr lang="en-US" sz="1400" dirty="0">
                <a:solidFill>
                  <a:srgbClr val="333333"/>
                </a:solidFill>
                <a:latin typeface="Arial" pitchFamily="34" charset="0"/>
                <a:ea typeface="Arial" pitchFamily="34" charset="-122"/>
                <a:cs typeface="Arial" pitchFamily="34" charset="-120"/>
              </a:rPr>
              <a:t>by end of Q1 → </a:t>
            </a:r>
            <a:pPr algn="ctr" indent="0" marL="0">
              <a:buNone/>
            </a:pPr>
            <a:r>
              <a:rPr lang="en-US" sz="1400" b="1" dirty="0">
                <a:solidFill>
                  <a:srgbClr val="E53935"/>
                </a:solidFill>
                <a:latin typeface="Arial" pitchFamily="34" charset="0"/>
                <a:ea typeface="Arial" pitchFamily="34" charset="-122"/>
                <a:cs typeface="Arial" pitchFamily="34" charset="-120"/>
              </a:rPr>
              <a:t>SG&amp;A below revenue </a:t>
            </a:r>
            <a:pPr algn="ctr" indent="0" marL="0">
              <a:buNone/>
            </a:pPr>
            <a:r>
              <a:rPr lang="en-US" sz="1400" dirty="0">
                <a:solidFill>
                  <a:srgbClr val="333333"/>
                </a:solidFill>
                <a:latin typeface="Arial" pitchFamily="34" charset="0"/>
                <a:ea typeface="Arial" pitchFamily="34" charset="-122"/>
                <a:cs typeface="Arial" pitchFamily="34" charset="-120"/>
              </a:rPr>
              <a:t>by Q2 → </a:t>
            </a:r>
            <a:pPr algn="ctr" indent="0" marL="0">
              <a:buNone/>
            </a:pPr>
            <a:r>
              <a:rPr lang="en-US" sz="1400" b="1" dirty="0">
                <a:solidFill>
                  <a:srgbClr val="E53935"/>
                </a:solidFill>
                <a:latin typeface="Arial" pitchFamily="34" charset="0"/>
                <a:ea typeface="Arial" pitchFamily="34" charset="-122"/>
                <a:cs typeface="Arial" pitchFamily="34" charset="-120"/>
              </a:rPr>
              <a:t>Company breakeven </a:t>
            </a:r>
            <a:pPr algn="ctr" indent="0" marL="0">
              <a:buNone/>
            </a:pPr>
            <a:r>
              <a:rPr lang="en-US" sz="1400" dirty="0">
                <a:solidFill>
                  <a:srgbClr val="333333"/>
                </a:solidFill>
                <a:latin typeface="Arial" pitchFamily="34" charset="0"/>
                <a:ea typeface="Arial" pitchFamily="34" charset="-122"/>
                <a:cs typeface="Arial" pitchFamily="34" charset="-120"/>
              </a:rPr>
              <a:t>by Q4 2026</a:t>
            </a:r>
            <a:endParaRPr lang="en-US" sz="1400" dirty="0"/>
          </a:p>
        </p:txBody>
      </p:sp>
      <p:sp>
        <p:nvSpPr>
          <p:cNvPr id="33" name="Shape 31"/>
          <p:cNvSpPr/>
          <p:nvPr/>
        </p:nvSpPr>
        <p:spPr>
          <a:xfrm>
            <a:off x="8503920" y="4663440"/>
            <a:ext cx="365760" cy="365760"/>
          </a:xfrm>
          <a:prstGeom prst="ellipse">
            <a:avLst/>
          </a:prstGeom>
          <a:solidFill>
            <a:srgbClr val="E53935"/>
          </a:solidFill>
          <a:ln/>
        </p:spPr>
      </p:sp>
      <p:sp>
        <p:nvSpPr>
          <p:cNvPr id="34" name="Text 32"/>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WHAT'S WORKING WELL</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Wins from Q1 2026</a:t>
            </a:r>
            <a:endParaRPr lang="en-US" sz="3000" dirty="0"/>
          </a:p>
        </p:txBody>
      </p:sp>
      <p:sp>
        <p:nvSpPr>
          <p:cNvPr id="5" name="Shape 3"/>
          <p:cNvSpPr/>
          <p:nvPr/>
        </p:nvSpPr>
        <p:spPr>
          <a:xfrm>
            <a:off x="548640" y="1280160"/>
            <a:ext cx="2606040" cy="1417320"/>
          </a:xfrm>
          <a:prstGeom prst="roundRect">
            <a:avLst>
              <a:gd name="adj" fmla="val 9677"/>
            </a:avLst>
          </a:prstGeom>
          <a:solidFill>
            <a:srgbClr val="FFF5F5"/>
          </a:solidFill>
          <a:ln/>
        </p:spPr>
      </p:sp>
      <p:sp>
        <p:nvSpPr>
          <p:cNvPr id="6" name="Text 4"/>
          <p:cNvSpPr/>
          <p:nvPr/>
        </p:nvSpPr>
        <p:spPr>
          <a:xfrm>
            <a:off x="548640" y="137160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7" name="Text 5"/>
          <p:cNvSpPr/>
          <p:nvPr/>
        </p:nvSpPr>
        <p:spPr>
          <a:xfrm>
            <a:off x="685800" y="1691640"/>
            <a:ext cx="237744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Burn Cut in Half</a:t>
            </a:r>
            <a:endParaRPr lang="en-US" sz="1400" dirty="0"/>
          </a:p>
        </p:txBody>
      </p:sp>
      <p:sp>
        <p:nvSpPr>
          <p:cNvPr id="8" name="Text 6"/>
          <p:cNvSpPr/>
          <p:nvPr/>
        </p:nvSpPr>
        <p:spPr>
          <a:xfrm>
            <a:off x="685800" y="2011680"/>
            <a:ext cx="2377440" cy="640080"/>
          </a:xfrm>
          <a:prstGeom prst="rect">
            <a:avLst/>
          </a:prstGeom>
          <a:noFill/>
          <a:ln/>
        </p:spPr>
        <p:txBody>
          <a:bodyPr wrap="square" lIns="0" tIns="0" rIns="0" bIns="0" rtlCol="0" anchor="ctr"/>
          <a:lstStyle/>
          <a:p>
            <a:pPr algn="ctr" indent="0" marL="0">
              <a:buNone/>
            </a:pPr>
            <a:r>
              <a:rPr lang="en-US" sz="1000" dirty="0">
                <a:solidFill>
                  <a:srgbClr val="555555"/>
                </a:solidFill>
                <a:latin typeface="Arial" pitchFamily="34" charset="0"/>
                <a:ea typeface="Arial" pitchFamily="34" charset="-122"/>
                <a:cs typeface="Arial" pitchFamily="34" charset="-120"/>
              </a:rPr>
              <a:t>Monthly burn dropped 48% from 19.65M to 10.16M ETB — fastest cost reduction in company history.</a:t>
            </a:r>
            <a:endParaRPr lang="en-US" sz="1000" dirty="0"/>
          </a:p>
        </p:txBody>
      </p:sp>
      <p:sp>
        <p:nvSpPr>
          <p:cNvPr id="9" name="Shape 7"/>
          <p:cNvSpPr/>
          <p:nvPr/>
        </p:nvSpPr>
        <p:spPr>
          <a:xfrm>
            <a:off x="3383280" y="1280160"/>
            <a:ext cx="2606040" cy="1417320"/>
          </a:xfrm>
          <a:prstGeom prst="roundRect">
            <a:avLst>
              <a:gd name="adj" fmla="val 9677"/>
            </a:avLst>
          </a:prstGeom>
          <a:solidFill>
            <a:srgbClr val="FFF5F5"/>
          </a:solidFill>
          <a:ln/>
        </p:spPr>
      </p:sp>
      <p:sp>
        <p:nvSpPr>
          <p:cNvPr id="10" name="Text 8"/>
          <p:cNvSpPr/>
          <p:nvPr/>
        </p:nvSpPr>
        <p:spPr>
          <a:xfrm>
            <a:off x="3383280" y="137160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1" name="Text 9"/>
          <p:cNvSpPr/>
          <p:nvPr/>
        </p:nvSpPr>
        <p:spPr>
          <a:xfrm>
            <a:off x="3520440" y="1691640"/>
            <a:ext cx="237744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Gross Margin Improvement</a:t>
            </a:r>
            <a:endParaRPr lang="en-US" sz="1400" dirty="0"/>
          </a:p>
        </p:txBody>
      </p:sp>
      <p:sp>
        <p:nvSpPr>
          <p:cNvPr id="12" name="Text 10"/>
          <p:cNvSpPr/>
          <p:nvPr/>
        </p:nvSpPr>
        <p:spPr>
          <a:xfrm>
            <a:off x="3520440" y="2011680"/>
            <a:ext cx="2377440" cy="640080"/>
          </a:xfrm>
          <a:prstGeom prst="rect">
            <a:avLst/>
          </a:prstGeom>
          <a:noFill/>
          <a:ln/>
        </p:spPr>
        <p:txBody>
          <a:bodyPr wrap="square" lIns="0" tIns="0" rIns="0" bIns="0" rtlCol="0" anchor="ctr"/>
          <a:lstStyle/>
          <a:p>
            <a:pPr algn="ctr" indent="0" marL="0">
              <a:buNone/>
            </a:pPr>
            <a:r>
              <a:rPr lang="en-US" sz="1000" dirty="0">
                <a:solidFill>
                  <a:srgbClr val="555555"/>
                </a:solidFill>
                <a:latin typeface="Arial" pitchFamily="34" charset="0"/>
                <a:ea typeface="Arial" pitchFamily="34" charset="-122"/>
                <a:cs typeface="Arial" pitchFamily="34" charset="-120"/>
              </a:rPr>
              <a:t>Margin improved from -45.49% to -16.68% — a 29 percentage point swing in one month.</a:t>
            </a:r>
            <a:endParaRPr lang="en-US" sz="1000" dirty="0"/>
          </a:p>
        </p:txBody>
      </p:sp>
      <p:sp>
        <p:nvSpPr>
          <p:cNvPr id="13" name="Shape 11"/>
          <p:cNvSpPr/>
          <p:nvPr/>
        </p:nvSpPr>
        <p:spPr>
          <a:xfrm>
            <a:off x="6217920" y="1280160"/>
            <a:ext cx="2606040" cy="1417320"/>
          </a:xfrm>
          <a:prstGeom prst="roundRect">
            <a:avLst>
              <a:gd name="adj" fmla="val 9677"/>
            </a:avLst>
          </a:prstGeom>
          <a:solidFill>
            <a:srgbClr val="FFF5F5"/>
          </a:solidFill>
          <a:ln/>
        </p:spPr>
      </p:sp>
      <p:sp>
        <p:nvSpPr>
          <p:cNvPr id="14" name="Text 12"/>
          <p:cNvSpPr/>
          <p:nvPr/>
        </p:nvSpPr>
        <p:spPr>
          <a:xfrm>
            <a:off x="6217920" y="137160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6355080" y="1691640"/>
            <a:ext cx="237744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Warehouse Damage -92%</a:t>
            </a:r>
            <a:endParaRPr lang="en-US" sz="1400" dirty="0"/>
          </a:p>
        </p:txBody>
      </p:sp>
      <p:sp>
        <p:nvSpPr>
          <p:cNvPr id="16" name="Text 14"/>
          <p:cNvSpPr/>
          <p:nvPr/>
        </p:nvSpPr>
        <p:spPr>
          <a:xfrm>
            <a:off x="6355080" y="2011680"/>
            <a:ext cx="2377440" cy="640080"/>
          </a:xfrm>
          <a:prstGeom prst="rect">
            <a:avLst/>
          </a:prstGeom>
          <a:noFill/>
          <a:ln/>
        </p:spPr>
        <p:txBody>
          <a:bodyPr wrap="square" lIns="0" tIns="0" rIns="0" bIns="0" rtlCol="0" anchor="ctr"/>
          <a:lstStyle/>
          <a:p>
            <a:pPr algn="ctr" indent="0" marL="0">
              <a:buNone/>
            </a:pPr>
            <a:r>
              <a:rPr lang="en-US" sz="1000" dirty="0">
                <a:solidFill>
                  <a:srgbClr val="555555"/>
                </a:solidFill>
                <a:latin typeface="Arial" pitchFamily="34" charset="0"/>
                <a:ea typeface="Arial" pitchFamily="34" charset="-122"/>
                <a:cs typeface="Arial" pitchFamily="34" charset="-120"/>
              </a:rPr>
              <a:t>Reduced from 83,142 to 10,341 ETB/week. Direct-ship strategy working perfectly.</a:t>
            </a:r>
            <a:endParaRPr lang="en-US" sz="1000" dirty="0"/>
          </a:p>
        </p:txBody>
      </p:sp>
      <p:sp>
        <p:nvSpPr>
          <p:cNvPr id="17" name="Shape 15"/>
          <p:cNvSpPr/>
          <p:nvPr/>
        </p:nvSpPr>
        <p:spPr>
          <a:xfrm>
            <a:off x="548640" y="2926080"/>
            <a:ext cx="2606040" cy="1417320"/>
          </a:xfrm>
          <a:prstGeom prst="roundRect">
            <a:avLst>
              <a:gd name="adj" fmla="val 9677"/>
            </a:avLst>
          </a:prstGeom>
          <a:solidFill>
            <a:srgbClr val="FFF5F5"/>
          </a:solidFill>
          <a:ln/>
        </p:spPr>
      </p:sp>
      <p:sp>
        <p:nvSpPr>
          <p:cNvPr id="18" name="Text 16"/>
          <p:cNvSpPr/>
          <p:nvPr/>
        </p:nvSpPr>
        <p:spPr>
          <a:xfrm>
            <a:off x="548640"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9" name="Text 17"/>
          <p:cNvSpPr/>
          <p:nvPr/>
        </p:nvSpPr>
        <p:spPr>
          <a:xfrm>
            <a:off x="685800" y="3337560"/>
            <a:ext cx="237744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SGL Channel +389%</a:t>
            </a:r>
            <a:endParaRPr lang="en-US" sz="1400" dirty="0"/>
          </a:p>
        </p:txBody>
      </p:sp>
      <p:sp>
        <p:nvSpPr>
          <p:cNvPr id="20" name="Text 18"/>
          <p:cNvSpPr/>
          <p:nvPr/>
        </p:nvSpPr>
        <p:spPr>
          <a:xfrm>
            <a:off x="685800" y="3657600"/>
            <a:ext cx="2377440" cy="640080"/>
          </a:xfrm>
          <a:prstGeom prst="rect">
            <a:avLst/>
          </a:prstGeom>
          <a:noFill/>
          <a:ln/>
        </p:spPr>
        <p:txBody>
          <a:bodyPr wrap="square" lIns="0" tIns="0" rIns="0" bIns="0" rtlCol="0" anchor="ctr"/>
          <a:lstStyle/>
          <a:p>
            <a:pPr algn="ctr" indent="0" marL="0">
              <a:buNone/>
            </a:pPr>
            <a:r>
              <a:rPr lang="en-US" sz="1000" dirty="0">
                <a:solidFill>
                  <a:srgbClr val="555555"/>
                </a:solidFill>
                <a:latin typeface="Arial" pitchFamily="34" charset="0"/>
                <a:ea typeface="Arial" pitchFamily="34" charset="-122"/>
                <a:cs typeface="Arial" pitchFamily="34" charset="-120"/>
              </a:rPr>
              <a:t>Smart Souk sales grew from 1,989 to 9,731 ETB/week — aggregator-first strategy validated.</a:t>
            </a:r>
            <a:endParaRPr lang="en-US" sz="1000" dirty="0"/>
          </a:p>
        </p:txBody>
      </p:sp>
      <p:sp>
        <p:nvSpPr>
          <p:cNvPr id="21" name="Shape 19"/>
          <p:cNvSpPr/>
          <p:nvPr/>
        </p:nvSpPr>
        <p:spPr>
          <a:xfrm>
            <a:off x="3383280" y="2926080"/>
            <a:ext cx="2606040" cy="1417320"/>
          </a:xfrm>
          <a:prstGeom prst="roundRect">
            <a:avLst>
              <a:gd name="adj" fmla="val 9677"/>
            </a:avLst>
          </a:prstGeom>
          <a:solidFill>
            <a:srgbClr val="FFF5F5"/>
          </a:solidFill>
          <a:ln/>
        </p:spPr>
      </p:sp>
      <p:sp>
        <p:nvSpPr>
          <p:cNvPr id="22" name="Text 20"/>
          <p:cNvSpPr/>
          <p:nvPr/>
        </p:nvSpPr>
        <p:spPr>
          <a:xfrm>
            <a:off x="3383280"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23" name="Text 21"/>
          <p:cNvSpPr/>
          <p:nvPr/>
        </p:nvSpPr>
        <p:spPr>
          <a:xfrm>
            <a:off x="3520440" y="3337560"/>
            <a:ext cx="237744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Arrival Damage -81%</a:t>
            </a:r>
            <a:endParaRPr lang="en-US" sz="1400" dirty="0"/>
          </a:p>
        </p:txBody>
      </p:sp>
      <p:sp>
        <p:nvSpPr>
          <p:cNvPr id="24" name="Text 22"/>
          <p:cNvSpPr/>
          <p:nvPr/>
        </p:nvSpPr>
        <p:spPr>
          <a:xfrm>
            <a:off x="3520440" y="3657600"/>
            <a:ext cx="2377440" cy="640080"/>
          </a:xfrm>
          <a:prstGeom prst="rect">
            <a:avLst/>
          </a:prstGeom>
          <a:noFill/>
          <a:ln/>
        </p:spPr>
        <p:txBody>
          <a:bodyPr wrap="square" lIns="0" tIns="0" rIns="0" bIns="0" rtlCol="0" anchor="ctr"/>
          <a:lstStyle/>
          <a:p>
            <a:pPr algn="ctr" indent="0" marL="0">
              <a:buNone/>
            </a:pPr>
            <a:r>
              <a:rPr lang="en-US" sz="1000" dirty="0">
                <a:solidFill>
                  <a:srgbClr val="555555"/>
                </a:solidFill>
                <a:latin typeface="Arial" pitchFamily="34" charset="0"/>
                <a:ea typeface="Arial" pitchFamily="34" charset="-122"/>
                <a:cs typeface="Arial" pitchFamily="34" charset="-120"/>
              </a:rPr>
              <a:t>Dropped from 4.40% to 0.67% due to direct-ship model. Quality is improving.</a:t>
            </a:r>
            <a:endParaRPr lang="en-US" sz="1000" dirty="0"/>
          </a:p>
        </p:txBody>
      </p:sp>
      <p:sp>
        <p:nvSpPr>
          <p:cNvPr id="25" name="Shape 23"/>
          <p:cNvSpPr/>
          <p:nvPr/>
        </p:nvSpPr>
        <p:spPr>
          <a:xfrm>
            <a:off x="6217920" y="2926080"/>
            <a:ext cx="2606040" cy="1417320"/>
          </a:xfrm>
          <a:prstGeom prst="roundRect">
            <a:avLst>
              <a:gd name="adj" fmla="val 9677"/>
            </a:avLst>
          </a:prstGeom>
          <a:solidFill>
            <a:srgbClr val="FFF5F5"/>
          </a:solidFill>
          <a:ln/>
        </p:spPr>
      </p:sp>
      <p:sp>
        <p:nvSpPr>
          <p:cNvPr id="26" name="Text 24"/>
          <p:cNvSpPr/>
          <p:nvPr/>
        </p:nvSpPr>
        <p:spPr>
          <a:xfrm>
            <a:off x="6217920"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27" name="Text 25"/>
          <p:cNvSpPr/>
          <p:nvPr/>
        </p:nvSpPr>
        <p:spPr>
          <a:xfrm>
            <a:off x="6355080" y="3337560"/>
            <a:ext cx="2377440" cy="320040"/>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Zero Un-drawn Orders</a:t>
            </a:r>
            <a:endParaRPr lang="en-US" sz="1400" dirty="0"/>
          </a:p>
        </p:txBody>
      </p:sp>
      <p:sp>
        <p:nvSpPr>
          <p:cNvPr id="28" name="Text 26"/>
          <p:cNvSpPr/>
          <p:nvPr/>
        </p:nvSpPr>
        <p:spPr>
          <a:xfrm>
            <a:off x="6355080" y="3657600"/>
            <a:ext cx="2377440" cy="640080"/>
          </a:xfrm>
          <a:prstGeom prst="rect">
            <a:avLst/>
          </a:prstGeom>
          <a:noFill/>
          <a:ln/>
        </p:spPr>
        <p:txBody>
          <a:bodyPr wrap="square" lIns="0" tIns="0" rIns="0" bIns="0" rtlCol="0" anchor="ctr"/>
          <a:lstStyle/>
          <a:p>
            <a:pPr algn="ctr" indent="0" marL="0">
              <a:buNone/>
            </a:pPr>
            <a:r>
              <a:rPr lang="en-US" sz="1000" dirty="0">
                <a:solidFill>
                  <a:srgbClr val="555555"/>
                </a:solidFill>
                <a:latin typeface="Arial" pitchFamily="34" charset="0"/>
                <a:ea typeface="Arial" pitchFamily="34" charset="-122"/>
                <a:cs typeface="Arial" pitchFamily="34" charset="-120"/>
              </a:rPr>
              <a:t>W5-W6 both show zero un-drawn orders. Fulfillment reliability improved significantly.</a:t>
            </a:r>
            <a:endParaRPr lang="en-US" sz="1000" dirty="0"/>
          </a:p>
        </p:txBody>
      </p:sp>
      <p:sp>
        <p:nvSpPr>
          <p:cNvPr id="29" name="Shape 27"/>
          <p:cNvSpPr/>
          <p:nvPr/>
        </p:nvSpPr>
        <p:spPr>
          <a:xfrm>
            <a:off x="8503920" y="4663440"/>
            <a:ext cx="365760" cy="365760"/>
          </a:xfrm>
          <a:prstGeom prst="ellipse">
            <a:avLst/>
          </a:prstGeom>
          <a:solidFill>
            <a:srgbClr val="E53935"/>
          </a:solidFill>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URGENT ATTENTION REQUIRED</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Critical Issues to Fix Now</a:t>
            </a:r>
            <a:endParaRPr lang="en-US" sz="3000" dirty="0"/>
          </a:p>
        </p:txBody>
      </p:sp>
      <p:sp>
        <p:nvSpPr>
          <p:cNvPr id="5" name="Shape 3"/>
          <p:cNvSpPr/>
          <p:nvPr/>
        </p:nvSpPr>
        <p:spPr>
          <a:xfrm>
            <a:off x="457200" y="1280160"/>
            <a:ext cx="1965960" cy="1417320"/>
          </a:xfrm>
          <a:prstGeom prst="roundRect">
            <a:avLst>
              <a:gd name="adj" fmla="val 6452"/>
            </a:avLst>
          </a:prstGeom>
          <a:solidFill>
            <a:srgbClr val="FFF5F5"/>
          </a:solidFill>
          <a:ln/>
        </p:spPr>
      </p:sp>
      <p:sp>
        <p:nvSpPr>
          <p:cNvPr id="6" name="Shape 4"/>
          <p:cNvSpPr/>
          <p:nvPr/>
        </p:nvSpPr>
        <p:spPr>
          <a:xfrm>
            <a:off x="457200" y="1280160"/>
            <a:ext cx="1965960" cy="45720"/>
          </a:xfrm>
          <a:prstGeom prst="rect">
            <a:avLst/>
          </a:prstGeom>
          <a:solidFill>
            <a:srgbClr val="E53935"/>
          </a:solidFill>
          <a:ln/>
        </p:spPr>
      </p:sp>
      <p:sp>
        <p:nvSpPr>
          <p:cNvPr id="7" name="Text 5"/>
          <p:cNvSpPr/>
          <p:nvPr/>
        </p:nvSpPr>
        <p:spPr>
          <a:xfrm>
            <a:off x="457200" y="1389888"/>
            <a:ext cx="1965960" cy="228600"/>
          </a:xfrm>
          <a:prstGeom prst="rect">
            <a:avLst/>
          </a:prstGeom>
          <a:noFill/>
          <a:ln/>
        </p:spPr>
        <p:txBody>
          <a:bodyPr wrap="square" lIns="0" tIns="0" rIns="0" bIns="0" rtlCol="0" anchor="ctr"/>
          <a:lstStyle/>
          <a:p>
            <a:pPr algn="ctr" indent="0" marL="0">
              <a:buNone/>
            </a:pPr>
            <a:r>
              <a:rPr lang="en-US" sz="900" b="1" dirty="0">
                <a:solidFill>
                  <a:srgbClr val="E53935"/>
                </a:solidFill>
                <a:latin typeface="Arial" pitchFamily="34" charset="0"/>
                <a:ea typeface="Arial" pitchFamily="34" charset="-122"/>
                <a:cs typeface="Arial" pitchFamily="34" charset="-120"/>
              </a:rPr>
              <a:t>🔴 CRITICAL</a:t>
            </a:r>
            <a:endParaRPr lang="en-US" sz="900" dirty="0"/>
          </a:p>
        </p:txBody>
      </p:sp>
      <p:sp>
        <p:nvSpPr>
          <p:cNvPr id="8" name="Text 6"/>
          <p:cNvSpPr/>
          <p:nvPr/>
        </p:nvSpPr>
        <p:spPr>
          <a:xfrm>
            <a:off x="594360" y="155448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Still Burning Cash</a:t>
            </a:r>
            <a:endParaRPr lang="en-US" sz="1200" dirty="0"/>
          </a:p>
        </p:txBody>
      </p:sp>
      <p:sp>
        <p:nvSpPr>
          <p:cNvPr id="9" name="Text 7"/>
          <p:cNvSpPr/>
          <p:nvPr/>
        </p:nvSpPr>
        <p:spPr>
          <a:xfrm>
            <a:off x="594360" y="187452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10.16M ETB burn vs 7.4M ETB revenue = -2.7M monthly gap. Must reach breakeven or runway expires.</a:t>
            </a:r>
            <a:endParaRPr lang="en-US" sz="900" dirty="0"/>
          </a:p>
        </p:txBody>
      </p:sp>
      <p:sp>
        <p:nvSpPr>
          <p:cNvPr id="10" name="Shape 8"/>
          <p:cNvSpPr/>
          <p:nvPr/>
        </p:nvSpPr>
        <p:spPr>
          <a:xfrm>
            <a:off x="2606040" y="1280160"/>
            <a:ext cx="1965960" cy="1417320"/>
          </a:xfrm>
          <a:prstGeom prst="roundRect">
            <a:avLst>
              <a:gd name="adj" fmla="val 6452"/>
            </a:avLst>
          </a:prstGeom>
          <a:solidFill>
            <a:srgbClr val="FFF5F5"/>
          </a:solidFill>
          <a:ln/>
        </p:spPr>
      </p:sp>
      <p:sp>
        <p:nvSpPr>
          <p:cNvPr id="11" name="Shape 9"/>
          <p:cNvSpPr/>
          <p:nvPr/>
        </p:nvSpPr>
        <p:spPr>
          <a:xfrm>
            <a:off x="2606040" y="1280160"/>
            <a:ext cx="1965960" cy="45720"/>
          </a:xfrm>
          <a:prstGeom prst="rect">
            <a:avLst/>
          </a:prstGeom>
          <a:solidFill>
            <a:srgbClr val="E53935"/>
          </a:solidFill>
          <a:ln/>
        </p:spPr>
      </p:sp>
      <p:sp>
        <p:nvSpPr>
          <p:cNvPr id="12" name="Text 10"/>
          <p:cNvSpPr/>
          <p:nvPr/>
        </p:nvSpPr>
        <p:spPr>
          <a:xfrm>
            <a:off x="2606040" y="1389888"/>
            <a:ext cx="1965960" cy="228600"/>
          </a:xfrm>
          <a:prstGeom prst="rect">
            <a:avLst/>
          </a:prstGeom>
          <a:noFill/>
          <a:ln/>
        </p:spPr>
        <p:txBody>
          <a:bodyPr wrap="square" lIns="0" tIns="0" rIns="0" bIns="0" rtlCol="0" anchor="ctr"/>
          <a:lstStyle/>
          <a:p>
            <a:pPr algn="ctr" indent="0" marL="0">
              <a:buNone/>
            </a:pPr>
            <a:r>
              <a:rPr lang="en-US" sz="900" b="1" dirty="0">
                <a:solidFill>
                  <a:srgbClr val="E53935"/>
                </a:solidFill>
                <a:latin typeface="Arial" pitchFamily="34" charset="0"/>
                <a:ea typeface="Arial" pitchFamily="34" charset="-122"/>
                <a:cs typeface="Arial" pitchFamily="34" charset="-120"/>
              </a:rPr>
              <a:t>🔴 CRITICAL</a:t>
            </a:r>
            <a:endParaRPr lang="en-US" sz="900" dirty="0"/>
          </a:p>
        </p:txBody>
      </p:sp>
      <p:sp>
        <p:nvSpPr>
          <p:cNvPr id="13" name="Text 11"/>
          <p:cNvSpPr/>
          <p:nvPr/>
        </p:nvSpPr>
        <p:spPr>
          <a:xfrm>
            <a:off x="2743200" y="155448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CP1 Still Negative</a:t>
            </a:r>
            <a:endParaRPr lang="en-US" sz="1200" dirty="0"/>
          </a:p>
        </p:txBody>
      </p:sp>
      <p:sp>
        <p:nvSpPr>
          <p:cNvPr id="14" name="Text 12"/>
          <p:cNvSpPr/>
          <p:nvPr/>
        </p:nvSpPr>
        <p:spPr>
          <a:xfrm>
            <a:off x="2743200" y="187452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Contribution margin at -16.68% vs +5% target. Every SKU order must meet margin floor. No exceptions.</a:t>
            </a:r>
            <a:endParaRPr lang="en-US" sz="900" dirty="0"/>
          </a:p>
        </p:txBody>
      </p:sp>
      <p:sp>
        <p:nvSpPr>
          <p:cNvPr id="15" name="Shape 13"/>
          <p:cNvSpPr/>
          <p:nvPr/>
        </p:nvSpPr>
        <p:spPr>
          <a:xfrm>
            <a:off x="4754880" y="1280160"/>
            <a:ext cx="1965960" cy="1417320"/>
          </a:xfrm>
          <a:prstGeom prst="roundRect">
            <a:avLst>
              <a:gd name="adj" fmla="val 6452"/>
            </a:avLst>
          </a:prstGeom>
          <a:solidFill>
            <a:srgbClr val="FFF5F5"/>
          </a:solidFill>
          <a:ln/>
        </p:spPr>
      </p:sp>
      <p:sp>
        <p:nvSpPr>
          <p:cNvPr id="16" name="Shape 14"/>
          <p:cNvSpPr/>
          <p:nvPr/>
        </p:nvSpPr>
        <p:spPr>
          <a:xfrm>
            <a:off x="4754880" y="1280160"/>
            <a:ext cx="1965960" cy="45720"/>
          </a:xfrm>
          <a:prstGeom prst="rect">
            <a:avLst/>
          </a:prstGeom>
          <a:solidFill>
            <a:srgbClr val="E53935"/>
          </a:solidFill>
          <a:ln/>
        </p:spPr>
      </p:sp>
      <p:sp>
        <p:nvSpPr>
          <p:cNvPr id="17" name="Text 15"/>
          <p:cNvSpPr/>
          <p:nvPr/>
        </p:nvSpPr>
        <p:spPr>
          <a:xfrm>
            <a:off x="4754880" y="1389888"/>
            <a:ext cx="1965960" cy="228600"/>
          </a:xfrm>
          <a:prstGeom prst="rect">
            <a:avLst/>
          </a:prstGeom>
          <a:noFill/>
          <a:ln/>
        </p:spPr>
        <p:txBody>
          <a:bodyPr wrap="square" lIns="0" tIns="0" rIns="0" bIns="0" rtlCol="0" anchor="ctr"/>
          <a:lstStyle/>
          <a:p>
            <a:pPr algn="ctr" indent="0" marL="0">
              <a:buNone/>
            </a:pPr>
            <a:r>
              <a:rPr lang="en-US" sz="900" b="1" dirty="0">
                <a:solidFill>
                  <a:srgbClr val="E53935"/>
                </a:solidFill>
                <a:latin typeface="Arial" pitchFamily="34" charset="0"/>
                <a:ea typeface="Arial" pitchFamily="34" charset="-122"/>
                <a:cs typeface="Arial" pitchFamily="34" charset="-120"/>
              </a:rPr>
              <a:t>🔴 CRITICAL</a:t>
            </a:r>
            <a:endParaRPr lang="en-US" sz="900" dirty="0"/>
          </a:p>
        </p:txBody>
      </p:sp>
      <p:sp>
        <p:nvSpPr>
          <p:cNvPr id="18" name="Text 16"/>
          <p:cNvSpPr/>
          <p:nvPr/>
        </p:nvSpPr>
        <p:spPr>
          <a:xfrm>
            <a:off x="4892040" y="155448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Carrots Losing Money</a:t>
            </a:r>
            <a:endParaRPr lang="en-US" sz="1200" dirty="0"/>
          </a:p>
        </p:txBody>
      </p:sp>
      <p:sp>
        <p:nvSpPr>
          <p:cNvPr id="19" name="Text 17"/>
          <p:cNvSpPr/>
          <p:nvPr/>
        </p:nvSpPr>
        <p:spPr>
          <a:xfrm>
            <a:off x="4892040" y="187452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Carrots alone cause 45.5% of warehouse losses (20,861 ETB/week). Consider suspending or repricing immediately.</a:t>
            </a:r>
            <a:endParaRPr lang="en-US" sz="900" dirty="0"/>
          </a:p>
        </p:txBody>
      </p:sp>
      <p:sp>
        <p:nvSpPr>
          <p:cNvPr id="20" name="Shape 18"/>
          <p:cNvSpPr/>
          <p:nvPr/>
        </p:nvSpPr>
        <p:spPr>
          <a:xfrm>
            <a:off x="6903720" y="1280160"/>
            <a:ext cx="1965960" cy="1417320"/>
          </a:xfrm>
          <a:prstGeom prst="roundRect">
            <a:avLst>
              <a:gd name="adj" fmla="val 6452"/>
            </a:avLst>
          </a:prstGeom>
          <a:solidFill>
            <a:srgbClr val="F8F8F8"/>
          </a:solidFill>
          <a:ln/>
        </p:spPr>
      </p:sp>
      <p:sp>
        <p:nvSpPr>
          <p:cNvPr id="21" name="Shape 19"/>
          <p:cNvSpPr/>
          <p:nvPr/>
        </p:nvSpPr>
        <p:spPr>
          <a:xfrm>
            <a:off x="6903720" y="1280160"/>
            <a:ext cx="1965960" cy="45720"/>
          </a:xfrm>
          <a:prstGeom prst="rect">
            <a:avLst/>
          </a:prstGeom>
          <a:solidFill>
            <a:srgbClr val="CCCCCC"/>
          </a:solidFill>
          <a:ln/>
        </p:spPr>
      </p:sp>
      <p:sp>
        <p:nvSpPr>
          <p:cNvPr id="22" name="Text 20"/>
          <p:cNvSpPr/>
          <p:nvPr/>
        </p:nvSpPr>
        <p:spPr>
          <a:xfrm>
            <a:off x="6903720" y="1389888"/>
            <a:ext cx="1965960" cy="228600"/>
          </a:xfrm>
          <a:prstGeom prst="rect">
            <a:avLst/>
          </a:prstGeom>
          <a:noFill/>
          <a:ln/>
        </p:spPr>
        <p:txBody>
          <a:bodyPr wrap="square" lIns="0" tIns="0" rIns="0" bIns="0" rtlCol="0" anchor="ctr"/>
          <a:lstStyle/>
          <a:p>
            <a:pPr algn="ctr" indent="0" marL="0">
              <a:buNone/>
            </a:pPr>
            <a:r>
              <a:rPr lang="en-US" sz="900" b="1" dirty="0">
                <a:solidFill>
                  <a:srgbClr val="FF9800"/>
                </a:solidFill>
                <a:latin typeface="Arial" pitchFamily="34" charset="0"/>
                <a:ea typeface="Arial" pitchFamily="34" charset="-122"/>
                <a:cs typeface="Arial" pitchFamily="34" charset="-120"/>
              </a:rPr>
              <a:t>🟠 HIGH</a:t>
            </a:r>
            <a:endParaRPr lang="en-US" sz="900" dirty="0"/>
          </a:p>
        </p:txBody>
      </p:sp>
      <p:sp>
        <p:nvSpPr>
          <p:cNvPr id="23" name="Text 21"/>
          <p:cNvSpPr/>
          <p:nvPr/>
        </p:nvSpPr>
        <p:spPr>
          <a:xfrm>
            <a:off x="7040880" y="155448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No CRM System</a:t>
            </a:r>
            <a:endParaRPr lang="en-US" sz="1200" dirty="0"/>
          </a:p>
        </p:txBody>
      </p:sp>
      <p:sp>
        <p:nvSpPr>
          <p:cNvPr id="24" name="Text 22"/>
          <p:cNvSpPr/>
          <p:nvPr/>
        </p:nvSpPr>
        <p:spPr>
          <a:xfrm>
            <a:off x="7040880" y="187452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Customer data lives in spreadsheets. No lifecycle management, retention tracking, or automated campaigns.</a:t>
            </a:r>
            <a:endParaRPr lang="en-US" sz="900" dirty="0"/>
          </a:p>
        </p:txBody>
      </p:sp>
      <p:sp>
        <p:nvSpPr>
          <p:cNvPr id="25" name="Shape 23"/>
          <p:cNvSpPr/>
          <p:nvPr/>
        </p:nvSpPr>
        <p:spPr>
          <a:xfrm>
            <a:off x="457200" y="2926080"/>
            <a:ext cx="1965960" cy="1417320"/>
          </a:xfrm>
          <a:prstGeom prst="roundRect">
            <a:avLst>
              <a:gd name="adj" fmla="val 6452"/>
            </a:avLst>
          </a:prstGeom>
          <a:solidFill>
            <a:srgbClr val="F8F8F8"/>
          </a:solidFill>
          <a:ln/>
        </p:spPr>
      </p:sp>
      <p:sp>
        <p:nvSpPr>
          <p:cNvPr id="26" name="Shape 24"/>
          <p:cNvSpPr/>
          <p:nvPr/>
        </p:nvSpPr>
        <p:spPr>
          <a:xfrm>
            <a:off x="457200" y="2926080"/>
            <a:ext cx="1965960" cy="45720"/>
          </a:xfrm>
          <a:prstGeom prst="rect">
            <a:avLst/>
          </a:prstGeom>
          <a:solidFill>
            <a:srgbClr val="CCCCCC"/>
          </a:solidFill>
          <a:ln/>
        </p:spPr>
      </p:sp>
      <p:sp>
        <p:nvSpPr>
          <p:cNvPr id="27" name="Text 25"/>
          <p:cNvSpPr/>
          <p:nvPr/>
        </p:nvSpPr>
        <p:spPr>
          <a:xfrm>
            <a:off x="457200" y="3035808"/>
            <a:ext cx="1965960" cy="228600"/>
          </a:xfrm>
          <a:prstGeom prst="rect">
            <a:avLst/>
          </a:prstGeom>
          <a:noFill/>
          <a:ln/>
        </p:spPr>
        <p:txBody>
          <a:bodyPr wrap="square" lIns="0" tIns="0" rIns="0" bIns="0" rtlCol="0" anchor="ctr"/>
          <a:lstStyle/>
          <a:p>
            <a:pPr algn="ctr" indent="0" marL="0">
              <a:buNone/>
            </a:pPr>
            <a:r>
              <a:rPr lang="en-US" sz="900" b="1" dirty="0">
                <a:solidFill>
                  <a:srgbClr val="FF9800"/>
                </a:solidFill>
                <a:latin typeface="Arial" pitchFamily="34" charset="0"/>
                <a:ea typeface="Arial" pitchFamily="34" charset="-122"/>
                <a:cs typeface="Arial" pitchFamily="34" charset="-120"/>
              </a:rPr>
              <a:t>🟠 HIGH</a:t>
            </a:r>
            <a:endParaRPr lang="en-US" sz="900" dirty="0"/>
          </a:p>
        </p:txBody>
      </p:sp>
      <p:sp>
        <p:nvSpPr>
          <p:cNvPr id="28" name="Text 26"/>
          <p:cNvSpPr/>
          <p:nvPr/>
        </p:nvSpPr>
        <p:spPr>
          <a:xfrm>
            <a:off x="594360" y="320040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BNPL Not Launched</a:t>
            </a:r>
            <a:endParaRPr lang="en-US" sz="1200" dirty="0"/>
          </a:p>
        </p:txBody>
      </p:sp>
      <p:sp>
        <p:nvSpPr>
          <p:cNvPr id="29" name="Text 27"/>
          <p:cNvSpPr/>
          <p:nvPr/>
        </p:nvSpPr>
        <p:spPr>
          <a:xfrm>
            <a:off x="594360" y="352044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35% of target revenue from financing — still zero. 7-14 day cycle credit is the single biggest opportunity.</a:t>
            </a:r>
            <a:endParaRPr lang="en-US" sz="900" dirty="0"/>
          </a:p>
        </p:txBody>
      </p:sp>
      <p:sp>
        <p:nvSpPr>
          <p:cNvPr id="30" name="Shape 28"/>
          <p:cNvSpPr/>
          <p:nvPr/>
        </p:nvSpPr>
        <p:spPr>
          <a:xfrm>
            <a:off x="2606040" y="2926080"/>
            <a:ext cx="1965960" cy="1417320"/>
          </a:xfrm>
          <a:prstGeom prst="roundRect">
            <a:avLst>
              <a:gd name="adj" fmla="val 6452"/>
            </a:avLst>
          </a:prstGeom>
          <a:solidFill>
            <a:srgbClr val="F8F8F8"/>
          </a:solidFill>
          <a:ln/>
        </p:spPr>
      </p:sp>
      <p:sp>
        <p:nvSpPr>
          <p:cNvPr id="31" name="Shape 29"/>
          <p:cNvSpPr/>
          <p:nvPr/>
        </p:nvSpPr>
        <p:spPr>
          <a:xfrm>
            <a:off x="2606040" y="2926080"/>
            <a:ext cx="1965960" cy="45720"/>
          </a:xfrm>
          <a:prstGeom prst="rect">
            <a:avLst/>
          </a:prstGeom>
          <a:solidFill>
            <a:srgbClr val="CCCCCC"/>
          </a:solidFill>
          <a:ln/>
        </p:spPr>
      </p:sp>
      <p:sp>
        <p:nvSpPr>
          <p:cNvPr id="32" name="Text 30"/>
          <p:cNvSpPr/>
          <p:nvPr/>
        </p:nvSpPr>
        <p:spPr>
          <a:xfrm>
            <a:off x="2606040" y="3035808"/>
            <a:ext cx="1965960" cy="228600"/>
          </a:xfrm>
          <a:prstGeom prst="rect">
            <a:avLst/>
          </a:prstGeom>
          <a:noFill/>
          <a:ln/>
        </p:spPr>
        <p:txBody>
          <a:bodyPr wrap="square" lIns="0" tIns="0" rIns="0" bIns="0" rtlCol="0" anchor="ctr"/>
          <a:lstStyle/>
          <a:p>
            <a:pPr algn="ctr" indent="0" marL="0">
              <a:buNone/>
            </a:pPr>
            <a:r>
              <a:rPr lang="en-US" sz="900" b="1" dirty="0">
                <a:solidFill>
                  <a:srgbClr val="FF9800"/>
                </a:solidFill>
                <a:latin typeface="Arial" pitchFamily="34" charset="0"/>
                <a:ea typeface="Arial" pitchFamily="34" charset="-122"/>
                <a:cs typeface="Arial" pitchFamily="34" charset="-120"/>
              </a:rPr>
              <a:t>🟠 HIGH</a:t>
            </a:r>
            <a:endParaRPr lang="en-US" sz="900" dirty="0"/>
          </a:p>
        </p:txBody>
      </p:sp>
      <p:sp>
        <p:nvSpPr>
          <p:cNvPr id="33" name="Text 31"/>
          <p:cNvSpPr/>
          <p:nvPr/>
        </p:nvSpPr>
        <p:spPr>
          <a:xfrm>
            <a:off x="2743200" y="320040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B2B Pipeline Broken</a:t>
            </a:r>
            <a:endParaRPr lang="en-US" sz="1200" dirty="0"/>
          </a:p>
        </p:txBody>
      </p:sp>
      <p:sp>
        <p:nvSpPr>
          <p:cNvPr id="34" name="Text 32"/>
          <p:cNvSpPr/>
          <p:nvPr/>
        </p:nvSpPr>
        <p:spPr>
          <a:xfrm>
            <a:off x="2743200" y="352044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B2B still 58% below W1 levels. 40-restaurant pipeline disrupted. Needs dedicated sales agent immediately.</a:t>
            </a:r>
            <a:endParaRPr lang="en-US" sz="900" dirty="0"/>
          </a:p>
        </p:txBody>
      </p:sp>
      <p:sp>
        <p:nvSpPr>
          <p:cNvPr id="35" name="Shape 33"/>
          <p:cNvSpPr/>
          <p:nvPr/>
        </p:nvSpPr>
        <p:spPr>
          <a:xfrm>
            <a:off x="4754880" y="2926080"/>
            <a:ext cx="1965960" cy="1417320"/>
          </a:xfrm>
          <a:prstGeom prst="roundRect">
            <a:avLst>
              <a:gd name="adj" fmla="val 6452"/>
            </a:avLst>
          </a:prstGeom>
          <a:solidFill>
            <a:srgbClr val="F8F8F8"/>
          </a:solidFill>
          <a:ln/>
        </p:spPr>
      </p:sp>
      <p:sp>
        <p:nvSpPr>
          <p:cNvPr id="36" name="Shape 34"/>
          <p:cNvSpPr/>
          <p:nvPr/>
        </p:nvSpPr>
        <p:spPr>
          <a:xfrm>
            <a:off x="4754880" y="2926080"/>
            <a:ext cx="1965960" cy="45720"/>
          </a:xfrm>
          <a:prstGeom prst="rect">
            <a:avLst/>
          </a:prstGeom>
          <a:solidFill>
            <a:srgbClr val="CCCCCC"/>
          </a:solidFill>
          <a:ln/>
        </p:spPr>
      </p:sp>
      <p:sp>
        <p:nvSpPr>
          <p:cNvPr id="37" name="Text 35"/>
          <p:cNvSpPr/>
          <p:nvPr/>
        </p:nvSpPr>
        <p:spPr>
          <a:xfrm>
            <a:off x="4754880" y="3035808"/>
            <a:ext cx="1965960" cy="228600"/>
          </a:xfrm>
          <a:prstGeom prst="rect">
            <a:avLst/>
          </a:prstGeom>
          <a:noFill/>
          <a:ln/>
        </p:spPr>
        <p:txBody>
          <a:bodyPr wrap="square" lIns="0" tIns="0" rIns="0" bIns="0" rtlCol="0" anchor="ctr"/>
          <a:lstStyle/>
          <a:p>
            <a:pPr algn="ctr" indent="0" marL="0">
              <a:buNone/>
            </a:pPr>
            <a:r>
              <a:rPr lang="en-US" sz="900" b="1" dirty="0">
                <a:solidFill>
                  <a:srgbClr val="FF9800"/>
                </a:solidFill>
                <a:latin typeface="Arial" pitchFamily="34" charset="0"/>
                <a:ea typeface="Arial" pitchFamily="34" charset="-122"/>
                <a:cs typeface="Arial" pitchFamily="34" charset="-120"/>
              </a:rPr>
              <a:t>🟡 MEDIUM</a:t>
            </a:r>
            <a:endParaRPr lang="en-US" sz="900" dirty="0"/>
          </a:p>
        </p:txBody>
      </p:sp>
      <p:sp>
        <p:nvSpPr>
          <p:cNvPr id="38" name="Text 36"/>
          <p:cNvSpPr/>
          <p:nvPr/>
        </p:nvSpPr>
        <p:spPr>
          <a:xfrm>
            <a:off x="4892040" y="320040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Tech UI Broken</a:t>
            </a:r>
            <a:endParaRPr lang="en-US" sz="1200" dirty="0"/>
          </a:p>
        </p:txBody>
      </p:sp>
      <p:sp>
        <p:nvSpPr>
          <p:cNvPr id="39" name="Text 37"/>
          <p:cNvSpPr/>
          <p:nvPr/>
        </p:nvSpPr>
        <p:spPr>
          <a:xfrm>
            <a:off x="4892040" y="352044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SettingsView non-functional, FeedbackView stale data, no drag-and-drop Kanban, hardcoded org charts.</a:t>
            </a:r>
            <a:endParaRPr lang="en-US" sz="900" dirty="0"/>
          </a:p>
        </p:txBody>
      </p:sp>
      <p:sp>
        <p:nvSpPr>
          <p:cNvPr id="40" name="Shape 38"/>
          <p:cNvSpPr/>
          <p:nvPr/>
        </p:nvSpPr>
        <p:spPr>
          <a:xfrm>
            <a:off x="6903720" y="2926080"/>
            <a:ext cx="1965960" cy="1417320"/>
          </a:xfrm>
          <a:prstGeom prst="roundRect">
            <a:avLst>
              <a:gd name="adj" fmla="val 6452"/>
            </a:avLst>
          </a:prstGeom>
          <a:solidFill>
            <a:srgbClr val="F8F8F8"/>
          </a:solidFill>
          <a:ln/>
        </p:spPr>
      </p:sp>
      <p:sp>
        <p:nvSpPr>
          <p:cNvPr id="41" name="Shape 39"/>
          <p:cNvSpPr/>
          <p:nvPr/>
        </p:nvSpPr>
        <p:spPr>
          <a:xfrm>
            <a:off x="6903720" y="2926080"/>
            <a:ext cx="1965960" cy="45720"/>
          </a:xfrm>
          <a:prstGeom prst="rect">
            <a:avLst/>
          </a:prstGeom>
          <a:solidFill>
            <a:srgbClr val="CCCCCC"/>
          </a:solidFill>
          <a:ln/>
        </p:spPr>
      </p:sp>
      <p:sp>
        <p:nvSpPr>
          <p:cNvPr id="42" name="Text 40"/>
          <p:cNvSpPr/>
          <p:nvPr/>
        </p:nvSpPr>
        <p:spPr>
          <a:xfrm>
            <a:off x="6903720" y="3035808"/>
            <a:ext cx="1965960" cy="228600"/>
          </a:xfrm>
          <a:prstGeom prst="rect">
            <a:avLst/>
          </a:prstGeom>
          <a:noFill/>
          <a:ln/>
        </p:spPr>
        <p:txBody>
          <a:bodyPr wrap="square" lIns="0" tIns="0" rIns="0" bIns="0" rtlCol="0" anchor="ctr"/>
          <a:lstStyle/>
          <a:p>
            <a:pPr algn="ctr" indent="0" marL="0">
              <a:buNone/>
            </a:pPr>
            <a:r>
              <a:rPr lang="en-US" sz="900" b="1" dirty="0">
                <a:solidFill>
                  <a:srgbClr val="FF9800"/>
                </a:solidFill>
                <a:latin typeface="Arial" pitchFamily="34" charset="0"/>
                <a:ea typeface="Arial" pitchFamily="34" charset="-122"/>
                <a:cs typeface="Arial" pitchFamily="34" charset="-120"/>
              </a:rPr>
              <a:t>🟡 MEDIUM</a:t>
            </a:r>
            <a:endParaRPr lang="en-US" sz="900" dirty="0"/>
          </a:p>
        </p:txBody>
      </p:sp>
      <p:sp>
        <p:nvSpPr>
          <p:cNvPr id="43" name="Text 41"/>
          <p:cNvSpPr/>
          <p:nvPr/>
        </p:nvSpPr>
        <p:spPr>
          <a:xfrm>
            <a:off x="7040880" y="3200400"/>
            <a:ext cx="1691640" cy="320040"/>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Sales Momentum Fading</a:t>
            </a:r>
            <a:endParaRPr lang="en-US" sz="1200" dirty="0"/>
          </a:p>
        </p:txBody>
      </p:sp>
      <p:sp>
        <p:nvSpPr>
          <p:cNvPr id="44" name="Text 42"/>
          <p:cNvSpPr/>
          <p:nvPr/>
        </p:nvSpPr>
        <p:spPr>
          <a:xfrm>
            <a:off x="7040880" y="3520440"/>
            <a:ext cx="1691640" cy="731520"/>
          </a:xfrm>
          <a:prstGeom prst="rect">
            <a:avLst/>
          </a:prstGeom>
          <a:noFill/>
          <a:ln/>
        </p:spPr>
        <p:txBody>
          <a:bodyPr wrap="square" lIns="0" tIns="0" rIns="0" bIns="0" rtlCol="0" anchor="ctr"/>
          <a:lstStyle/>
          <a:p>
            <a:pPr indent="0" marL="0">
              <a:buNone/>
            </a:pPr>
            <a:r>
              <a:rPr lang="en-US" sz="900" dirty="0">
                <a:solidFill>
                  <a:srgbClr val="555555"/>
                </a:solidFill>
                <a:latin typeface="Arial" pitchFamily="34" charset="0"/>
                <a:ea typeface="Arial" pitchFamily="34" charset="-122"/>
                <a:cs typeface="Arial" pitchFamily="34" charset="-120"/>
              </a:rPr>
              <a:t>W6 daily rate 5,419 ETB (down 9.6% from W5). Growth decelerating. Root cause unknown.</a:t>
            </a:r>
            <a:endParaRPr lang="en-US" sz="900" dirty="0"/>
          </a:p>
        </p:txBody>
      </p:sp>
      <p:sp>
        <p:nvSpPr>
          <p:cNvPr id="45" name="Shape 43"/>
          <p:cNvSpPr/>
          <p:nvPr/>
        </p:nvSpPr>
        <p:spPr>
          <a:xfrm>
            <a:off x="8503920" y="4663440"/>
            <a:ext cx="365760" cy="365760"/>
          </a:xfrm>
          <a:prstGeom prst="ellipse">
            <a:avLst/>
          </a:prstGeom>
          <a:solidFill>
            <a:srgbClr val="E53935"/>
          </a:solidFill>
          <a:ln/>
        </p:spPr>
      </p:sp>
      <p:sp>
        <p:nvSpPr>
          <p:cNvPr id="46" name="Text 44"/>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48640" y="457200"/>
            <a:ext cx="640080" cy="640080"/>
          </a:xfrm>
          <a:prstGeom prst="ellipse">
            <a:avLst/>
          </a:prstGeom>
          <a:solidFill>
            <a:srgbClr val="E53935"/>
          </a:solidFill>
          <a:ln/>
        </p:spPr>
      </p:sp>
      <p:sp>
        <p:nvSpPr>
          <p:cNvPr id="4" name="Text 2"/>
          <p:cNvSpPr/>
          <p:nvPr/>
        </p:nvSpPr>
        <p:spPr>
          <a:xfrm>
            <a:off x="548640"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sp>
        <p:nvSpPr>
          <p:cNvPr id="5" name="Text 3"/>
          <p:cNvSpPr/>
          <p:nvPr/>
        </p:nvSpPr>
        <p:spPr>
          <a:xfrm>
            <a:off x="1371600" y="502920"/>
            <a:ext cx="5486400" cy="5486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FIX THE FINANCIAL ENGINE</a:t>
            </a:r>
            <a:endParaRPr lang="en-US" sz="3200" dirty="0"/>
          </a:p>
        </p:txBody>
      </p:sp>
      <p:sp>
        <p:nvSpPr>
          <p:cNvPr id="6" name="Shape 4"/>
          <p:cNvSpPr/>
          <p:nvPr/>
        </p:nvSpPr>
        <p:spPr>
          <a:xfrm>
            <a:off x="548640" y="1417320"/>
            <a:ext cx="8229600" cy="548640"/>
          </a:xfrm>
          <a:prstGeom prst="roundRect">
            <a:avLst>
              <a:gd name="adj" fmla="val 16667"/>
            </a:avLst>
          </a:prstGeom>
          <a:solidFill>
            <a:srgbClr val="FFF5F5"/>
          </a:solidFill>
          <a:ln/>
        </p:spPr>
      </p:sp>
      <p:sp>
        <p:nvSpPr>
          <p:cNvPr id="7" name="Shape 5"/>
          <p:cNvSpPr/>
          <p:nvPr/>
        </p:nvSpPr>
        <p:spPr>
          <a:xfrm>
            <a:off x="548640" y="1417320"/>
            <a:ext cx="73152" cy="548640"/>
          </a:xfrm>
          <a:prstGeom prst="rect">
            <a:avLst/>
          </a:prstGeom>
          <a:solidFill>
            <a:srgbClr val="E53935"/>
          </a:solidFill>
          <a:ln/>
        </p:spPr>
      </p:sp>
      <p:sp>
        <p:nvSpPr>
          <p:cNvPr id="8" name="Text 6"/>
          <p:cNvSpPr/>
          <p:nvPr/>
        </p:nvSpPr>
        <p:spPr>
          <a:xfrm>
            <a:off x="731520" y="1435608"/>
            <a:ext cx="2743200" cy="22860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Enforce CP1 Auto-Block</a:t>
            </a:r>
            <a:endParaRPr lang="en-US" sz="1400" dirty="0"/>
          </a:p>
        </p:txBody>
      </p:sp>
      <p:sp>
        <p:nvSpPr>
          <p:cNvPr id="9" name="Text 7"/>
          <p:cNvSpPr/>
          <p:nvPr/>
        </p:nvSpPr>
        <p:spPr>
          <a:xfrm>
            <a:off x="731520" y="1664208"/>
            <a:ext cx="7772400" cy="274320"/>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Zero-tolerance: no SKU can ship below margin floor. No emotional overrides, no exceptions. System-enforced at checkout.</a:t>
            </a:r>
            <a:endParaRPr lang="en-US" sz="1100" dirty="0"/>
          </a:p>
        </p:txBody>
      </p:sp>
      <p:sp>
        <p:nvSpPr>
          <p:cNvPr id="10" name="Shape 8"/>
          <p:cNvSpPr/>
          <p:nvPr/>
        </p:nvSpPr>
        <p:spPr>
          <a:xfrm>
            <a:off x="548640" y="2103120"/>
            <a:ext cx="8229600" cy="548640"/>
          </a:xfrm>
          <a:prstGeom prst="roundRect">
            <a:avLst>
              <a:gd name="adj" fmla="val 16667"/>
            </a:avLst>
          </a:prstGeom>
          <a:solidFill>
            <a:srgbClr val="F8F8F8"/>
          </a:solidFill>
          <a:ln/>
        </p:spPr>
      </p:sp>
      <p:sp>
        <p:nvSpPr>
          <p:cNvPr id="11" name="Shape 9"/>
          <p:cNvSpPr/>
          <p:nvPr/>
        </p:nvSpPr>
        <p:spPr>
          <a:xfrm>
            <a:off x="548640" y="2103120"/>
            <a:ext cx="73152" cy="548640"/>
          </a:xfrm>
          <a:prstGeom prst="rect">
            <a:avLst/>
          </a:prstGeom>
          <a:solidFill>
            <a:srgbClr val="E53935"/>
          </a:solidFill>
          <a:ln/>
        </p:spPr>
      </p:sp>
      <p:sp>
        <p:nvSpPr>
          <p:cNvPr id="12" name="Text 10"/>
          <p:cNvSpPr/>
          <p:nvPr/>
        </p:nvSpPr>
        <p:spPr>
          <a:xfrm>
            <a:off x="731520" y="2121408"/>
            <a:ext cx="2743200" cy="22860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Kill Unprofitable SKUs</a:t>
            </a:r>
            <a:endParaRPr lang="en-US" sz="1400" dirty="0"/>
          </a:p>
        </p:txBody>
      </p:sp>
      <p:sp>
        <p:nvSpPr>
          <p:cNvPr id="13" name="Text 11"/>
          <p:cNvSpPr/>
          <p:nvPr/>
        </p:nvSpPr>
        <p:spPr>
          <a:xfrm>
            <a:off x="731520" y="2350008"/>
            <a:ext cx="7772400" cy="274320"/>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Any product with negative CP1 for 2 consecutive weeks gets automatically suspended. Carrots (45.5% loss) are priority #1.</a:t>
            </a:r>
            <a:endParaRPr lang="en-US" sz="1100" dirty="0"/>
          </a:p>
        </p:txBody>
      </p:sp>
      <p:sp>
        <p:nvSpPr>
          <p:cNvPr id="14" name="Shape 12"/>
          <p:cNvSpPr/>
          <p:nvPr/>
        </p:nvSpPr>
        <p:spPr>
          <a:xfrm>
            <a:off x="548640" y="2788920"/>
            <a:ext cx="8229600" cy="548640"/>
          </a:xfrm>
          <a:prstGeom prst="roundRect">
            <a:avLst>
              <a:gd name="adj" fmla="val 16667"/>
            </a:avLst>
          </a:prstGeom>
          <a:solidFill>
            <a:srgbClr val="FFF5F5"/>
          </a:solidFill>
          <a:ln/>
        </p:spPr>
      </p:sp>
      <p:sp>
        <p:nvSpPr>
          <p:cNvPr id="15" name="Shape 13"/>
          <p:cNvSpPr/>
          <p:nvPr/>
        </p:nvSpPr>
        <p:spPr>
          <a:xfrm>
            <a:off x="548640" y="2788920"/>
            <a:ext cx="73152" cy="548640"/>
          </a:xfrm>
          <a:prstGeom prst="rect">
            <a:avLst/>
          </a:prstGeom>
          <a:solidFill>
            <a:srgbClr val="E53935"/>
          </a:solidFill>
          <a:ln/>
        </p:spPr>
      </p:sp>
      <p:sp>
        <p:nvSpPr>
          <p:cNvPr id="16" name="Text 14"/>
          <p:cNvSpPr/>
          <p:nvPr/>
        </p:nvSpPr>
        <p:spPr>
          <a:xfrm>
            <a:off x="731520" y="2807208"/>
            <a:ext cx="2743200" cy="22860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Accelerate B2B Migration</a:t>
            </a:r>
            <a:endParaRPr lang="en-US" sz="1400" dirty="0"/>
          </a:p>
        </p:txBody>
      </p:sp>
      <p:sp>
        <p:nvSpPr>
          <p:cNvPr id="17" name="Text 15"/>
          <p:cNvSpPr/>
          <p:nvPr/>
        </p:nvSpPr>
        <p:spPr>
          <a:xfrm>
            <a:off x="731520" y="3035808"/>
            <a:ext cx="7772400" cy="274320"/>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Every restaurant moved from B2C saves margin. Target 40 restaurants by end of Q2 with dedicated sales assignment.</a:t>
            </a:r>
            <a:endParaRPr lang="en-US" sz="1100" dirty="0"/>
          </a:p>
        </p:txBody>
      </p:sp>
      <p:sp>
        <p:nvSpPr>
          <p:cNvPr id="18" name="Shape 16"/>
          <p:cNvSpPr/>
          <p:nvPr/>
        </p:nvSpPr>
        <p:spPr>
          <a:xfrm>
            <a:off x="548640" y="3474720"/>
            <a:ext cx="8229600" cy="548640"/>
          </a:xfrm>
          <a:prstGeom prst="roundRect">
            <a:avLst>
              <a:gd name="adj" fmla="val 16667"/>
            </a:avLst>
          </a:prstGeom>
          <a:solidFill>
            <a:srgbClr val="F8F8F8"/>
          </a:solidFill>
          <a:ln/>
        </p:spPr>
      </p:sp>
      <p:sp>
        <p:nvSpPr>
          <p:cNvPr id="19" name="Shape 17"/>
          <p:cNvSpPr/>
          <p:nvPr/>
        </p:nvSpPr>
        <p:spPr>
          <a:xfrm>
            <a:off x="548640" y="3474720"/>
            <a:ext cx="73152" cy="548640"/>
          </a:xfrm>
          <a:prstGeom prst="rect">
            <a:avLst/>
          </a:prstGeom>
          <a:solidFill>
            <a:srgbClr val="E53935"/>
          </a:solidFill>
          <a:ln/>
        </p:spPr>
      </p:sp>
      <p:sp>
        <p:nvSpPr>
          <p:cNvPr id="20" name="Text 18"/>
          <p:cNvSpPr/>
          <p:nvPr/>
        </p:nvSpPr>
        <p:spPr>
          <a:xfrm>
            <a:off x="731520" y="3493008"/>
            <a:ext cx="2743200" cy="22860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Aggressive SG&amp;A Reduction</a:t>
            </a:r>
            <a:endParaRPr lang="en-US" sz="1400" dirty="0"/>
          </a:p>
        </p:txBody>
      </p:sp>
      <p:sp>
        <p:nvSpPr>
          <p:cNvPr id="21" name="Text 19"/>
          <p:cNvSpPr/>
          <p:nvPr/>
        </p:nvSpPr>
        <p:spPr>
          <a:xfrm>
            <a:off x="731520" y="3721608"/>
            <a:ext cx="7772400" cy="274320"/>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Target 8M ETB/month burn by Q2 end: -35% marketing, -15% warehouse, -10% salary per KPI booklet.</a:t>
            </a:r>
            <a:endParaRPr lang="en-US" sz="1100" dirty="0"/>
          </a:p>
        </p:txBody>
      </p:sp>
      <p:sp>
        <p:nvSpPr>
          <p:cNvPr id="22" name="Shape 20"/>
          <p:cNvSpPr/>
          <p:nvPr/>
        </p:nvSpPr>
        <p:spPr>
          <a:xfrm>
            <a:off x="548640" y="4160520"/>
            <a:ext cx="8229600" cy="548640"/>
          </a:xfrm>
          <a:prstGeom prst="roundRect">
            <a:avLst>
              <a:gd name="adj" fmla="val 16667"/>
            </a:avLst>
          </a:prstGeom>
          <a:solidFill>
            <a:srgbClr val="FFF5F5"/>
          </a:solidFill>
          <a:ln/>
        </p:spPr>
      </p:sp>
      <p:sp>
        <p:nvSpPr>
          <p:cNvPr id="23" name="Shape 21"/>
          <p:cNvSpPr/>
          <p:nvPr/>
        </p:nvSpPr>
        <p:spPr>
          <a:xfrm>
            <a:off x="548640" y="4160520"/>
            <a:ext cx="73152" cy="548640"/>
          </a:xfrm>
          <a:prstGeom prst="rect">
            <a:avLst/>
          </a:prstGeom>
          <a:solidFill>
            <a:srgbClr val="E53935"/>
          </a:solidFill>
          <a:ln/>
        </p:spPr>
      </p:sp>
      <p:sp>
        <p:nvSpPr>
          <p:cNvPr id="24" name="Text 22"/>
          <p:cNvSpPr/>
          <p:nvPr/>
        </p:nvSpPr>
        <p:spPr>
          <a:xfrm>
            <a:off x="731520" y="4178808"/>
            <a:ext cx="2743200" cy="22860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Launch BNPL Pilot</a:t>
            </a:r>
            <a:endParaRPr lang="en-US" sz="1400" dirty="0"/>
          </a:p>
        </p:txBody>
      </p:sp>
      <p:sp>
        <p:nvSpPr>
          <p:cNvPr id="25" name="Text 23"/>
          <p:cNvSpPr/>
          <p:nvPr/>
        </p:nvSpPr>
        <p:spPr>
          <a:xfrm>
            <a:off x="731520" y="4407408"/>
            <a:ext cx="7772400" cy="274320"/>
          </a:xfrm>
          <a:prstGeom prst="rect">
            <a:avLst/>
          </a:prstGeom>
          <a:noFill/>
          <a:ln/>
        </p:spPr>
        <p:txBody>
          <a:bodyPr wrap="square" lIns="0" tIns="0" rIns="0" bIns="0" rtlCol="0" anchor="ctr"/>
          <a:lstStyle/>
          <a:p>
            <a:pPr indent="0" marL="0">
              <a:buNone/>
            </a:pPr>
            <a:r>
              <a:rPr lang="en-US" sz="1100" dirty="0">
                <a:solidFill>
                  <a:srgbClr val="444444"/>
                </a:solidFill>
                <a:latin typeface="Arial" pitchFamily="34" charset="0"/>
                <a:ea typeface="Arial" pitchFamily="34" charset="-122"/>
                <a:cs typeface="Arial" pitchFamily="34" charset="-120"/>
              </a:rPr>
              <a:t>Top 10 restaurants. 7-day cycle, 3% fee, hard credit caps. Auto-block on defaults. First step toward 35% revenue target.</a:t>
            </a:r>
            <a:endParaRPr lang="en-US" sz="1100" dirty="0"/>
          </a:p>
        </p:txBody>
      </p:sp>
      <p:sp>
        <p:nvSpPr>
          <p:cNvPr id="26" name="Shape 24"/>
          <p:cNvSpPr/>
          <p:nvPr/>
        </p:nvSpPr>
        <p:spPr>
          <a:xfrm>
            <a:off x="548640" y="4754880"/>
            <a:ext cx="7315200" cy="274320"/>
          </a:xfrm>
          <a:prstGeom prst="roundRect">
            <a:avLst>
              <a:gd name="adj" fmla="val 26667"/>
            </a:avLst>
          </a:prstGeom>
          <a:solidFill>
            <a:srgbClr val="FFF5F5"/>
          </a:solidFill>
          <a:ln/>
        </p:spPr>
      </p:sp>
      <p:sp>
        <p:nvSpPr>
          <p:cNvPr id="27" name="Text 25"/>
          <p:cNvSpPr/>
          <p:nvPr/>
        </p:nvSpPr>
        <p:spPr>
          <a:xfrm>
            <a:off x="548640" y="4754880"/>
            <a:ext cx="7315200" cy="274320"/>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Target: CP1 ≥ +5% by end of Q1, company breakeven by Q4 2026</a:t>
            </a:r>
            <a:endParaRPr lang="en-US" sz="1100" dirty="0"/>
          </a:p>
        </p:txBody>
      </p:sp>
      <p:sp>
        <p:nvSpPr>
          <p:cNvPr id="28" name="Shape 26"/>
          <p:cNvSpPr/>
          <p:nvPr/>
        </p:nvSpPr>
        <p:spPr>
          <a:xfrm>
            <a:off x="8503920" y="4663440"/>
            <a:ext cx="365760" cy="365760"/>
          </a:xfrm>
          <a:prstGeom prst="ellipse">
            <a:avLst/>
          </a:prstGeom>
          <a:solidFill>
            <a:srgbClr val="E53935"/>
          </a:solidFill>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48640" y="457200"/>
            <a:ext cx="640080" cy="640080"/>
          </a:xfrm>
          <a:prstGeom prst="ellipse">
            <a:avLst/>
          </a:prstGeom>
          <a:solidFill>
            <a:srgbClr val="E53935"/>
          </a:solidFill>
          <a:ln/>
        </p:spPr>
      </p:sp>
      <p:sp>
        <p:nvSpPr>
          <p:cNvPr id="4" name="Text 2"/>
          <p:cNvSpPr/>
          <p:nvPr/>
        </p:nvSpPr>
        <p:spPr>
          <a:xfrm>
            <a:off x="548640"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sp>
        <p:nvSpPr>
          <p:cNvPr id="5" name="Text 3"/>
          <p:cNvSpPr/>
          <p:nvPr/>
        </p:nvSpPr>
        <p:spPr>
          <a:xfrm>
            <a:off x="1371600" y="502920"/>
            <a:ext cx="5486400" cy="5486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RUTHLESS B2B MIGRATION</a:t>
            </a:r>
            <a:endParaRPr lang="en-US" sz="3200" dirty="0"/>
          </a:p>
        </p:txBody>
      </p:sp>
      <p:sp>
        <p:nvSpPr>
          <p:cNvPr id="6" name="Shape 4"/>
          <p:cNvSpPr/>
          <p:nvPr/>
        </p:nvSpPr>
        <p:spPr>
          <a:xfrm>
            <a:off x="548640" y="1325880"/>
            <a:ext cx="3840480" cy="1097280"/>
          </a:xfrm>
          <a:prstGeom prst="roundRect">
            <a:avLst>
              <a:gd name="adj" fmla="val 8333"/>
            </a:avLst>
          </a:prstGeom>
          <a:solidFill>
            <a:srgbClr val="FFF5F5"/>
          </a:solidFill>
          <a:ln/>
        </p:spPr>
      </p:sp>
      <p:sp>
        <p:nvSpPr>
          <p:cNvPr id="7" name="Text 5"/>
          <p:cNvSpPr/>
          <p:nvPr/>
        </p:nvSpPr>
        <p:spPr>
          <a:xfrm>
            <a:off x="548640" y="1325880"/>
            <a:ext cx="3840480" cy="228600"/>
          </a:xfrm>
          <a:prstGeom prst="rect">
            <a:avLst/>
          </a:prstGeom>
          <a:noFill/>
          <a:ln/>
        </p:spPr>
        <p:txBody>
          <a:bodyPr wrap="square" lIns="0" tIns="0" rIns="0" bIns="0" rtlCol="0" anchor="ctr"/>
          <a:lstStyle/>
          <a:p>
            <a:pPr algn="ctr" indent="0" marL="0">
              <a:buNone/>
            </a:pPr>
            <a:r>
              <a:rPr lang="en-US" sz="1000" b="1" spc="300" kern="0" dirty="0">
                <a:solidFill>
                  <a:srgbClr val="E53935"/>
                </a:solidFill>
                <a:latin typeface="Arial" pitchFamily="34" charset="0"/>
                <a:ea typeface="Arial" pitchFamily="34" charset="-122"/>
                <a:cs typeface="Arial" pitchFamily="34" charset="-120"/>
              </a:rPr>
              <a:t>WHY B2B?</a:t>
            </a:r>
            <a:endParaRPr lang="en-US" sz="1000" dirty="0"/>
          </a:p>
        </p:txBody>
      </p:sp>
      <p:sp>
        <p:nvSpPr>
          <p:cNvPr id="8" name="Text 6"/>
          <p:cNvSpPr/>
          <p:nvPr/>
        </p:nvSpPr>
        <p:spPr>
          <a:xfrm>
            <a:off x="548640" y="1600200"/>
            <a:ext cx="3840480" cy="731520"/>
          </a:xfrm>
          <a:prstGeom prst="rect">
            <a:avLst/>
          </a:prstGeom>
          <a:noFill/>
          <a:ln/>
        </p:spPr>
        <p:txBody>
          <a:bodyPr wrap="square" lIns="0" tIns="0" rIns="0" bIns="0" rtlCol="0" anchor="ctr"/>
          <a:lstStyle/>
          <a:p>
            <a:pPr algn="ctr" indent="0" marL="0">
              <a:buNone/>
            </a:pPr>
            <a:r>
              <a:rPr lang="en-US" sz="1200" dirty="0">
                <a:solidFill>
                  <a:srgbClr val="333333"/>
                </a:solidFill>
                <a:latin typeface="Arial" pitchFamily="34" charset="0"/>
                <a:ea typeface="Arial" pitchFamily="34" charset="-122"/>
                <a:cs typeface="Arial" pitchFamily="34" charset="-120"/>
              </a:rPr>
              <a:t>A single B2B order (~5,000 ETB) = 60 individual B2C orders. Moving from 16% to 40% B2B share could double gross margins with same logistics.</a:t>
            </a:r>
            <a:endParaRPr lang="en-US" sz="1200" dirty="0"/>
          </a:p>
        </p:txBody>
      </p:sp>
      <p:sp>
        <p:nvSpPr>
          <p:cNvPr id="9" name="Text 7"/>
          <p:cNvSpPr/>
          <p:nvPr/>
        </p:nvSpPr>
        <p:spPr>
          <a:xfrm>
            <a:off x="4754880" y="1280160"/>
            <a:ext cx="27432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ACTION PLAN</a:t>
            </a:r>
            <a:endParaRPr lang="en-US" sz="1000" dirty="0"/>
          </a:p>
        </p:txBody>
      </p:sp>
      <p:sp>
        <p:nvSpPr>
          <p:cNvPr id="10" name="Shape 8"/>
          <p:cNvSpPr/>
          <p:nvPr/>
        </p:nvSpPr>
        <p:spPr>
          <a:xfrm>
            <a:off x="4754880" y="1691640"/>
            <a:ext cx="347472" cy="347472"/>
          </a:xfrm>
          <a:prstGeom prst="ellipse">
            <a:avLst/>
          </a:prstGeom>
          <a:solidFill>
            <a:srgbClr val="E53935"/>
          </a:solidFill>
          <a:ln/>
        </p:spPr>
      </p:sp>
      <p:sp>
        <p:nvSpPr>
          <p:cNvPr id="11" name="Text 9"/>
          <p:cNvSpPr/>
          <p:nvPr/>
        </p:nvSpPr>
        <p:spPr>
          <a:xfrm>
            <a:off x="4754880" y="16916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10"/>
          <p:cNvSpPr/>
          <p:nvPr/>
        </p:nvSpPr>
        <p:spPr>
          <a:xfrm>
            <a:off x="5212080" y="1691640"/>
            <a:ext cx="3474720" cy="347472"/>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Assign formal sales agent — not marketing</a:t>
            </a:r>
            <a:endParaRPr lang="en-US" sz="1200" dirty="0"/>
          </a:p>
        </p:txBody>
      </p:sp>
      <p:sp>
        <p:nvSpPr>
          <p:cNvPr id="13" name="Shape 11"/>
          <p:cNvSpPr/>
          <p:nvPr/>
        </p:nvSpPr>
        <p:spPr>
          <a:xfrm>
            <a:off x="4754880" y="2221992"/>
            <a:ext cx="347472" cy="347472"/>
          </a:xfrm>
          <a:prstGeom prst="ellipse">
            <a:avLst/>
          </a:prstGeom>
          <a:solidFill>
            <a:srgbClr val="E53935"/>
          </a:solidFill>
          <a:ln/>
        </p:spPr>
      </p:sp>
      <p:sp>
        <p:nvSpPr>
          <p:cNvPr id="14" name="Text 12"/>
          <p:cNvSpPr/>
          <p:nvPr/>
        </p:nvSpPr>
        <p:spPr>
          <a:xfrm>
            <a:off x="4754880" y="22219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5212080" y="2221992"/>
            <a:ext cx="3474720" cy="347472"/>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Target 40 restaurants by end of Q2</a:t>
            </a:r>
            <a:endParaRPr lang="en-US" sz="1200" dirty="0"/>
          </a:p>
        </p:txBody>
      </p:sp>
      <p:sp>
        <p:nvSpPr>
          <p:cNvPr id="16" name="Shape 14"/>
          <p:cNvSpPr/>
          <p:nvPr/>
        </p:nvSpPr>
        <p:spPr>
          <a:xfrm>
            <a:off x="4754880" y="2752344"/>
            <a:ext cx="347472" cy="347472"/>
          </a:xfrm>
          <a:prstGeom prst="ellipse">
            <a:avLst/>
          </a:prstGeom>
          <a:solidFill>
            <a:srgbClr val="E53935"/>
          </a:solidFill>
          <a:ln/>
        </p:spPr>
      </p:sp>
      <p:sp>
        <p:nvSpPr>
          <p:cNvPr id="17" name="Text 15"/>
          <p:cNvSpPr/>
          <p:nvPr/>
        </p:nvSpPr>
        <p:spPr>
          <a:xfrm>
            <a:off x="4754880" y="275234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p:nvPr/>
        </p:nvSpPr>
        <p:spPr>
          <a:xfrm>
            <a:off x="5212080" y="2752344"/>
            <a:ext cx="3474720" cy="347472"/>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Develop BNPL credit (7-14 day cycles, hard caps)</a:t>
            </a:r>
            <a:endParaRPr lang="en-US" sz="1200" dirty="0"/>
          </a:p>
        </p:txBody>
      </p:sp>
      <p:sp>
        <p:nvSpPr>
          <p:cNvPr id="19" name="Shape 17"/>
          <p:cNvSpPr/>
          <p:nvPr/>
        </p:nvSpPr>
        <p:spPr>
          <a:xfrm>
            <a:off x="4754880" y="3282696"/>
            <a:ext cx="347472" cy="347472"/>
          </a:xfrm>
          <a:prstGeom prst="ellipse">
            <a:avLst/>
          </a:prstGeom>
          <a:solidFill>
            <a:srgbClr val="E53935"/>
          </a:solidFill>
          <a:ln/>
        </p:spPr>
      </p:sp>
      <p:sp>
        <p:nvSpPr>
          <p:cNvPr id="20" name="Text 18"/>
          <p:cNvSpPr/>
          <p:nvPr/>
        </p:nvSpPr>
        <p:spPr>
          <a:xfrm>
            <a:off x="4754880" y="328269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p:nvPr/>
        </p:nvSpPr>
        <p:spPr>
          <a:xfrm>
            <a:off x="5212080" y="3282696"/>
            <a:ext cx="3474720" cy="347472"/>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Build B2B portal with recurring orders &amp; invoices</a:t>
            </a:r>
            <a:endParaRPr lang="en-US" sz="1200" dirty="0"/>
          </a:p>
        </p:txBody>
      </p:sp>
      <p:sp>
        <p:nvSpPr>
          <p:cNvPr id="22" name="Shape 20"/>
          <p:cNvSpPr/>
          <p:nvPr/>
        </p:nvSpPr>
        <p:spPr>
          <a:xfrm>
            <a:off x="4754880" y="3813048"/>
            <a:ext cx="347472" cy="347472"/>
          </a:xfrm>
          <a:prstGeom prst="ellipse">
            <a:avLst/>
          </a:prstGeom>
          <a:solidFill>
            <a:srgbClr val="E53935"/>
          </a:solidFill>
          <a:ln/>
        </p:spPr>
      </p:sp>
      <p:sp>
        <p:nvSpPr>
          <p:cNvPr id="23" name="Text 21"/>
          <p:cNvSpPr/>
          <p:nvPr/>
        </p:nvSpPr>
        <p:spPr>
          <a:xfrm>
            <a:off x="4754880" y="38130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4" name="Text 22"/>
          <p:cNvSpPr/>
          <p:nvPr/>
        </p:nvSpPr>
        <p:spPr>
          <a:xfrm>
            <a:off x="5212080" y="3813048"/>
            <a:ext cx="3474720" cy="347472"/>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Target avg order: 200kg → 10,000 ETB</a:t>
            </a:r>
            <a:endParaRPr lang="en-US" sz="1200" dirty="0"/>
          </a:p>
        </p:txBody>
      </p:sp>
      <p:sp>
        <p:nvSpPr>
          <p:cNvPr id="25" name="Shape 23"/>
          <p:cNvSpPr/>
          <p:nvPr/>
        </p:nvSpPr>
        <p:spPr>
          <a:xfrm>
            <a:off x="548640" y="2651760"/>
            <a:ext cx="8229600" cy="1097280"/>
          </a:xfrm>
          <a:prstGeom prst="roundRect">
            <a:avLst>
              <a:gd name="adj" fmla="val 10000"/>
            </a:avLst>
          </a:prstGeom>
          <a:solidFill>
            <a:srgbClr val="1A1A1A"/>
          </a:solidFill>
          <a:ln/>
        </p:spPr>
      </p:sp>
      <p:sp>
        <p:nvSpPr>
          <p:cNvPr id="26" name="Text 24"/>
          <p:cNvSpPr/>
          <p:nvPr/>
        </p:nvSpPr>
        <p:spPr>
          <a:xfrm>
            <a:off x="548640" y="2651760"/>
            <a:ext cx="8229600" cy="274320"/>
          </a:xfrm>
          <a:prstGeom prst="rect">
            <a:avLst/>
          </a:prstGeom>
          <a:noFill/>
          <a:ln/>
        </p:spPr>
        <p:txBody>
          <a:bodyPr wrap="square" lIns="0" tIns="0" rIns="0" bIns="0" rtlCol="0" anchor="ctr"/>
          <a:lstStyle/>
          <a:p>
            <a:pPr algn="ctr" indent="0" marL="0">
              <a:buNone/>
            </a:pPr>
            <a:r>
              <a:rPr lang="en-US" sz="1000" b="1" spc="300" kern="0" dirty="0">
                <a:solidFill>
                  <a:srgbClr val="E53935"/>
                </a:solidFill>
                <a:latin typeface="Arial" pitchFamily="34" charset="0"/>
                <a:ea typeface="Arial" pitchFamily="34" charset="-122"/>
                <a:cs typeface="Arial" pitchFamily="34" charset="-120"/>
              </a:rPr>
              <a:t>REVENUE IMPACT</a:t>
            </a:r>
            <a:endParaRPr lang="en-US" sz="1000" dirty="0"/>
          </a:p>
        </p:txBody>
      </p:sp>
      <p:sp>
        <p:nvSpPr>
          <p:cNvPr id="27" name="Text 25"/>
          <p:cNvSpPr/>
          <p:nvPr/>
        </p:nvSpPr>
        <p:spPr>
          <a:xfrm>
            <a:off x="548640" y="2926080"/>
            <a:ext cx="822960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40 restaurants × avg 8,000 ETB/month = 320,000 ETB monthly B2B revenue</a:t>
            </a:r>
            <a:endParaRPr lang="en-US" sz="1600" dirty="0"/>
          </a:p>
        </p:txBody>
      </p:sp>
      <p:sp>
        <p:nvSpPr>
          <p:cNvPr id="28" name="Text 26"/>
          <p:cNvSpPr/>
          <p:nvPr/>
        </p:nvSpPr>
        <p:spPr>
          <a:xfrm>
            <a:off x="548640" y="3246120"/>
            <a:ext cx="8229600" cy="274320"/>
          </a:xfrm>
          <a:prstGeom prst="rect">
            <a:avLst/>
          </a:prstGeom>
          <a:noFill/>
          <a:ln/>
        </p:spPr>
        <p:txBody>
          <a:bodyPr wrap="square" lIns="0" tIns="0" rIns="0" bIns="0" rtlCol="0" anchor="ctr"/>
          <a:lstStyle/>
          <a:p>
            <a:pPr algn="ctr" indent="0" marL="0">
              <a:buNone/>
            </a:pPr>
            <a:r>
              <a:rPr lang="en-US" sz="1300" dirty="0">
                <a:solidFill>
                  <a:srgbClr val="CCCCCC"/>
                </a:solidFill>
                <a:latin typeface="Arial" pitchFamily="34" charset="0"/>
                <a:ea typeface="Arial" pitchFamily="34" charset="-122"/>
                <a:cs typeface="Arial" pitchFamily="34" charset="-120"/>
              </a:rPr>
              <a:t>+ BNPL fees (3% × 320,000 = 9,600 ETB/month) on top of trade margins</a:t>
            </a:r>
            <a:endParaRPr lang="en-US" sz="1300" dirty="0"/>
          </a:p>
        </p:txBody>
      </p:sp>
      <p:sp>
        <p:nvSpPr>
          <p:cNvPr id="29" name="Text 27"/>
          <p:cNvSpPr/>
          <p:nvPr/>
        </p:nvSpPr>
        <p:spPr>
          <a:xfrm>
            <a:off x="548640" y="4023360"/>
            <a:ext cx="45720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B2B MIGRATION GATE PRICING</a:t>
            </a:r>
            <a:endParaRPr lang="en-US" sz="1000" dirty="0"/>
          </a:p>
        </p:txBody>
      </p:sp>
      <p:sp>
        <p:nvSpPr>
          <p:cNvPr id="30" name="Shape 28"/>
          <p:cNvSpPr/>
          <p:nvPr/>
        </p:nvSpPr>
        <p:spPr>
          <a:xfrm>
            <a:off x="548640" y="4297680"/>
            <a:ext cx="137160" cy="137160"/>
          </a:xfrm>
          <a:prstGeom prst="ellipse">
            <a:avLst/>
          </a:prstGeom>
          <a:solidFill>
            <a:srgbClr val="E53935"/>
          </a:solidFill>
          <a:ln/>
        </p:spPr>
      </p:sp>
      <p:sp>
        <p:nvSpPr>
          <p:cNvPr id="31" name="Text 29"/>
          <p:cNvSpPr/>
          <p:nvPr/>
        </p:nvSpPr>
        <p:spPr>
          <a:xfrm>
            <a:off x="749808" y="4279392"/>
            <a:ext cx="3749040" cy="201168"/>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Make B2C individually unattractive: +25% markup, 150 ETB delivery</a:t>
            </a:r>
            <a:endParaRPr lang="en-US" sz="1000" dirty="0"/>
          </a:p>
        </p:txBody>
      </p:sp>
      <p:sp>
        <p:nvSpPr>
          <p:cNvPr id="32" name="Shape 30"/>
          <p:cNvSpPr/>
          <p:nvPr/>
        </p:nvSpPr>
        <p:spPr>
          <a:xfrm>
            <a:off x="4663440" y="4297680"/>
            <a:ext cx="137160" cy="137160"/>
          </a:xfrm>
          <a:prstGeom prst="ellipse">
            <a:avLst/>
          </a:prstGeom>
          <a:solidFill>
            <a:srgbClr val="E53935"/>
          </a:solidFill>
          <a:ln/>
        </p:spPr>
      </p:sp>
      <p:sp>
        <p:nvSpPr>
          <p:cNvPr id="33" name="Text 31"/>
          <p:cNvSpPr/>
          <p:nvPr/>
        </p:nvSpPr>
        <p:spPr>
          <a:xfrm>
            <a:off x="4864608" y="4279392"/>
            <a:ext cx="3749040" cy="201168"/>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Incentivize aggregation: -15% discount, 10 ETB for group members</a:t>
            </a:r>
            <a:endParaRPr lang="en-US" sz="1000" dirty="0"/>
          </a:p>
        </p:txBody>
      </p:sp>
      <p:sp>
        <p:nvSpPr>
          <p:cNvPr id="34" name="Shape 32"/>
          <p:cNvSpPr/>
          <p:nvPr/>
        </p:nvSpPr>
        <p:spPr>
          <a:xfrm>
            <a:off x="548640" y="4553712"/>
            <a:ext cx="137160" cy="137160"/>
          </a:xfrm>
          <a:prstGeom prst="ellipse">
            <a:avLst/>
          </a:prstGeom>
          <a:solidFill>
            <a:srgbClr val="E53935"/>
          </a:solidFill>
          <a:ln/>
        </p:spPr>
      </p:sp>
      <p:sp>
        <p:nvSpPr>
          <p:cNvPr id="35" name="Text 33"/>
          <p:cNvSpPr/>
          <p:nvPr/>
        </p:nvSpPr>
        <p:spPr>
          <a:xfrm>
            <a:off x="749808" y="4535424"/>
            <a:ext cx="3749040" cy="201168"/>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Bulk booster for high-tonnage: -5%+ discount, single drop free</a:t>
            </a:r>
            <a:endParaRPr lang="en-US" sz="1000" dirty="0"/>
          </a:p>
        </p:txBody>
      </p:sp>
      <p:sp>
        <p:nvSpPr>
          <p:cNvPr id="36" name="Shape 34"/>
          <p:cNvSpPr/>
          <p:nvPr/>
        </p:nvSpPr>
        <p:spPr>
          <a:xfrm>
            <a:off x="4663440" y="4553712"/>
            <a:ext cx="137160" cy="137160"/>
          </a:xfrm>
          <a:prstGeom prst="ellipse">
            <a:avLst/>
          </a:prstGeom>
          <a:solidFill>
            <a:srgbClr val="E53935"/>
          </a:solidFill>
          <a:ln/>
        </p:spPr>
      </p:sp>
      <p:sp>
        <p:nvSpPr>
          <p:cNvPr id="37" name="Text 35"/>
          <p:cNvSpPr/>
          <p:nvPr/>
        </p:nvSpPr>
        <p:spPr>
          <a:xfrm>
            <a:off x="4864608" y="4535424"/>
            <a:ext cx="3749040" cy="201168"/>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Direct DC fulfillment bypasses warehouse, reducing 92% more damage</a:t>
            </a:r>
            <a:endParaRPr lang="en-US" sz="1000" dirty="0"/>
          </a:p>
        </p:txBody>
      </p:sp>
      <p:sp>
        <p:nvSpPr>
          <p:cNvPr id="38" name="Shape 36"/>
          <p:cNvSpPr/>
          <p:nvPr/>
        </p:nvSpPr>
        <p:spPr>
          <a:xfrm>
            <a:off x="8503920" y="4663440"/>
            <a:ext cx="365760" cy="365760"/>
          </a:xfrm>
          <a:prstGeom prst="ellipse">
            <a:avLst/>
          </a:prstGeom>
          <a:solidFill>
            <a:srgbClr val="E53935"/>
          </a:solidFill>
          <a:ln/>
        </p:spPr>
      </p:sp>
      <p:sp>
        <p:nvSpPr>
          <p:cNvPr id="39" name="Text 3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48640" y="457200"/>
            <a:ext cx="640080" cy="640080"/>
          </a:xfrm>
          <a:prstGeom prst="ellipse">
            <a:avLst/>
          </a:prstGeom>
          <a:solidFill>
            <a:srgbClr val="E53935"/>
          </a:solidFill>
          <a:ln/>
        </p:spPr>
      </p:sp>
      <p:sp>
        <p:nvSpPr>
          <p:cNvPr id="4" name="Text 2"/>
          <p:cNvSpPr/>
          <p:nvPr/>
        </p:nvSpPr>
        <p:spPr>
          <a:xfrm>
            <a:off x="548640"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sp>
        <p:nvSpPr>
          <p:cNvPr id="5" name="Text 3"/>
          <p:cNvSpPr/>
          <p:nvPr/>
        </p:nvSpPr>
        <p:spPr>
          <a:xfrm>
            <a:off x="1371600" y="502920"/>
            <a:ext cx="5486400" cy="5486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BNPL LAUNCH</a:t>
            </a:r>
            <a:endParaRPr lang="en-US" sz="3200" dirty="0"/>
          </a:p>
        </p:txBody>
      </p:sp>
      <p:sp>
        <p:nvSpPr>
          <p:cNvPr id="6" name="Shape 4"/>
          <p:cNvSpPr/>
          <p:nvPr/>
        </p:nvSpPr>
        <p:spPr>
          <a:xfrm>
            <a:off x="548640" y="1325880"/>
            <a:ext cx="3840480" cy="1097280"/>
          </a:xfrm>
          <a:prstGeom prst="roundRect">
            <a:avLst>
              <a:gd name="adj" fmla="val 8333"/>
            </a:avLst>
          </a:prstGeom>
          <a:solidFill>
            <a:srgbClr val="FFF5F5"/>
          </a:solidFill>
          <a:ln/>
        </p:spPr>
      </p:sp>
      <p:sp>
        <p:nvSpPr>
          <p:cNvPr id="7" name="Text 5"/>
          <p:cNvSpPr/>
          <p:nvPr/>
        </p:nvSpPr>
        <p:spPr>
          <a:xfrm>
            <a:off x="548640" y="1325880"/>
            <a:ext cx="3840480" cy="228600"/>
          </a:xfrm>
          <a:prstGeom prst="rect">
            <a:avLst/>
          </a:prstGeom>
          <a:noFill/>
          <a:ln/>
        </p:spPr>
        <p:txBody>
          <a:bodyPr wrap="square" lIns="0" tIns="0" rIns="0" bIns="0" rtlCol="0" anchor="ctr"/>
          <a:lstStyle/>
          <a:p>
            <a:pPr algn="ctr" indent="0" marL="0">
              <a:buNone/>
            </a:pPr>
            <a:r>
              <a:rPr lang="en-US" sz="1000" b="1" spc="300" kern="0" dirty="0">
                <a:solidFill>
                  <a:srgbClr val="E53935"/>
                </a:solidFill>
                <a:latin typeface="Arial" pitchFamily="34" charset="0"/>
                <a:ea typeface="Arial" pitchFamily="34" charset="-122"/>
                <a:cs typeface="Arial" pitchFamily="34" charset="-120"/>
              </a:rPr>
              <a:t>TARGET: 35% OF TOTAL REVENUE</a:t>
            </a:r>
            <a:endParaRPr lang="en-US" sz="1000" dirty="0"/>
          </a:p>
        </p:txBody>
      </p:sp>
      <p:sp>
        <p:nvSpPr>
          <p:cNvPr id="8" name="Text 6"/>
          <p:cNvSpPr/>
          <p:nvPr/>
        </p:nvSpPr>
        <p:spPr>
          <a:xfrm>
            <a:off x="548640" y="1600200"/>
            <a:ext cx="38404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20 restaurants </a:t>
            </a:r>
            <a:pPr algn="ctr" indent="0" marL="0">
              <a:buNone/>
            </a:pPr>
            <a:r>
              <a:rPr lang="en-US" sz="1200" dirty="0">
                <a:solidFill>
                  <a:srgbClr val="666666"/>
                </a:solidFill>
                <a:latin typeface="Arial" pitchFamily="34" charset="0"/>
                <a:ea typeface="Arial" pitchFamily="34" charset="-122"/>
                <a:cs typeface="Arial" pitchFamily="34" charset="-120"/>
              </a:rPr>
              <a:t>× 4 orders/month × 5,000 ETB × 3% fee</a:t>
            </a:r>
            <a:endParaRPr lang="en-US" sz="1200" dirty="0"/>
          </a:p>
        </p:txBody>
      </p:sp>
      <p:sp>
        <p:nvSpPr>
          <p:cNvPr id="9" name="Text 7"/>
          <p:cNvSpPr/>
          <p:nvPr/>
        </p:nvSpPr>
        <p:spPr>
          <a:xfrm>
            <a:off x="548640" y="1920240"/>
            <a:ext cx="3840480" cy="320040"/>
          </a:xfrm>
          <a:prstGeom prst="rect">
            <a:avLst/>
          </a:prstGeom>
          <a:noFill/>
          <a:ln/>
        </p:spPr>
        <p:txBody>
          <a:bodyPr wrap="square" lIns="0" tIns="0" rIns="0" bIns="0" rtlCol="0" anchor="ctr"/>
          <a:lstStyle/>
          <a:p>
            <a:pPr algn="ctr" indent="0" marL="0">
              <a:buNone/>
            </a:pPr>
            <a:r>
              <a:rPr lang="en-US" sz="1800" b="1" dirty="0">
                <a:solidFill>
                  <a:srgbClr val="E53935"/>
                </a:solidFill>
                <a:latin typeface="Arial" pitchFamily="34" charset="0"/>
                <a:ea typeface="Arial" pitchFamily="34" charset="-122"/>
                <a:cs typeface="Arial" pitchFamily="34" charset="-120"/>
              </a:rPr>
              <a:t>= 12,000 ETB/month pure revenue</a:t>
            </a:r>
            <a:endParaRPr lang="en-US" sz="1800" dirty="0"/>
          </a:p>
        </p:txBody>
      </p:sp>
      <p:sp>
        <p:nvSpPr>
          <p:cNvPr id="10" name="Text 8"/>
          <p:cNvSpPr/>
          <p:nvPr/>
        </p:nvSpPr>
        <p:spPr>
          <a:xfrm>
            <a:off x="4754880" y="1280160"/>
            <a:ext cx="27432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PHASED ROLLOUT</a:t>
            </a:r>
            <a:endParaRPr lang="en-US" sz="1000" dirty="0"/>
          </a:p>
        </p:txBody>
      </p:sp>
      <p:sp>
        <p:nvSpPr>
          <p:cNvPr id="11" name="Shape 9"/>
          <p:cNvSpPr/>
          <p:nvPr/>
        </p:nvSpPr>
        <p:spPr>
          <a:xfrm>
            <a:off x="4754880" y="1645920"/>
            <a:ext cx="1188720" cy="1828800"/>
          </a:xfrm>
          <a:prstGeom prst="roundRect">
            <a:avLst>
              <a:gd name="adj" fmla="val 7692"/>
            </a:avLst>
          </a:prstGeom>
          <a:solidFill>
            <a:srgbClr val="1A1A1A"/>
          </a:solidFill>
          <a:ln/>
        </p:spPr>
      </p:sp>
      <p:sp>
        <p:nvSpPr>
          <p:cNvPr id="12" name="Shape 10"/>
          <p:cNvSpPr/>
          <p:nvPr/>
        </p:nvSpPr>
        <p:spPr>
          <a:xfrm>
            <a:off x="5074920" y="1737360"/>
            <a:ext cx="548640" cy="548640"/>
          </a:xfrm>
          <a:prstGeom prst="ellipse">
            <a:avLst/>
          </a:prstGeom>
          <a:solidFill>
            <a:srgbClr val="E53935"/>
          </a:solidFill>
          <a:ln/>
        </p:spPr>
      </p:sp>
      <p:sp>
        <p:nvSpPr>
          <p:cNvPr id="13" name="Text 11"/>
          <p:cNvSpPr/>
          <p:nvPr/>
        </p:nvSpPr>
        <p:spPr>
          <a:xfrm>
            <a:off x="507492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4" name="Text 12"/>
          <p:cNvSpPr/>
          <p:nvPr/>
        </p:nvSpPr>
        <p:spPr>
          <a:xfrm>
            <a:off x="4754880" y="2286000"/>
            <a:ext cx="118872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Pilot</a:t>
            </a:r>
            <a:endParaRPr lang="en-US" sz="1200" dirty="0"/>
          </a:p>
        </p:txBody>
      </p:sp>
      <p:sp>
        <p:nvSpPr>
          <p:cNvPr id="15" name="Text 13"/>
          <p:cNvSpPr/>
          <p:nvPr/>
        </p:nvSpPr>
        <p:spPr>
          <a:xfrm>
            <a:off x="4754880" y="2514600"/>
            <a:ext cx="1188720" cy="868680"/>
          </a:xfrm>
          <a:prstGeom prst="rect">
            <a:avLst/>
          </a:prstGeom>
          <a:noFill/>
          <a:ln/>
        </p:spPr>
        <p:txBody>
          <a:bodyPr wrap="square" lIns="0" tIns="0" rIns="0" bIns="0" rtlCol="0" anchor="ctr"/>
          <a:lstStyle/>
          <a:p>
            <a:pPr algn="ctr" indent="0" marL="0">
              <a:buNone/>
            </a:pPr>
            <a:r>
              <a:rPr lang="en-US" sz="900" dirty="0">
                <a:solidFill>
                  <a:srgbClr val="CCCCCC"/>
                </a:solidFill>
                <a:latin typeface="Arial" pitchFamily="34" charset="0"/>
                <a:ea typeface="Arial" pitchFamily="34" charset="-122"/>
                <a:cs typeface="Arial" pitchFamily="34" charset="-120"/>
              </a:rPr>
              <a:t>Top 20 restaurants</a:t>
            </a:r>
            <a:endParaRPr lang="en-US" sz="900" dirty="0"/>
          </a:p>
          <a:p>
            <a:pPr algn="ctr" indent="0" marL="0">
              <a:buNone/>
            </a:pPr>
            <a:r>
              <a:rPr lang="en-US" sz="900" dirty="0">
                <a:solidFill>
                  <a:srgbClr val="CCCCCC"/>
                </a:solidFill>
                <a:latin typeface="Arial" pitchFamily="34" charset="0"/>
                <a:ea typeface="Arial" pitchFamily="34" charset="-122"/>
                <a:cs typeface="Arial" pitchFamily="34" charset="-120"/>
              </a:rPr>
              <a:t>7-day cycle, 3% fee</a:t>
            </a:r>
            <a:endParaRPr lang="en-US" sz="900" dirty="0"/>
          </a:p>
          <a:p>
            <a:pPr algn="ctr" indent="0" marL="0">
              <a:buNone/>
            </a:pPr>
            <a:r>
              <a:rPr lang="en-US" sz="900" dirty="0">
                <a:solidFill>
                  <a:srgbClr val="CCCCCC"/>
                </a:solidFill>
                <a:latin typeface="Arial" pitchFamily="34" charset="0"/>
                <a:ea typeface="Arial" pitchFamily="34" charset="-122"/>
                <a:cs typeface="Arial" pitchFamily="34" charset="-120"/>
              </a:rPr>
              <a:t>Hard credit caps</a:t>
            </a:r>
            <a:endParaRPr lang="en-US" sz="900" dirty="0"/>
          </a:p>
        </p:txBody>
      </p:sp>
      <p:sp>
        <p:nvSpPr>
          <p:cNvPr id="16" name="Shape 14"/>
          <p:cNvSpPr/>
          <p:nvPr/>
        </p:nvSpPr>
        <p:spPr>
          <a:xfrm>
            <a:off x="6080760" y="1645920"/>
            <a:ext cx="1188720" cy="1828800"/>
          </a:xfrm>
          <a:prstGeom prst="roundRect">
            <a:avLst>
              <a:gd name="adj" fmla="val 7692"/>
            </a:avLst>
          </a:prstGeom>
          <a:solidFill>
            <a:srgbClr val="F8F8F8"/>
          </a:solidFill>
          <a:ln/>
        </p:spPr>
      </p:sp>
      <p:sp>
        <p:nvSpPr>
          <p:cNvPr id="17" name="Shape 15"/>
          <p:cNvSpPr/>
          <p:nvPr/>
        </p:nvSpPr>
        <p:spPr>
          <a:xfrm>
            <a:off x="6400800" y="1737360"/>
            <a:ext cx="548640" cy="548640"/>
          </a:xfrm>
          <a:prstGeom prst="ellipse">
            <a:avLst/>
          </a:prstGeom>
          <a:solidFill>
            <a:srgbClr val="E53935"/>
          </a:solidFill>
          <a:ln/>
        </p:spPr>
      </p:sp>
      <p:sp>
        <p:nvSpPr>
          <p:cNvPr id="18" name="Text 16"/>
          <p:cNvSpPr/>
          <p:nvPr/>
        </p:nvSpPr>
        <p:spPr>
          <a:xfrm>
            <a:off x="640080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9" name="Text 17"/>
          <p:cNvSpPr/>
          <p:nvPr/>
        </p:nvSpPr>
        <p:spPr>
          <a:xfrm>
            <a:off x="6080760" y="2286000"/>
            <a:ext cx="1188720" cy="22860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Scale</a:t>
            </a:r>
            <a:endParaRPr lang="en-US" sz="1200" dirty="0"/>
          </a:p>
        </p:txBody>
      </p:sp>
      <p:sp>
        <p:nvSpPr>
          <p:cNvPr id="20" name="Text 18"/>
          <p:cNvSpPr/>
          <p:nvPr/>
        </p:nvSpPr>
        <p:spPr>
          <a:xfrm>
            <a:off x="6080760" y="2514600"/>
            <a:ext cx="1188720" cy="8686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SGL working capital</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14-day cycle options</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Automated scoring</a:t>
            </a:r>
            <a:endParaRPr lang="en-US" sz="900" dirty="0"/>
          </a:p>
        </p:txBody>
      </p:sp>
      <p:sp>
        <p:nvSpPr>
          <p:cNvPr id="21" name="Shape 19"/>
          <p:cNvSpPr/>
          <p:nvPr/>
        </p:nvSpPr>
        <p:spPr>
          <a:xfrm>
            <a:off x="7406640" y="1645920"/>
            <a:ext cx="1188720" cy="1828800"/>
          </a:xfrm>
          <a:prstGeom prst="roundRect">
            <a:avLst>
              <a:gd name="adj" fmla="val 7692"/>
            </a:avLst>
          </a:prstGeom>
          <a:solidFill>
            <a:srgbClr val="F8F8F8"/>
          </a:solidFill>
          <a:ln/>
        </p:spPr>
      </p:sp>
      <p:sp>
        <p:nvSpPr>
          <p:cNvPr id="22" name="Shape 20"/>
          <p:cNvSpPr/>
          <p:nvPr/>
        </p:nvSpPr>
        <p:spPr>
          <a:xfrm>
            <a:off x="7726680" y="1737360"/>
            <a:ext cx="548640" cy="548640"/>
          </a:xfrm>
          <a:prstGeom prst="ellipse">
            <a:avLst/>
          </a:prstGeom>
          <a:solidFill>
            <a:srgbClr val="E53935"/>
          </a:solidFill>
          <a:ln/>
        </p:spPr>
      </p:sp>
      <p:sp>
        <p:nvSpPr>
          <p:cNvPr id="23" name="Text 21"/>
          <p:cNvSpPr/>
          <p:nvPr/>
        </p:nvSpPr>
        <p:spPr>
          <a:xfrm>
            <a:off x="7726680" y="1737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4" name="Text 22"/>
          <p:cNvSpPr/>
          <p:nvPr/>
        </p:nvSpPr>
        <p:spPr>
          <a:xfrm>
            <a:off x="7406640" y="2286000"/>
            <a:ext cx="1188720" cy="22860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Expand</a:t>
            </a:r>
            <a:endParaRPr lang="en-US" sz="1200" dirty="0"/>
          </a:p>
        </p:txBody>
      </p:sp>
      <p:sp>
        <p:nvSpPr>
          <p:cNvPr id="25" name="Text 23"/>
          <p:cNvSpPr/>
          <p:nvPr/>
        </p:nvSpPr>
        <p:spPr>
          <a:xfrm>
            <a:off x="7406640" y="2514600"/>
            <a:ext cx="1188720" cy="8686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Supplier financing</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Credit ledger (blockchain)</a:t>
            </a:r>
            <a:endParaRPr lang="en-US" sz="900" dirty="0"/>
          </a:p>
          <a:p>
            <a:pPr algn="ctr" indent="0" marL="0">
              <a:buNone/>
            </a:pPr>
            <a:r>
              <a:rPr lang="en-US" sz="900" dirty="0">
                <a:solidFill>
                  <a:srgbClr val="666666"/>
                </a:solidFill>
                <a:latin typeface="Arial" pitchFamily="34" charset="0"/>
                <a:ea typeface="Arial" pitchFamily="34" charset="-122"/>
                <a:cs typeface="Arial" pitchFamily="34" charset="-120"/>
              </a:rPr>
              <a:t>Market-wide products</a:t>
            </a:r>
            <a:endParaRPr lang="en-US" sz="900" dirty="0"/>
          </a:p>
        </p:txBody>
      </p:sp>
      <p:sp>
        <p:nvSpPr>
          <p:cNvPr id="26" name="Text 24"/>
          <p:cNvSpPr/>
          <p:nvPr/>
        </p:nvSpPr>
        <p:spPr>
          <a:xfrm>
            <a:off x="548640" y="2651760"/>
            <a:ext cx="36576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KEY SAFEGUARDS</a:t>
            </a:r>
            <a:endParaRPr lang="en-US" sz="1000" dirty="0"/>
          </a:p>
        </p:txBody>
      </p:sp>
      <p:sp>
        <p:nvSpPr>
          <p:cNvPr id="27" name="Shape 25"/>
          <p:cNvSpPr/>
          <p:nvPr/>
        </p:nvSpPr>
        <p:spPr>
          <a:xfrm>
            <a:off x="685800" y="2926080"/>
            <a:ext cx="128016" cy="128016"/>
          </a:xfrm>
          <a:prstGeom prst="ellipse">
            <a:avLst/>
          </a:prstGeom>
          <a:solidFill>
            <a:srgbClr val="E53935"/>
          </a:solidFill>
          <a:ln/>
        </p:spPr>
      </p:sp>
      <p:sp>
        <p:nvSpPr>
          <p:cNvPr id="28" name="Text 26"/>
          <p:cNvSpPr/>
          <p:nvPr/>
        </p:nvSpPr>
        <p:spPr>
          <a:xfrm>
            <a:off x="914400" y="2880360"/>
            <a:ext cx="3657600" cy="246888"/>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Short cycles: 7-14 days maximum — no long credit exposure</a:t>
            </a:r>
            <a:endParaRPr lang="en-US" sz="1100" dirty="0"/>
          </a:p>
        </p:txBody>
      </p:sp>
      <p:sp>
        <p:nvSpPr>
          <p:cNvPr id="29" name="Shape 27"/>
          <p:cNvSpPr/>
          <p:nvPr/>
        </p:nvSpPr>
        <p:spPr>
          <a:xfrm>
            <a:off x="685800" y="3200400"/>
            <a:ext cx="128016" cy="128016"/>
          </a:xfrm>
          <a:prstGeom prst="ellipse">
            <a:avLst/>
          </a:prstGeom>
          <a:solidFill>
            <a:srgbClr val="E53935"/>
          </a:solidFill>
          <a:ln/>
        </p:spPr>
      </p:sp>
      <p:sp>
        <p:nvSpPr>
          <p:cNvPr id="30" name="Text 28"/>
          <p:cNvSpPr/>
          <p:nvPr/>
        </p:nvSpPr>
        <p:spPr>
          <a:xfrm>
            <a:off x="914400" y="3154680"/>
            <a:ext cx="3657600" cy="246888"/>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Hard caps: system-enforced credit limits — no emotional overrides</a:t>
            </a:r>
            <a:endParaRPr lang="en-US" sz="1100" dirty="0"/>
          </a:p>
        </p:txBody>
      </p:sp>
      <p:sp>
        <p:nvSpPr>
          <p:cNvPr id="31" name="Shape 29"/>
          <p:cNvSpPr/>
          <p:nvPr/>
        </p:nvSpPr>
        <p:spPr>
          <a:xfrm>
            <a:off x="685800" y="3474720"/>
            <a:ext cx="128016" cy="128016"/>
          </a:xfrm>
          <a:prstGeom prst="ellipse">
            <a:avLst/>
          </a:prstGeom>
          <a:solidFill>
            <a:srgbClr val="E53935"/>
          </a:solidFill>
          <a:ln/>
        </p:spPr>
      </p:sp>
      <p:sp>
        <p:nvSpPr>
          <p:cNvPr id="32" name="Text 30"/>
          <p:cNvSpPr/>
          <p:nvPr/>
        </p:nvSpPr>
        <p:spPr>
          <a:xfrm>
            <a:off x="914400" y="3429000"/>
            <a:ext cx="3657600" cy="246888"/>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Auto-block: missed payment = immediate freeze — restart only after full repayment</a:t>
            </a:r>
            <a:endParaRPr lang="en-US" sz="1100" dirty="0"/>
          </a:p>
        </p:txBody>
      </p:sp>
      <p:sp>
        <p:nvSpPr>
          <p:cNvPr id="33" name="Shape 31"/>
          <p:cNvSpPr/>
          <p:nvPr/>
        </p:nvSpPr>
        <p:spPr>
          <a:xfrm>
            <a:off x="685800" y="3749040"/>
            <a:ext cx="128016" cy="128016"/>
          </a:xfrm>
          <a:prstGeom prst="ellipse">
            <a:avLst/>
          </a:prstGeom>
          <a:solidFill>
            <a:srgbClr val="E53935"/>
          </a:solidFill>
          <a:ln/>
        </p:spPr>
      </p:sp>
      <p:sp>
        <p:nvSpPr>
          <p:cNvPr id="34" name="Text 32"/>
          <p:cNvSpPr/>
          <p:nvPr/>
        </p:nvSpPr>
        <p:spPr>
          <a:xfrm>
            <a:off x="914400" y="3703320"/>
            <a:ext cx="3657600" cy="246888"/>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Automated scoring: order history → dynamic credit limits</a:t>
            </a:r>
            <a:endParaRPr lang="en-US" sz="1100" dirty="0"/>
          </a:p>
        </p:txBody>
      </p:sp>
      <p:sp>
        <p:nvSpPr>
          <p:cNvPr id="35" name="Shape 33"/>
          <p:cNvSpPr/>
          <p:nvPr/>
        </p:nvSpPr>
        <p:spPr>
          <a:xfrm>
            <a:off x="685800" y="4023360"/>
            <a:ext cx="128016" cy="128016"/>
          </a:xfrm>
          <a:prstGeom prst="ellipse">
            <a:avLst/>
          </a:prstGeom>
          <a:solidFill>
            <a:srgbClr val="E53935"/>
          </a:solidFill>
          <a:ln/>
        </p:spPr>
      </p:sp>
      <p:sp>
        <p:nvSpPr>
          <p:cNvPr id="36" name="Text 34"/>
          <p:cNvSpPr/>
          <p:nvPr/>
        </p:nvSpPr>
        <p:spPr>
          <a:xfrm>
            <a:off x="914400" y="3977640"/>
            <a:ext cx="3657600" cy="246888"/>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Start small: highest-trust restaurants first, expand after validation</a:t>
            </a:r>
            <a:endParaRPr lang="en-US" sz="1100" dirty="0"/>
          </a:p>
        </p:txBody>
      </p:sp>
      <p:sp>
        <p:nvSpPr>
          <p:cNvPr id="37" name="Shape 35"/>
          <p:cNvSpPr/>
          <p:nvPr/>
        </p:nvSpPr>
        <p:spPr>
          <a:xfrm>
            <a:off x="4754880" y="3611880"/>
            <a:ext cx="4023360" cy="1188720"/>
          </a:xfrm>
          <a:prstGeom prst="roundRect">
            <a:avLst>
              <a:gd name="adj" fmla="val 7692"/>
            </a:avLst>
          </a:prstGeom>
          <a:solidFill>
            <a:srgbClr val="FFF5F5"/>
          </a:solidFill>
          <a:ln/>
        </p:spPr>
      </p:sp>
      <p:sp>
        <p:nvSpPr>
          <p:cNvPr id="38" name="Text 36"/>
          <p:cNvSpPr/>
          <p:nvPr/>
        </p:nvSpPr>
        <p:spPr>
          <a:xfrm>
            <a:off x="4754880" y="3611880"/>
            <a:ext cx="4023360" cy="228600"/>
          </a:xfrm>
          <a:prstGeom prst="rect">
            <a:avLst/>
          </a:prstGeom>
          <a:noFill/>
          <a:ln/>
        </p:spPr>
        <p:txBody>
          <a:bodyPr wrap="square" lIns="0" tIns="0" rIns="0" bIns="0" rtlCol="0" anchor="ctr"/>
          <a:lstStyle/>
          <a:p>
            <a:pPr algn="ctr" indent="0" marL="0">
              <a:buNone/>
            </a:pPr>
            <a:r>
              <a:rPr lang="en-US" sz="1000" b="1" spc="300" kern="0" dirty="0">
                <a:solidFill>
                  <a:srgbClr val="E53935"/>
                </a:solidFill>
                <a:latin typeface="Arial" pitchFamily="34" charset="0"/>
                <a:ea typeface="Arial" pitchFamily="34" charset="-122"/>
                <a:cs typeface="Arial" pitchFamily="34" charset="-120"/>
              </a:rPr>
              <a:t>WHY BNPL IS OUR BIGGEST MOAT</a:t>
            </a:r>
            <a:endParaRPr lang="en-US" sz="1000" dirty="0"/>
          </a:p>
        </p:txBody>
      </p:sp>
      <p:sp>
        <p:nvSpPr>
          <p:cNvPr id="39" name="Text 37"/>
          <p:cNvSpPr/>
          <p:nvPr/>
        </p:nvSpPr>
        <p:spPr>
          <a:xfrm>
            <a:off x="4846320" y="3886200"/>
            <a:ext cx="3840480" cy="822960"/>
          </a:xfrm>
          <a:prstGeom prst="rect">
            <a:avLst/>
          </a:prstGeom>
          <a:noFill/>
          <a:ln/>
        </p:spPr>
        <p:txBody>
          <a:bodyPr wrap="square" lIns="0" tIns="0" rIns="0" bIns="0" rtlCol="0" anchor="ctr"/>
          <a:lstStyle/>
          <a:p>
            <a:pPr indent="0" marL="0">
              <a:buNone/>
            </a:pPr>
            <a:r>
              <a:rPr lang="en-US" sz="1200" dirty="0">
                <a:solidFill>
                  <a:srgbClr val="333333"/>
                </a:solidFill>
                <a:latin typeface="Arial" pitchFamily="34" charset="0"/>
                <a:ea typeface="Arial" pitchFamily="34" charset="-122"/>
                <a:cs typeface="Arial" pitchFamily="34" charset="-120"/>
              </a:rPr>
              <a:t>Credit products create the deepest moat. Customers can't leave because they owe you or depend on your credit. BNPL is the single most defensible competitive advantage in the entire business model.</a:t>
            </a:r>
            <a:endParaRPr lang="en-US" sz="1200" dirty="0"/>
          </a:p>
        </p:txBody>
      </p:sp>
      <p:sp>
        <p:nvSpPr>
          <p:cNvPr id="40" name="Shape 38"/>
          <p:cNvSpPr/>
          <p:nvPr/>
        </p:nvSpPr>
        <p:spPr>
          <a:xfrm>
            <a:off x="8503920" y="4663440"/>
            <a:ext cx="365760" cy="365760"/>
          </a:xfrm>
          <a:prstGeom prst="ellipse">
            <a:avLst/>
          </a:prstGeom>
          <a:solidFill>
            <a:srgbClr val="E53935"/>
          </a:solidFill>
          <a:ln/>
        </p:spPr>
      </p:sp>
      <p:sp>
        <p:nvSpPr>
          <p:cNvPr id="41" name="Text 3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48640" y="457200"/>
            <a:ext cx="640080" cy="640080"/>
          </a:xfrm>
          <a:prstGeom prst="ellipse">
            <a:avLst/>
          </a:prstGeom>
          <a:solidFill>
            <a:srgbClr val="E53935"/>
          </a:solidFill>
          <a:ln/>
        </p:spPr>
      </p:sp>
      <p:sp>
        <p:nvSpPr>
          <p:cNvPr id="4" name="Text 2"/>
          <p:cNvSpPr/>
          <p:nvPr/>
        </p:nvSpPr>
        <p:spPr>
          <a:xfrm>
            <a:off x="548640"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04</a:t>
            </a:r>
            <a:endParaRPr lang="en-US" sz="2000" dirty="0"/>
          </a:p>
        </p:txBody>
      </p:sp>
      <p:sp>
        <p:nvSpPr>
          <p:cNvPr id="5" name="Text 3"/>
          <p:cNvSpPr/>
          <p:nvPr/>
        </p:nvSpPr>
        <p:spPr>
          <a:xfrm>
            <a:off x="1371600" y="502920"/>
            <a:ext cx="5486400" cy="5486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AUTO-BLOCK SYSTEMS</a:t>
            </a:r>
            <a:endParaRPr lang="en-US" sz="3200" dirty="0"/>
          </a:p>
        </p:txBody>
      </p:sp>
      <p:sp>
        <p:nvSpPr>
          <p:cNvPr id="6" name="Text 4"/>
          <p:cNvSpPr/>
          <p:nvPr/>
        </p:nvSpPr>
        <p:spPr>
          <a:xfrm>
            <a:off x="548640" y="1325880"/>
            <a:ext cx="7315200" cy="32004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Technology must enforce discipline — humans are too emotional.</a:t>
            </a:r>
            <a:endParaRPr lang="en-US" sz="1400" dirty="0"/>
          </a:p>
        </p:txBody>
      </p:sp>
      <p:sp>
        <p:nvSpPr>
          <p:cNvPr id="7" name="Shape 5"/>
          <p:cNvSpPr/>
          <p:nvPr/>
        </p:nvSpPr>
        <p:spPr>
          <a:xfrm>
            <a:off x="548640" y="1783080"/>
            <a:ext cx="2606040" cy="1143000"/>
          </a:xfrm>
          <a:prstGeom prst="roundRect">
            <a:avLst>
              <a:gd name="adj" fmla="val 9600"/>
            </a:avLst>
          </a:prstGeom>
          <a:solidFill>
            <a:srgbClr val="FFF5F5"/>
          </a:solidFill>
          <a:ln/>
        </p:spPr>
      </p:sp>
      <p:sp>
        <p:nvSpPr>
          <p:cNvPr id="8" name="Text 6"/>
          <p:cNvSpPr/>
          <p:nvPr/>
        </p:nvSpPr>
        <p:spPr>
          <a:xfrm>
            <a:off x="640080" y="1828800"/>
            <a:ext cx="45720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1097280" y="1828800"/>
            <a:ext cx="1920240" cy="32004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CP1 Auto-Block</a:t>
            </a:r>
            <a:endParaRPr lang="en-US" sz="1300" dirty="0"/>
          </a:p>
        </p:txBody>
      </p:sp>
      <p:sp>
        <p:nvSpPr>
          <p:cNvPr id="10" name="Text 8"/>
          <p:cNvSpPr/>
          <p:nvPr/>
        </p:nvSpPr>
        <p:spPr>
          <a:xfrm>
            <a:off x="685800" y="2194560"/>
            <a:ext cx="2331720" cy="685800"/>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System rejects any order below margin floor. No manager override. No exceptions. Enforced at checkout.</a:t>
            </a:r>
            <a:endParaRPr lang="en-US" sz="1000" dirty="0"/>
          </a:p>
        </p:txBody>
      </p:sp>
      <p:sp>
        <p:nvSpPr>
          <p:cNvPr id="11" name="Shape 9"/>
          <p:cNvSpPr/>
          <p:nvPr/>
        </p:nvSpPr>
        <p:spPr>
          <a:xfrm>
            <a:off x="3383280" y="1783080"/>
            <a:ext cx="2606040" cy="1143000"/>
          </a:xfrm>
          <a:prstGeom prst="roundRect">
            <a:avLst>
              <a:gd name="adj" fmla="val 9600"/>
            </a:avLst>
          </a:prstGeom>
          <a:solidFill>
            <a:srgbClr val="FFF5F5"/>
          </a:solidFill>
          <a:ln/>
        </p:spPr>
      </p:sp>
      <p:sp>
        <p:nvSpPr>
          <p:cNvPr id="12" name="Text 10"/>
          <p:cNvSpPr/>
          <p:nvPr/>
        </p:nvSpPr>
        <p:spPr>
          <a:xfrm>
            <a:off x="3474720" y="1828800"/>
            <a:ext cx="45720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3" name="Text 11"/>
          <p:cNvSpPr/>
          <p:nvPr/>
        </p:nvSpPr>
        <p:spPr>
          <a:xfrm>
            <a:off x="3931920" y="1828800"/>
            <a:ext cx="1920240" cy="32004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BNPL Enforcement Engine</a:t>
            </a:r>
            <a:endParaRPr lang="en-US" sz="1300" dirty="0"/>
          </a:p>
        </p:txBody>
      </p:sp>
      <p:sp>
        <p:nvSpPr>
          <p:cNvPr id="14" name="Text 12"/>
          <p:cNvSpPr/>
          <p:nvPr/>
        </p:nvSpPr>
        <p:spPr>
          <a:xfrm>
            <a:off x="3520440" y="2194560"/>
            <a:ext cx="2331720" cy="685800"/>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Hard caps on credit. Auto-block on missed payment. System prevents manual override — no favoritism.</a:t>
            </a:r>
            <a:endParaRPr lang="en-US" sz="1000" dirty="0"/>
          </a:p>
        </p:txBody>
      </p:sp>
      <p:sp>
        <p:nvSpPr>
          <p:cNvPr id="15" name="Shape 13"/>
          <p:cNvSpPr/>
          <p:nvPr/>
        </p:nvSpPr>
        <p:spPr>
          <a:xfrm>
            <a:off x="6217920" y="1783080"/>
            <a:ext cx="2606040" cy="1143000"/>
          </a:xfrm>
          <a:prstGeom prst="roundRect">
            <a:avLst>
              <a:gd name="adj" fmla="val 9600"/>
            </a:avLst>
          </a:prstGeom>
          <a:solidFill>
            <a:srgbClr val="F8F8F8"/>
          </a:solidFill>
          <a:ln/>
        </p:spPr>
      </p:sp>
      <p:sp>
        <p:nvSpPr>
          <p:cNvPr id="16" name="Text 14"/>
          <p:cNvSpPr/>
          <p:nvPr/>
        </p:nvSpPr>
        <p:spPr>
          <a:xfrm>
            <a:off x="6309360" y="1828800"/>
            <a:ext cx="45720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7" name="Text 15"/>
          <p:cNvSpPr/>
          <p:nvPr/>
        </p:nvSpPr>
        <p:spPr>
          <a:xfrm>
            <a:off x="6766560" y="1828800"/>
            <a:ext cx="1920240" cy="32004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Automated Reconciliation</a:t>
            </a:r>
            <a:endParaRPr lang="en-US" sz="1300" dirty="0"/>
          </a:p>
        </p:txBody>
      </p:sp>
      <p:sp>
        <p:nvSpPr>
          <p:cNvPr id="18" name="Text 16"/>
          <p:cNvSpPr/>
          <p:nvPr/>
        </p:nvSpPr>
        <p:spPr>
          <a:xfrm>
            <a:off x="6355080" y="2194560"/>
            <a:ext cx="2331720" cy="685800"/>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Order → delivery → payment → margin calculation, all automated. Flag deviations instantly.</a:t>
            </a:r>
            <a:endParaRPr lang="en-US" sz="1000" dirty="0"/>
          </a:p>
        </p:txBody>
      </p:sp>
      <p:sp>
        <p:nvSpPr>
          <p:cNvPr id="19" name="Shape 17"/>
          <p:cNvSpPr/>
          <p:nvPr/>
        </p:nvSpPr>
        <p:spPr>
          <a:xfrm>
            <a:off x="548640" y="3108960"/>
            <a:ext cx="2606040" cy="1143000"/>
          </a:xfrm>
          <a:prstGeom prst="roundRect">
            <a:avLst>
              <a:gd name="adj" fmla="val 9600"/>
            </a:avLst>
          </a:prstGeom>
          <a:solidFill>
            <a:srgbClr val="F8F8F8"/>
          </a:solidFill>
          <a:ln/>
        </p:spPr>
      </p:sp>
      <p:sp>
        <p:nvSpPr>
          <p:cNvPr id="20" name="Text 18"/>
          <p:cNvSpPr/>
          <p:nvPr/>
        </p:nvSpPr>
        <p:spPr>
          <a:xfrm>
            <a:off x="640080" y="3154680"/>
            <a:ext cx="45720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1" name="Text 19"/>
          <p:cNvSpPr/>
          <p:nvPr/>
        </p:nvSpPr>
        <p:spPr>
          <a:xfrm>
            <a:off x="1097280" y="3154680"/>
            <a:ext cx="1920240" cy="32004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Flash Sale Automation</a:t>
            </a:r>
            <a:endParaRPr lang="en-US" sz="1300" dirty="0"/>
          </a:p>
        </p:txBody>
      </p:sp>
      <p:sp>
        <p:nvSpPr>
          <p:cNvPr id="22" name="Text 20"/>
          <p:cNvSpPr/>
          <p:nvPr/>
        </p:nvSpPr>
        <p:spPr>
          <a:xfrm>
            <a:off x="685800" y="3520440"/>
            <a:ext cx="2331720" cy="685800"/>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Auto-trigger when warehouse damage &gt;1% or shelf-life &gt;36 hours. Reduces ~45,000 ETB/week in spoilage.</a:t>
            </a:r>
            <a:endParaRPr lang="en-US" sz="1000" dirty="0"/>
          </a:p>
        </p:txBody>
      </p:sp>
      <p:sp>
        <p:nvSpPr>
          <p:cNvPr id="23" name="Shape 21"/>
          <p:cNvSpPr/>
          <p:nvPr/>
        </p:nvSpPr>
        <p:spPr>
          <a:xfrm>
            <a:off x="3383280" y="3108960"/>
            <a:ext cx="2606040" cy="1143000"/>
          </a:xfrm>
          <a:prstGeom prst="roundRect">
            <a:avLst>
              <a:gd name="adj" fmla="val 9600"/>
            </a:avLst>
          </a:prstGeom>
          <a:solidFill>
            <a:srgbClr val="F8F8F8"/>
          </a:solidFill>
          <a:ln/>
        </p:spPr>
      </p:sp>
      <p:sp>
        <p:nvSpPr>
          <p:cNvPr id="24" name="Text 22"/>
          <p:cNvSpPr/>
          <p:nvPr/>
        </p:nvSpPr>
        <p:spPr>
          <a:xfrm>
            <a:off x="3474720" y="3154680"/>
            <a:ext cx="45720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5" name="Text 23"/>
          <p:cNvSpPr/>
          <p:nvPr/>
        </p:nvSpPr>
        <p:spPr>
          <a:xfrm>
            <a:off x="3931920" y="3154680"/>
            <a:ext cx="1920240" cy="32004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SKU Auto-Suspension</a:t>
            </a:r>
            <a:endParaRPr lang="en-US" sz="1300" dirty="0"/>
          </a:p>
        </p:txBody>
      </p:sp>
      <p:sp>
        <p:nvSpPr>
          <p:cNvPr id="26" name="Text 24"/>
          <p:cNvSpPr/>
          <p:nvPr/>
        </p:nvSpPr>
        <p:spPr>
          <a:xfrm>
            <a:off x="3520440" y="3520440"/>
            <a:ext cx="2331720" cy="685800"/>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Any product with negative CP1 for 2 consecutive weeks gets suspended automatically.</a:t>
            </a:r>
            <a:endParaRPr lang="en-US" sz="1000" dirty="0"/>
          </a:p>
        </p:txBody>
      </p:sp>
      <p:sp>
        <p:nvSpPr>
          <p:cNvPr id="27" name="Shape 25"/>
          <p:cNvSpPr/>
          <p:nvPr/>
        </p:nvSpPr>
        <p:spPr>
          <a:xfrm>
            <a:off x="6217920" y="3108960"/>
            <a:ext cx="2606040" cy="1143000"/>
          </a:xfrm>
          <a:prstGeom prst="roundRect">
            <a:avLst>
              <a:gd name="adj" fmla="val 9600"/>
            </a:avLst>
          </a:prstGeom>
          <a:solidFill>
            <a:srgbClr val="F8F8F8"/>
          </a:solidFill>
          <a:ln/>
        </p:spPr>
      </p:sp>
      <p:sp>
        <p:nvSpPr>
          <p:cNvPr id="28" name="Text 26"/>
          <p:cNvSpPr/>
          <p:nvPr/>
        </p:nvSpPr>
        <p:spPr>
          <a:xfrm>
            <a:off x="6309360" y="3154680"/>
            <a:ext cx="457200" cy="4114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9" name="Text 27"/>
          <p:cNvSpPr/>
          <p:nvPr/>
        </p:nvSpPr>
        <p:spPr>
          <a:xfrm>
            <a:off x="6766560" y="3154680"/>
            <a:ext cx="1920240" cy="320040"/>
          </a:xfrm>
          <a:prstGeom prst="rect">
            <a:avLst/>
          </a:prstGeom>
          <a:noFill/>
          <a:ln/>
        </p:spPr>
        <p:txBody>
          <a:bodyPr wrap="square" lIns="0" tIns="0" rIns="0" bIns="0" rtlCol="0" anchor="ctr"/>
          <a:lstStyle/>
          <a:p>
            <a:pPr indent="0" marL="0">
              <a:buNone/>
            </a:pPr>
            <a:r>
              <a:rPr lang="en-US" sz="1300" b="1" dirty="0">
                <a:solidFill>
                  <a:srgbClr val="E53935"/>
                </a:solidFill>
                <a:latin typeface="Arial" pitchFamily="34" charset="0"/>
                <a:ea typeface="Arial" pitchFamily="34" charset="-122"/>
                <a:cs typeface="Arial" pitchFamily="34" charset="-120"/>
              </a:rPr>
              <a:t>KPI Alert System</a:t>
            </a:r>
            <a:endParaRPr lang="en-US" sz="1300" dirty="0"/>
          </a:p>
        </p:txBody>
      </p:sp>
      <p:sp>
        <p:nvSpPr>
          <p:cNvPr id="30" name="Text 28"/>
          <p:cNvSpPr/>
          <p:nvPr/>
        </p:nvSpPr>
        <p:spPr>
          <a:xfrm>
            <a:off x="6355080" y="3520440"/>
            <a:ext cx="2331720" cy="685800"/>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Real-time alerts when key metrics deviate from targets — burn rate, margin, SGL activity.</a:t>
            </a:r>
            <a:endParaRPr lang="en-US" sz="1000" dirty="0"/>
          </a:p>
        </p:txBody>
      </p:sp>
      <p:sp>
        <p:nvSpPr>
          <p:cNvPr id="31" name="Shape 29"/>
          <p:cNvSpPr/>
          <p:nvPr/>
        </p:nvSpPr>
        <p:spPr>
          <a:xfrm>
            <a:off x="8503920" y="4663440"/>
            <a:ext cx="365760" cy="365760"/>
          </a:xfrm>
          <a:prstGeom prst="ellipse">
            <a:avLst/>
          </a:prstGeom>
          <a:solidFill>
            <a:srgbClr val="E53935"/>
          </a:solidFill>
          <a:ln/>
        </p:spPr>
      </p:sp>
      <p:sp>
        <p:nvSpPr>
          <p:cNvPr id="32" name="Text 3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48640" y="457200"/>
            <a:ext cx="640080" cy="640080"/>
          </a:xfrm>
          <a:prstGeom prst="ellipse">
            <a:avLst/>
          </a:prstGeom>
          <a:solidFill>
            <a:srgbClr val="E53935"/>
          </a:solidFill>
          <a:ln/>
        </p:spPr>
      </p:sp>
      <p:sp>
        <p:nvSpPr>
          <p:cNvPr id="4" name="Text 2"/>
          <p:cNvSpPr/>
          <p:nvPr/>
        </p:nvSpPr>
        <p:spPr>
          <a:xfrm>
            <a:off x="548640"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05</a:t>
            </a:r>
            <a:endParaRPr lang="en-US" sz="2000" dirty="0"/>
          </a:p>
        </p:txBody>
      </p:sp>
      <p:sp>
        <p:nvSpPr>
          <p:cNvPr id="5" name="Text 3"/>
          <p:cNvSpPr/>
          <p:nvPr/>
        </p:nvSpPr>
        <p:spPr>
          <a:xfrm>
            <a:off x="1371600" y="502920"/>
            <a:ext cx="5486400" cy="5486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NETWORK DENSIFICATION</a:t>
            </a:r>
            <a:endParaRPr lang="en-US" sz="3200" dirty="0"/>
          </a:p>
        </p:txBody>
      </p:sp>
      <p:sp>
        <p:nvSpPr>
          <p:cNvPr id="6" name="Shape 4"/>
          <p:cNvSpPr/>
          <p:nvPr/>
        </p:nvSpPr>
        <p:spPr>
          <a:xfrm>
            <a:off x="548640" y="1371600"/>
            <a:ext cx="3840480" cy="1371600"/>
          </a:xfrm>
          <a:prstGeom prst="roundRect">
            <a:avLst>
              <a:gd name="adj" fmla="val 6667"/>
            </a:avLst>
          </a:prstGeom>
          <a:solidFill>
            <a:srgbClr val="F8F8F8"/>
          </a:solidFill>
          <a:ln/>
        </p:spPr>
      </p:sp>
      <p:sp>
        <p:nvSpPr>
          <p:cNvPr id="7" name="Text 5"/>
          <p:cNvSpPr/>
          <p:nvPr/>
        </p:nvSpPr>
        <p:spPr>
          <a:xfrm>
            <a:off x="548640" y="1371600"/>
            <a:ext cx="3840480" cy="274320"/>
          </a:xfrm>
          <a:prstGeom prst="rect">
            <a:avLst/>
          </a:prstGeom>
          <a:noFill/>
          <a:ln/>
        </p:spPr>
        <p:txBody>
          <a:bodyPr wrap="square" lIns="0" tIns="0" rIns="0" bIns="0" rtlCol="0" anchor="ctr"/>
          <a:lstStyle/>
          <a:p>
            <a:pPr algn="ctr" indent="0" marL="0">
              <a:buNone/>
            </a:pPr>
            <a:r>
              <a:rPr lang="en-US" sz="1000" b="1" dirty="0">
                <a:solidFill>
                  <a:srgbClr val="888888"/>
                </a:solidFill>
                <a:latin typeface="Arial" pitchFamily="34" charset="0"/>
                <a:ea typeface="Arial" pitchFamily="34" charset="-122"/>
                <a:cs typeface="Arial" pitchFamily="34" charset="-120"/>
              </a:rPr>
              <a:t>CURRENT SGL STATUS</a:t>
            </a:r>
            <a:endParaRPr lang="en-US" sz="1000" dirty="0"/>
          </a:p>
        </p:txBody>
      </p:sp>
      <p:sp>
        <p:nvSpPr>
          <p:cNvPr id="8" name="Text 6"/>
          <p:cNvSpPr/>
          <p:nvPr/>
        </p:nvSpPr>
        <p:spPr>
          <a:xfrm>
            <a:off x="548640" y="1645920"/>
            <a:ext cx="3840480" cy="457200"/>
          </a:xfrm>
          <a:prstGeom prst="rect">
            <a:avLst/>
          </a:prstGeom>
          <a:noFill/>
          <a:ln/>
        </p:spPr>
        <p:txBody>
          <a:bodyPr wrap="square" lIns="0" tIns="0" rIns="0" bIns="0" rtlCol="0" anchor="ctr"/>
          <a:lstStyle/>
          <a:p>
            <a:pPr algn="ctr" indent="0" marL="0">
              <a:buNone/>
            </a:pPr>
            <a:r>
              <a:rPr lang="en-US" sz="3000" b="1" dirty="0">
                <a:solidFill>
                  <a:srgbClr val="1A1A1A"/>
                </a:solidFill>
                <a:latin typeface="Arial" pitchFamily="34" charset="0"/>
                <a:ea typeface="Arial" pitchFamily="34" charset="-122"/>
                <a:cs typeface="Arial" pitchFamily="34" charset="-120"/>
              </a:rPr>
              <a:t>~35 active (of 260+)</a:t>
            </a:r>
            <a:endParaRPr lang="en-US" sz="3000" dirty="0"/>
          </a:p>
        </p:txBody>
      </p:sp>
      <p:sp>
        <p:nvSpPr>
          <p:cNvPr id="9" name="Text 7"/>
          <p:cNvSpPr/>
          <p:nvPr/>
        </p:nvSpPr>
        <p:spPr>
          <a:xfrm>
            <a:off x="548640" y="2148840"/>
            <a:ext cx="3840480" cy="274320"/>
          </a:xfrm>
          <a:prstGeom prst="rect">
            <a:avLst/>
          </a:prstGeom>
          <a:noFill/>
          <a:ln/>
        </p:spPr>
        <p:txBody>
          <a:bodyPr wrap="square" lIns="0" tIns="0" rIns="0" bIns="0" rtlCol="0" anchor="ctr"/>
          <a:lstStyle/>
          <a:p>
            <a:pPr algn="ctr" indent="0" marL="0">
              <a:buNone/>
            </a:pPr>
            <a:r>
              <a:rPr lang="en-US" sz="1100" dirty="0">
                <a:solidFill>
                  <a:srgbClr val="666666"/>
                </a:solidFill>
                <a:latin typeface="Arial" pitchFamily="34" charset="0"/>
                <a:ea typeface="Arial" pitchFamily="34" charset="-122"/>
                <a:cs typeface="Arial" pitchFamily="34" charset="-120"/>
              </a:rPr>
              <a:t>260+ total in database · 10-14 active pickup hubs</a:t>
            </a:r>
            <a:endParaRPr lang="en-US" sz="1100" dirty="0"/>
          </a:p>
        </p:txBody>
      </p:sp>
      <p:sp>
        <p:nvSpPr>
          <p:cNvPr id="10" name="Shape 8"/>
          <p:cNvSpPr/>
          <p:nvPr/>
        </p:nvSpPr>
        <p:spPr>
          <a:xfrm>
            <a:off x="4572000" y="1828800"/>
            <a:ext cx="548640" cy="548640"/>
          </a:xfrm>
          <a:prstGeom prst="ellipse">
            <a:avLst/>
          </a:prstGeom>
          <a:solidFill>
            <a:srgbClr val="E53935"/>
          </a:solidFill>
          <a:ln/>
        </p:spPr>
      </p:sp>
      <p:sp>
        <p:nvSpPr>
          <p:cNvPr id="11" name="Text 9"/>
          <p:cNvSpPr/>
          <p:nvPr/>
        </p:nvSpPr>
        <p:spPr>
          <a:xfrm>
            <a:off x="4572000" y="1828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5303520" y="1371600"/>
            <a:ext cx="3474720" cy="1371600"/>
          </a:xfrm>
          <a:prstGeom prst="roundRect">
            <a:avLst>
              <a:gd name="adj" fmla="val 6667"/>
            </a:avLst>
          </a:prstGeom>
          <a:solidFill>
            <a:srgbClr val="FFF5F5"/>
          </a:solidFill>
          <a:ln/>
        </p:spPr>
      </p:sp>
      <p:sp>
        <p:nvSpPr>
          <p:cNvPr id="13" name="Text 11"/>
          <p:cNvSpPr/>
          <p:nvPr/>
        </p:nvSpPr>
        <p:spPr>
          <a:xfrm>
            <a:off x="5303520" y="1371600"/>
            <a:ext cx="3474720" cy="274320"/>
          </a:xfrm>
          <a:prstGeom prst="rect">
            <a:avLst/>
          </a:prstGeom>
          <a:noFill/>
          <a:ln/>
        </p:spPr>
        <p:txBody>
          <a:bodyPr wrap="square" lIns="0" tIns="0" rIns="0" bIns="0" rtlCol="0" anchor="ctr"/>
          <a:lstStyle/>
          <a:p>
            <a:pPr algn="ctr" indent="0" marL="0">
              <a:buNone/>
            </a:pPr>
            <a:r>
              <a:rPr lang="en-US" sz="1000" b="1" dirty="0">
                <a:solidFill>
                  <a:srgbClr val="E53935"/>
                </a:solidFill>
                <a:latin typeface="Arial" pitchFamily="34" charset="0"/>
                <a:ea typeface="Arial" pitchFamily="34" charset="-122"/>
                <a:cs typeface="Arial" pitchFamily="34" charset="-120"/>
              </a:rPr>
              <a:t>TARGET</a:t>
            </a:r>
            <a:endParaRPr lang="en-US" sz="1000" dirty="0"/>
          </a:p>
        </p:txBody>
      </p:sp>
      <p:sp>
        <p:nvSpPr>
          <p:cNvPr id="14" name="Text 12"/>
          <p:cNvSpPr/>
          <p:nvPr/>
        </p:nvSpPr>
        <p:spPr>
          <a:xfrm>
            <a:off x="5303520" y="1645920"/>
            <a:ext cx="3474720" cy="457200"/>
          </a:xfrm>
          <a:prstGeom prst="rect">
            <a:avLst/>
          </a:prstGeom>
          <a:noFill/>
          <a:ln/>
        </p:spPr>
        <p:txBody>
          <a:bodyPr wrap="square" lIns="0" tIns="0" rIns="0" bIns="0" rtlCol="0" anchor="ctr"/>
          <a:lstStyle/>
          <a:p>
            <a:pPr algn="ctr" indent="0" marL="0">
              <a:buNone/>
            </a:pPr>
            <a:r>
              <a:rPr lang="en-US" sz="3000" b="1" dirty="0">
                <a:solidFill>
                  <a:srgbClr val="E53935"/>
                </a:solidFill>
                <a:latin typeface="Arial" pitchFamily="34" charset="0"/>
                <a:ea typeface="Arial" pitchFamily="34" charset="-122"/>
                <a:cs typeface="Arial" pitchFamily="34" charset="-120"/>
              </a:rPr>
              <a:t>100 active SGLs</a:t>
            </a:r>
            <a:endParaRPr lang="en-US" sz="3000" dirty="0"/>
          </a:p>
        </p:txBody>
      </p:sp>
      <p:sp>
        <p:nvSpPr>
          <p:cNvPr id="15" name="Text 13"/>
          <p:cNvSpPr/>
          <p:nvPr/>
        </p:nvSpPr>
        <p:spPr>
          <a:xfrm>
            <a:off x="5303520" y="2148840"/>
            <a:ext cx="3474720" cy="274320"/>
          </a:xfrm>
          <a:prstGeom prst="rect">
            <a:avLst/>
          </a:prstGeom>
          <a:noFill/>
          <a:ln/>
        </p:spPr>
        <p:txBody>
          <a:bodyPr wrap="square" lIns="0" tIns="0" rIns="0" bIns="0" rtlCol="0" anchor="ctr"/>
          <a:lstStyle/>
          <a:p>
            <a:pPr algn="ctr" indent="0" marL="0">
              <a:buNone/>
            </a:pPr>
            <a:r>
              <a:rPr lang="en-US" sz="1100" dirty="0">
                <a:solidFill>
                  <a:srgbClr val="666666"/>
                </a:solidFill>
                <a:latin typeface="Arial" pitchFamily="34" charset="0"/>
                <a:ea typeface="Arial" pitchFamily="34" charset="-122"/>
                <a:cs typeface="Arial" pitchFamily="34" charset="-120"/>
              </a:rPr>
              <a:t>14 pickup hubs fully activated</a:t>
            </a:r>
            <a:endParaRPr lang="en-US" sz="1100" dirty="0"/>
          </a:p>
        </p:txBody>
      </p:sp>
      <p:sp>
        <p:nvSpPr>
          <p:cNvPr id="16" name="Text 14"/>
          <p:cNvSpPr/>
          <p:nvPr/>
        </p:nvSpPr>
        <p:spPr>
          <a:xfrm>
            <a:off x="548640" y="3017520"/>
            <a:ext cx="36576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RECRUITMENT ENGINE</a:t>
            </a:r>
            <a:endParaRPr lang="en-US" sz="1000" dirty="0"/>
          </a:p>
        </p:txBody>
      </p:sp>
      <p:sp>
        <p:nvSpPr>
          <p:cNvPr id="17" name="Shape 15"/>
          <p:cNvSpPr/>
          <p:nvPr/>
        </p:nvSpPr>
        <p:spPr>
          <a:xfrm>
            <a:off x="548640" y="3383280"/>
            <a:ext cx="1920240" cy="914400"/>
          </a:xfrm>
          <a:prstGeom prst="roundRect">
            <a:avLst>
              <a:gd name="adj" fmla="val 10000"/>
            </a:avLst>
          </a:prstGeom>
          <a:solidFill>
            <a:srgbClr val="F8F8F8"/>
          </a:solidFill>
          <a:ln/>
        </p:spPr>
      </p:sp>
      <p:sp>
        <p:nvSpPr>
          <p:cNvPr id="18" name="Shape 16"/>
          <p:cNvSpPr/>
          <p:nvPr/>
        </p:nvSpPr>
        <p:spPr>
          <a:xfrm>
            <a:off x="1188720" y="3474720"/>
            <a:ext cx="640080" cy="640080"/>
          </a:xfrm>
          <a:prstGeom prst="ellipse">
            <a:avLst/>
          </a:prstGeom>
          <a:solidFill>
            <a:srgbClr val="E53935"/>
          </a:solidFill>
          <a:ln/>
        </p:spPr>
      </p:sp>
      <p:sp>
        <p:nvSpPr>
          <p:cNvPr id="19" name="Text 17"/>
          <p:cNvSpPr/>
          <p:nvPr/>
        </p:nvSpPr>
        <p:spPr>
          <a:xfrm>
            <a:off x="1188720" y="3474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0" name="Text 18"/>
          <p:cNvSpPr/>
          <p:nvPr/>
        </p:nvSpPr>
        <p:spPr>
          <a:xfrm>
            <a:off x="594360" y="3931920"/>
            <a:ext cx="182880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Driver-Led Recruitment</a:t>
            </a:r>
            <a:endParaRPr lang="en-US" sz="1000" dirty="0"/>
          </a:p>
        </p:txBody>
      </p:sp>
      <p:sp>
        <p:nvSpPr>
          <p:cNvPr id="21" name="Shape 19"/>
          <p:cNvSpPr/>
          <p:nvPr/>
        </p:nvSpPr>
        <p:spPr>
          <a:xfrm>
            <a:off x="2697480" y="3383280"/>
            <a:ext cx="1920240" cy="914400"/>
          </a:xfrm>
          <a:prstGeom prst="roundRect">
            <a:avLst>
              <a:gd name="adj" fmla="val 10000"/>
            </a:avLst>
          </a:prstGeom>
          <a:solidFill>
            <a:srgbClr val="F8F8F8"/>
          </a:solidFill>
          <a:ln/>
        </p:spPr>
      </p:sp>
      <p:sp>
        <p:nvSpPr>
          <p:cNvPr id="22" name="Shape 20"/>
          <p:cNvSpPr/>
          <p:nvPr/>
        </p:nvSpPr>
        <p:spPr>
          <a:xfrm>
            <a:off x="3337560" y="3474720"/>
            <a:ext cx="640080" cy="640080"/>
          </a:xfrm>
          <a:prstGeom prst="ellipse">
            <a:avLst/>
          </a:prstGeom>
          <a:solidFill>
            <a:srgbClr val="E53935"/>
          </a:solidFill>
          <a:ln/>
        </p:spPr>
      </p:sp>
      <p:sp>
        <p:nvSpPr>
          <p:cNvPr id="23" name="Text 21"/>
          <p:cNvSpPr/>
          <p:nvPr/>
        </p:nvSpPr>
        <p:spPr>
          <a:xfrm>
            <a:off x="3337560" y="3474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4" name="Text 22"/>
          <p:cNvSpPr/>
          <p:nvPr/>
        </p:nvSpPr>
        <p:spPr>
          <a:xfrm>
            <a:off x="2743200" y="3931920"/>
            <a:ext cx="182880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Geographic Gap Mapping</a:t>
            </a:r>
            <a:endParaRPr lang="en-US" sz="1000" dirty="0"/>
          </a:p>
        </p:txBody>
      </p:sp>
      <p:sp>
        <p:nvSpPr>
          <p:cNvPr id="25" name="Shape 23"/>
          <p:cNvSpPr/>
          <p:nvPr/>
        </p:nvSpPr>
        <p:spPr>
          <a:xfrm>
            <a:off x="4846320" y="3383280"/>
            <a:ext cx="1920240" cy="914400"/>
          </a:xfrm>
          <a:prstGeom prst="roundRect">
            <a:avLst>
              <a:gd name="adj" fmla="val 10000"/>
            </a:avLst>
          </a:prstGeom>
          <a:solidFill>
            <a:srgbClr val="F8F8F8"/>
          </a:solidFill>
          <a:ln/>
        </p:spPr>
      </p:sp>
      <p:sp>
        <p:nvSpPr>
          <p:cNvPr id="26" name="Shape 24"/>
          <p:cNvSpPr/>
          <p:nvPr/>
        </p:nvSpPr>
        <p:spPr>
          <a:xfrm>
            <a:off x="5486400" y="3474720"/>
            <a:ext cx="640080" cy="640080"/>
          </a:xfrm>
          <a:prstGeom prst="ellipse">
            <a:avLst/>
          </a:prstGeom>
          <a:solidFill>
            <a:srgbClr val="E53935"/>
          </a:solidFill>
          <a:ln/>
        </p:spPr>
      </p:sp>
      <p:sp>
        <p:nvSpPr>
          <p:cNvPr id="27" name="Text 25"/>
          <p:cNvSpPr/>
          <p:nvPr/>
        </p:nvSpPr>
        <p:spPr>
          <a:xfrm>
            <a:off x="5486400" y="3474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8" name="Text 26"/>
          <p:cNvSpPr/>
          <p:nvPr/>
        </p:nvSpPr>
        <p:spPr>
          <a:xfrm>
            <a:off x="4892040" y="3931920"/>
            <a:ext cx="182880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7-Day Automated Onboarding</a:t>
            </a:r>
            <a:endParaRPr lang="en-US" sz="1000" dirty="0"/>
          </a:p>
        </p:txBody>
      </p:sp>
      <p:sp>
        <p:nvSpPr>
          <p:cNvPr id="29" name="Shape 27"/>
          <p:cNvSpPr/>
          <p:nvPr/>
        </p:nvSpPr>
        <p:spPr>
          <a:xfrm>
            <a:off x="6995160" y="3383280"/>
            <a:ext cx="1920240" cy="914400"/>
          </a:xfrm>
          <a:prstGeom prst="roundRect">
            <a:avLst>
              <a:gd name="adj" fmla="val 10000"/>
            </a:avLst>
          </a:prstGeom>
          <a:solidFill>
            <a:srgbClr val="F8F8F8"/>
          </a:solidFill>
          <a:ln/>
        </p:spPr>
      </p:sp>
      <p:sp>
        <p:nvSpPr>
          <p:cNvPr id="30" name="Shape 28"/>
          <p:cNvSpPr/>
          <p:nvPr/>
        </p:nvSpPr>
        <p:spPr>
          <a:xfrm>
            <a:off x="7635240" y="3474720"/>
            <a:ext cx="640080" cy="640080"/>
          </a:xfrm>
          <a:prstGeom prst="ellipse">
            <a:avLst/>
          </a:prstGeom>
          <a:solidFill>
            <a:srgbClr val="E53935"/>
          </a:solidFill>
          <a:ln/>
        </p:spPr>
      </p:sp>
      <p:sp>
        <p:nvSpPr>
          <p:cNvPr id="31" name="Text 29"/>
          <p:cNvSpPr/>
          <p:nvPr/>
        </p:nvSpPr>
        <p:spPr>
          <a:xfrm>
            <a:off x="7635240" y="34747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2" name="Text 30"/>
          <p:cNvSpPr/>
          <p:nvPr/>
        </p:nvSpPr>
        <p:spPr>
          <a:xfrm>
            <a:off x="7040880" y="3931920"/>
            <a:ext cx="1828800" cy="18288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Tier System</a:t>
            </a:r>
            <a:endParaRPr lang="en-US" sz="1000" dirty="0"/>
          </a:p>
        </p:txBody>
      </p:sp>
      <p:sp>
        <p:nvSpPr>
          <p:cNvPr id="33" name="Shape 31"/>
          <p:cNvSpPr/>
          <p:nvPr/>
        </p:nvSpPr>
        <p:spPr>
          <a:xfrm>
            <a:off x="548640" y="4434840"/>
            <a:ext cx="8229600" cy="457200"/>
          </a:xfrm>
          <a:prstGeom prst="roundRect">
            <a:avLst>
              <a:gd name="adj" fmla="val 16000"/>
            </a:avLst>
          </a:prstGeom>
          <a:solidFill>
            <a:srgbClr val="FFF5F5"/>
          </a:solidFill>
          <a:ln/>
        </p:spPr>
      </p:sp>
      <p:sp>
        <p:nvSpPr>
          <p:cNvPr id="34" name="Text 32"/>
          <p:cNvSpPr/>
          <p:nvPr/>
        </p:nvSpPr>
        <p:spPr>
          <a:xfrm>
            <a:off x="548640" y="4434840"/>
            <a:ext cx="8229600" cy="457200"/>
          </a:xfrm>
          <a:prstGeom prst="rect">
            <a:avLst/>
          </a:prstGeom>
          <a:noFill/>
          <a:ln/>
        </p:spPr>
        <p:txBody>
          <a:bodyPr wrap="square" lIns="0" tIns="0" rIns="0" bIns="0" rtlCol="0" anchor="ctr"/>
          <a:lstStyle/>
          <a:p>
            <a:pPr algn="ctr" indent="0" marL="0">
              <a:buNone/>
            </a:pPr>
            <a:r>
              <a:rPr lang="en-US" sz="1200" b="1" dirty="0">
                <a:solidFill>
                  <a:srgbClr val="E53935"/>
                </a:solidFill>
                <a:latin typeface="Arial" pitchFamily="34" charset="0"/>
                <a:ea typeface="Arial" pitchFamily="34" charset="-122"/>
                <a:cs typeface="Arial" pitchFamily="34" charset="-120"/>
              </a:rPr>
              <a:t>Revenue impact: 100 SGLs × 100 orders/month × 30kg × 2 ETB spread = 600,000 ETB/month pure margin flow</a:t>
            </a:r>
            <a:endParaRPr lang="en-US" sz="1200" dirty="0"/>
          </a:p>
        </p:txBody>
      </p:sp>
      <p:sp>
        <p:nvSpPr>
          <p:cNvPr id="35" name="Shape 33"/>
          <p:cNvSpPr/>
          <p:nvPr/>
        </p:nvSpPr>
        <p:spPr>
          <a:xfrm>
            <a:off x="8503920" y="4663440"/>
            <a:ext cx="365760" cy="365760"/>
          </a:xfrm>
          <a:prstGeom prst="ellipse">
            <a:avLst/>
          </a:prstGeom>
          <a:solidFill>
            <a:srgbClr val="E53935"/>
          </a:solidFill>
          <a:ln/>
        </p:spPr>
      </p:sp>
      <p:sp>
        <p:nvSpPr>
          <p:cNvPr id="36" name="Text 34"/>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48640" y="457200"/>
            <a:ext cx="640080" cy="640080"/>
          </a:xfrm>
          <a:prstGeom prst="ellipse">
            <a:avLst/>
          </a:prstGeom>
          <a:solidFill>
            <a:srgbClr val="E53935"/>
          </a:solidFill>
          <a:ln/>
        </p:spPr>
      </p:sp>
      <p:sp>
        <p:nvSpPr>
          <p:cNvPr id="4" name="Text 2"/>
          <p:cNvSpPr/>
          <p:nvPr/>
        </p:nvSpPr>
        <p:spPr>
          <a:xfrm>
            <a:off x="548640"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06</a:t>
            </a:r>
            <a:endParaRPr lang="en-US" sz="2000" dirty="0"/>
          </a:p>
        </p:txBody>
      </p:sp>
      <p:sp>
        <p:nvSpPr>
          <p:cNvPr id="5" name="Text 3"/>
          <p:cNvSpPr/>
          <p:nvPr/>
        </p:nvSpPr>
        <p:spPr>
          <a:xfrm>
            <a:off x="1371600" y="502920"/>
            <a:ext cx="5486400" cy="548640"/>
          </a:xfrm>
          <a:prstGeom prst="rect">
            <a:avLst/>
          </a:prstGeom>
          <a:noFill/>
          <a:ln/>
        </p:spPr>
        <p:txBody>
          <a:bodyPr wrap="square" lIns="0" tIns="0" rIns="0" bIns="0" rtlCol="0" anchor="ctr"/>
          <a:lstStyle/>
          <a:p>
            <a:pPr indent="0" marL="0">
              <a:buNone/>
            </a:pPr>
            <a:r>
              <a:rPr lang="en-US" sz="3200" b="1" dirty="0">
                <a:solidFill>
                  <a:srgbClr val="1A1A1A"/>
                </a:solidFill>
                <a:latin typeface="Arial" pitchFamily="34" charset="0"/>
                <a:ea typeface="Arial" pitchFamily="34" charset="-122"/>
                <a:cs typeface="Arial" pitchFamily="34" charset="-120"/>
              </a:rPr>
              <a:t>TECHNOLOGY BUILD</a:t>
            </a:r>
            <a:endParaRPr lang="en-US" sz="3200" dirty="0"/>
          </a:p>
        </p:txBody>
      </p:sp>
      <p:sp>
        <p:nvSpPr>
          <p:cNvPr id="6" name="Text 4"/>
          <p:cNvSpPr/>
          <p:nvPr/>
        </p:nvSpPr>
        <p:spPr>
          <a:xfrm>
            <a:off x="548640" y="1280160"/>
            <a:ext cx="7315200" cy="320040"/>
          </a:xfrm>
          <a:prstGeom prst="rect">
            <a:avLst/>
          </a:prstGeom>
          <a:noFill/>
          <a:ln/>
        </p:spPr>
        <p:txBody>
          <a:bodyPr wrap="square" lIns="0" tIns="0" rIns="0" bIns="0" rtlCol="0" anchor="ctr"/>
          <a:lstStyle/>
          <a:p>
            <a:pPr indent="0" marL="0">
              <a:buNone/>
            </a:pPr>
            <a:r>
              <a:rPr lang="en-US" sz="1400" b="1" dirty="0">
                <a:solidFill>
                  <a:srgbClr val="E53935"/>
                </a:solidFill>
                <a:latin typeface="Arial" pitchFamily="34" charset="0"/>
                <a:ea typeface="Arial" pitchFamily="34" charset="-122"/>
                <a:cs typeface="Arial" pitchFamily="34" charset="-120"/>
              </a:rPr>
              <a:t>Enforcement Over Features — Priority Stack</a:t>
            </a:r>
            <a:endParaRPr lang="en-US" sz="1400" dirty="0"/>
          </a:p>
        </p:txBody>
      </p:sp>
      <p:sp>
        <p:nvSpPr>
          <p:cNvPr id="7" name="Shape 5"/>
          <p:cNvSpPr/>
          <p:nvPr/>
        </p:nvSpPr>
        <p:spPr>
          <a:xfrm>
            <a:off x="548640" y="1691640"/>
            <a:ext cx="1097280" cy="502920"/>
          </a:xfrm>
          <a:prstGeom prst="roundRect">
            <a:avLst>
              <a:gd name="adj" fmla="val 18182"/>
            </a:avLst>
          </a:prstGeom>
          <a:solidFill>
            <a:srgbClr val="E53935"/>
          </a:solidFill>
          <a:ln/>
        </p:spPr>
      </p:sp>
      <p:sp>
        <p:nvSpPr>
          <p:cNvPr id="8" name="Text 6"/>
          <p:cNvSpPr/>
          <p:nvPr/>
        </p:nvSpPr>
        <p:spPr>
          <a:xfrm>
            <a:off x="548640" y="1691640"/>
            <a:ext cx="109728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P0 — CRITICAL BUGS</a:t>
            </a:r>
            <a:endParaRPr lang="en-US" sz="1000" dirty="0"/>
          </a:p>
        </p:txBody>
      </p:sp>
      <p:sp>
        <p:nvSpPr>
          <p:cNvPr id="9" name="Text 7"/>
          <p:cNvSpPr/>
          <p:nvPr/>
        </p:nvSpPr>
        <p:spPr>
          <a:xfrm>
            <a:off x="1737360" y="1691640"/>
            <a:ext cx="6858000" cy="5029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Fix SettingsView — wire to backend    •    Connect FeedbackView to Supabase Realtime    •    Add drag-and-drop to Kanban</a:t>
            </a:r>
            <a:endParaRPr lang="en-US" sz="1100" dirty="0"/>
          </a:p>
        </p:txBody>
      </p:sp>
      <p:sp>
        <p:nvSpPr>
          <p:cNvPr id="10" name="Shape 8"/>
          <p:cNvSpPr/>
          <p:nvPr/>
        </p:nvSpPr>
        <p:spPr>
          <a:xfrm>
            <a:off x="548640" y="2423160"/>
            <a:ext cx="1097280" cy="502920"/>
          </a:xfrm>
          <a:prstGeom prst="roundRect">
            <a:avLst>
              <a:gd name="adj" fmla="val 18182"/>
            </a:avLst>
          </a:prstGeom>
          <a:solidFill>
            <a:srgbClr val="F8F8F8"/>
          </a:solidFill>
          <a:ln/>
        </p:spPr>
      </p:sp>
      <p:sp>
        <p:nvSpPr>
          <p:cNvPr id="11" name="Text 9"/>
          <p:cNvSpPr/>
          <p:nvPr/>
        </p:nvSpPr>
        <p:spPr>
          <a:xfrm>
            <a:off x="548640" y="2423160"/>
            <a:ext cx="1097280" cy="50292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P1 — ENFORCEMENT</a:t>
            </a:r>
            <a:endParaRPr lang="en-US" sz="1000" dirty="0"/>
          </a:p>
        </p:txBody>
      </p:sp>
      <p:sp>
        <p:nvSpPr>
          <p:cNvPr id="12" name="Text 10"/>
          <p:cNvSpPr/>
          <p:nvPr/>
        </p:nvSpPr>
        <p:spPr>
          <a:xfrm>
            <a:off x="1737360" y="2423160"/>
            <a:ext cx="6858000" cy="5029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CP1 auto-block system    •    BNPL enforcement engine    •    Automated reconciliation pipeline</a:t>
            </a:r>
            <a:endParaRPr lang="en-US" sz="1100" dirty="0"/>
          </a:p>
        </p:txBody>
      </p:sp>
      <p:sp>
        <p:nvSpPr>
          <p:cNvPr id="13" name="Shape 11"/>
          <p:cNvSpPr/>
          <p:nvPr/>
        </p:nvSpPr>
        <p:spPr>
          <a:xfrm>
            <a:off x="548640" y="3154680"/>
            <a:ext cx="1097280" cy="502920"/>
          </a:xfrm>
          <a:prstGeom prst="roundRect">
            <a:avLst>
              <a:gd name="adj" fmla="val 18182"/>
            </a:avLst>
          </a:prstGeom>
          <a:solidFill>
            <a:srgbClr val="F8F8F8"/>
          </a:solidFill>
          <a:ln/>
        </p:spPr>
      </p:sp>
      <p:sp>
        <p:nvSpPr>
          <p:cNvPr id="14" name="Text 12"/>
          <p:cNvSpPr/>
          <p:nvPr/>
        </p:nvSpPr>
        <p:spPr>
          <a:xfrm>
            <a:off x="548640" y="3154680"/>
            <a:ext cx="1097280" cy="50292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P2 — ANALYTICS</a:t>
            </a:r>
            <a:endParaRPr lang="en-US" sz="1000" dirty="0"/>
          </a:p>
        </p:txBody>
      </p:sp>
      <p:sp>
        <p:nvSpPr>
          <p:cNvPr id="15" name="Text 13"/>
          <p:cNvSpPr/>
          <p:nvPr/>
        </p:nvSpPr>
        <p:spPr>
          <a:xfrm>
            <a:off x="1737360" y="3154680"/>
            <a:ext cx="6858000" cy="5029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CRM — customer profiles, order history, segmentation    •    Business KPI dashboard (revenue, margin, LTV:CAC)    •    Automated daily/weekly P&amp;L reporting</a:t>
            </a:r>
            <a:endParaRPr lang="en-US" sz="1100" dirty="0"/>
          </a:p>
        </p:txBody>
      </p:sp>
      <p:sp>
        <p:nvSpPr>
          <p:cNvPr id="16" name="Shape 14"/>
          <p:cNvSpPr/>
          <p:nvPr/>
        </p:nvSpPr>
        <p:spPr>
          <a:xfrm>
            <a:off x="548640" y="3886200"/>
            <a:ext cx="1097280" cy="502920"/>
          </a:xfrm>
          <a:prstGeom prst="roundRect">
            <a:avLst>
              <a:gd name="adj" fmla="val 18182"/>
            </a:avLst>
          </a:prstGeom>
          <a:solidFill>
            <a:srgbClr val="F8F8F8"/>
          </a:solidFill>
          <a:ln/>
        </p:spPr>
      </p:sp>
      <p:sp>
        <p:nvSpPr>
          <p:cNvPr id="17" name="Text 15"/>
          <p:cNvSpPr/>
          <p:nvPr/>
        </p:nvSpPr>
        <p:spPr>
          <a:xfrm>
            <a:off x="548640" y="3886200"/>
            <a:ext cx="1097280" cy="50292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P3 — AUTOMATION</a:t>
            </a:r>
            <a:endParaRPr lang="en-US" sz="1000" dirty="0"/>
          </a:p>
        </p:txBody>
      </p:sp>
      <p:sp>
        <p:nvSpPr>
          <p:cNvPr id="18" name="Text 16"/>
          <p:cNvSpPr/>
          <p:nvPr/>
        </p:nvSpPr>
        <p:spPr>
          <a:xfrm>
            <a:off x="1737360" y="3886200"/>
            <a:ext cx="6858000" cy="50292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Replace hardcoded org chart with dynamic DB-driven chart    •    Marketing automation (SGL welcome, social scheduling)    •    Content pipeline automation</a:t>
            </a:r>
            <a:endParaRPr lang="en-US" sz="1100" dirty="0"/>
          </a:p>
        </p:txBody>
      </p:sp>
      <p:sp>
        <p:nvSpPr>
          <p:cNvPr id="19" name="Text 17"/>
          <p:cNvSpPr/>
          <p:nvPr/>
        </p:nvSpPr>
        <p:spPr>
          <a:xfrm>
            <a:off x="548640" y="4572000"/>
            <a:ext cx="4572000" cy="274320"/>
          </a:xfrm>
          <a:prstGeom prst="rect">
            <a:avLst/>
          </a:prstGeom>
          <a:noFill/>
          <a:ln/>
        </p:spPr>
        <p:txBody>
          <a:bodyPr wrap="square" lIns="0" tIns="0" rIns="0" bIns="0" rtlCol="0" anchor="ctr"/>
          <a:lstStyle/>
          <a:p>
            <a:pPr indent="0" marL="0">
              <a:buNone/>
            </a:pPr>
            <a:r>
              <a:rPr lang="en-US" sz="1000" b="1" spc="300" kern="0" dirty="0">
                <a:solidFill>
                  <a:srgbClr val="888888"/>
                </a:solidFill>
                <a:latin typeface="Arial" pitchFamily="34" charset="0"/>
                <a:ea typeface="Arial" pitchFamily="34" charset="-122"/>
                <a:cs typeface="Arial" pitchFamily="34" charset="-120"/>
              </a:rPr>
              <a:t>TECHNOLOGY STACK</a:t>
            </a:r>
            <a:endParaRPr lang="en-US" sz="1000" dirty="0"/>
          </a:p>
        </p:txBody>
      </p:sp>
      <p:sp>
        <p:nvSpPr>
          <p:cNvPr id="20" name="Text 18"/>
          <p:cNvSpPr/>
          <p:nvPr/>
        </p:nvSpPr>
        <p:spPr>
          <a:xfrm>
            <a:off x="548640" y="4800600"/>
            <a:ext cx="8229600" cy="228600"/>
          </a:xfrm>
          <a:prstGeom prst="rect">
            <a:avLst/>
          </a:prstGeom>
          <a:noFill/>
          <a:ln/>
        </p:spPr>
        <p:txBody>
          <a:bodyPr wrap="square" lIns="0" tIns="0" rIns="0" bIns="0" rtlCol="0" anchor="ctr"/>
          <a:lstStyle/>
          <a:p>
            <a:pPr indent="0" marL="0">
              <a:buNone/>
            </a:pPr>
            <a:r>
              <a:rPr lang="en-US" sz="1100" dirty="0">
                <a:solidFill>
                  <a:srgbClr val="1A1A1A"/>
                </a:solidFill>
                <a:latin typeface="Arial" pitchFamily="34" charset="0"/>
                <a:ea typeface="Arial" pitchFamily="34" charset="-122"/>
                <a:cs typeface="Arial" pitchFamily="34" charset="-120"/>
              </a:rPr>
              <a:t>Supabase Postgres  •  Next.js Frontend  •  Paperclip Orchestration  •  ClickHouse Analytics</a:t>
            </a:r>
            <a:endParaRPr lang="en-US" sz="1100" dirty="0"/>
          </a:p>
        </p:txBody>
      </p:sp>
      <p:sp>
        <p:nvSpPr>
          <p:cNvPr id="21" name="Shape 19"/>
          <p:cNvSpPr/>
          <p:nvPr/>
        </p:nvSpPr>
        <p:spPr>
          <a:xfrm>
            <a:off x="8503920" y="4663440"/>
            <a:ext cx="365760" cy="365760"/>
          </a:xfrm>
          <a:prstGeom prst="ellipse">
            <a:avLst/>
          </a:prstGeom>
          <a:solidFill>
            <a:srgbClr val="E53935"/>
          </a:solidFill>
          <a:ln/>
        </p:spPr>
      </p:sp>
      <p:sp>
        <p:nvSpPr>
          <p:cNvPr id="22" name="Text 20"/>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IMPLEMENTATION TIMELINE</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Q1-Q2 2026 — Prioritized Execution Plan</a:t>
            </a:r>
            <a:endParaRPr lang="en-US" sz="3000" dirty="0"/>
          </a:p>
        </p:txBody>
      </p:sp>
      <p:sp>
        <p:nvSpPr>
          <p:cNvPr id="5" name="Shape 3"/>
          <p:cNvSpPr/>
          <p:nvPr/>
        </p:nvSpPr>
        <p:spPr>
          <a:xfrm>
            <a:off x="548640" y="1325880"/>
            <a:ext cx="1188720" cy="502920"/>
          </a:xfrm>
          <a:prstGeom prst="roundRect">
            <a:avLst>
              <a:gd name="adj" fmla="val 21818"/>
            </a:avLst>
          </a:prstGeom>
          <a:solidFill>
            <a:srgbClr val="D32F2F"/>
          </a:solidFill>
          <a:ln/>
        </p:spPr>
      </p:sp>
      <p:sp>
        <p:nvSpPr>
          <p:cNvPr id="6" name="Text 4"/>
          <p:cNvSpPr/>
          <p:nvPr/>
        </p:nvSpPr>
        <p:spPr>
          <a:xfrm>
            <a:off x="548640" y="1325880"/>
            <a:ext cx="11887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WEEKS 1-4</a:t>
            </a:r>
            <a:endParaRPr lang="en-US" sz="1000" dirty="0"/>
          </a:p>
        </p:txBody>
      </p:sp>
      <p:sp>
        <p:nvSpPr>
          <p:cNvPr id="7" name="Shape 5"/>
          <p:cNvSpPr/>
          <p:nvPr/>
        </p:nvSpPr>
        <p:spPr>
          <a:xfrm>
            <a:off x="1874520" y="1325880"/>
            <a:ext cx="6858000" cy="502920"/>
          </a:xfrm>
          <a:prstGeom prst="roundRect">
            <a:avLst>
              <a:gd name="adj" fmla="val 18182"/>
            </a:avLst>
          </a:prstGeom>
          <a:solidFill>
            <a:srgbClr val="F8F8F8"/>
          </a:solidFill>
          <a:ln/>
        </p:spPr>
      </p:sp>
      <p:sp>
        <p:nvSpPr>
          <p:cNvPr id="8" name="Text 6"/>
          <p:cNvSpPr/>
          <p:nvPr/>
        </p:nvSpPr>
        <p:spPr>
          <a:xfrm>
            <a:off x="1965960" y="1344168"/>
            <a:ext cx="6675120" cy="201168"/>
          </a:xfrm>
          <a:prstGeom prst="rect">
            <a:avLst/>
          </a:prstGeom>
          <a:noFill/>
          <a:ln/>
        </p:spPr>
        <p:txBody>
          <a:bodyPr wrap="square" lIns="0" tIns="0" rIns="0" bIns="0" rtlCol="0" anchor="ctr"/>
          <a:lstStyle/>
          <a:p>
            <a:pPr indent="0" marL="0">
              <a:buNone/>
            </a:pPr>
            <a:r>
              <a:rPr lang="en-US" sz="1200" b="1" dirty="0">
                <a:solidFill>
                  <a:srgbClr val="D32F2F"/>
                </a:solidFill>
                <a:latin typeface="Arial" pitchFamily="34" charset="0"/>
                <a:ea typeface="Arial" pitchFamily="34" charset="-122"/>
                <a:cs typeface="Arial" pitchFamily="34" charset="-120"/>
              </a:rPr>
              <a:t>Fix Financial Engine</a:t>
            </a:r>
            <a:endParaRPr lang="en-US" sz="1200" dirty="0"/>
          </a:p>
        </p:txBody>
      </p:sp>
      <p:sp>
        <p:nvSpPr>
          <p:cNvPr id="9" name="Text 7"/>
          <p:cNvSpPr/>
          <p:nvPr/>
        </p:nvSpPr>
        <p:spPr>
          <a:xfrm>
            <a:off x="1965960" y="1554480"/>
            <a:ext cx="6675120" cy="256032"/>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CP1 auto-block · Kill unprofitable SKUs</a:t>
            </a:r>
            <a:endParaRPr lang="en-US" sz="1000" dirty="0"/>
          </a:p>
          <a:p>
            <a:pPr indent="0" marL="0">
              <a:buNone/>
            </a:pPr>
            <a:r>
              <a:rPr lang="en-US" sz="1000" dirty="0">
                <a:solidFill>
                  <a:srgbClr val="444444"/>
                </a:solidFill>
                <a:latin typeface="Arial" pitchFamily="34" charset="0"/>
                <a:ea typeface="Arial" pitchFamily="34" charset="-122"/>
                <a:cs typeface="Arial" pitchFamily="34" charset="-120"/>
              </a:rPr>
              <a:t>Aggressive SG&amp;A reduction · BNPL pilot (10 restaurants)</a:t>
            </a:r>
            <a:endParaRPr lang="en-US" sz="1000" dirty="0"/>
          </a:p>
        </p:txBody>
      </p:sp>
      <p:sp>
        <p:nvSpPr>
          <p:cNvPr id="10" name="Shape 8"/>
          <p:cNvSpPr/>
          <p:nvPr/>
        </p:nvSpPr>
        <p:spPr>
          <a:xfrm>
            <a:off x="548640" y="1947672"/>
            <a:ext cx="1188720" cy="502920"/>
          </a:xfrm>
          <a:prstGeom prst="roundRect">
            <a:avLst>
              <a:gd name="adj" fmla="val 21818"/>
            </a:avLst>
          </a:prstGeom>
          <a:solidFill>
            <a:srgbClr val="E53935"/>
          </a:solidFill>
          <a:ln/>
        </p:spPr>
      </p:sp>
      <p:sp>
        <p:nvSpPr>
          <p:cNvPr id="11" name="Text 9"/>
          <p:cNvSpPr/>
          <p:nvPr/>
        </p:nvSpPr>
        <p:spPr>
          <a:xfrm>
            <a:off x="548640" y="1947672"/>
            <a:ext cx="11887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WEEKS 1-6</a:t>
            </a:r>
            <a:endParaRPr lang="en-US" sz="1000" dirty="0"/>
          </a:p>
        </p:txBody>
      </p:sp>
      <p:sp>
        <p:nvSpPr>
          <p:cNvPr id="12" name="Shape 10"/>
          <p:cNvSpPr/>
          <p:nvPr/>
        </p:nvSpPr>
        <p:spPr>
          <a:xfrm>
            <a:off x="1874520" y="1947672"/>
            <a:ext cx="6858000" cy="502920"/>
          </a:xfrm>
          <a:prstGeom prst="roundRect">
            <a:avLst>
              <a:gd name="adj" fmla="val 18182"/>
            </a:avLst>
          </a:prstGeom>
          <a:solidFill>
            <a:srgbClr val="F8F8F8"/>
          </a:solidFill>
          <a:ln/>
        </p:spPr>
      </p:sp>
      <p:sp>
        <p:nvSpPr>
          <p:cNvPr id="13" name="Text 11"/>
          <p:cNvSpPr/>
          <p:nvPr/>
        </p:nvSpPr>
        <p:spPr>
          <a:xfrm>
            <a:off x="1965960" y="1965960"/>
            <a:ext cx="6675120" cy="201168"/>
          </a:xfrm>
          <a:prstGeom prst="rect">
            <a:avLst/>
          </a:prstGeom>
          <a:noFill/>
          <a:ln/>
        </p:spPr>
        <p:txBody>
          <a:bodyPr wrap="square" lIns="0" tIns="0" rIns="0" bIns="0" rtlCol="0" anchor="ctr"/>
          <a:lstStyle/>
          <a:p>
            <a:pPr indent="0" marL="0">
              <a:buNone/>
            </a:pPr>
            <a:r>
              <a:rPr lang="en-US" sz="1200" b="1" dirty="0">
                <a:solidFill>
                  <a:srgbClr val="E53935"/>
                </a:solidFill>
                <a:latin typeface="Arial" pitchFamily="34" charset="0"/>
                <a:ea typeface="Arial" pitchFamily="34" charset="-122"/>
                <a:cs typeface="Arial" pitchFamily="34" charset="-120"/>
              </a:rPr>
              <a:t>Tech Enforcement Build</a:t>
            </a:r>
            <a:endParaRPr lang="en-US" sz="1200" dirty="0"/>
          </a:p>
        </p:txBody>
      </p:sp>
      <p:sp>
        <p:nvSpPr>
          <p:cNvPr id="14" name="Text 12"/>
          <p:cNvSpPr/>
          <p:nvPr/>
        </p:nvSpPr>
        <p:spPr>
          <a:xfrm>
            <a:off x="1965960" y="2176272"/>
            <a:ext cx="6675120" cy="256032"/>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Fix critical UI bugs · Build enforcement layer</a:t>
            </a:r>
            <a:endParaRPr lang="en-US" sz="1000" dirty="0"/>
          </a:p>
          <a:p>
            <a:pPr indent="0" marL="0">
              <a:buNone/>
            </a:pPr>
            <a:r>
              <a:rPr lang="en-US" sz="1000" dirty="0">
                <a:solidFill>
                  <a:srgbClr val="444444"/>
                </a:solidFill>
                <a:latin typeface="Arial" pitchFamily="34" charset="0"/>
                <a:ea typeface="Arial" pitchFamily="34" charset="-122"/>
                <a:cs typeface="Arial" pitchFamily="34" charset="-120"/>
              </a:rPr>
              <a:t>Implement CRM and analytics dashboard</a:t>
            </a:r>
            <a:endParaRPr lang="en-US" sz="1000" dirty="0"/>
          </a:p>
        </p:txBody>
      </p:sp>
      <p:sp>
        <p:nvSpPr>
          <p:cNvPr id="15" name="Shape 13"/>
          <p:cNvSpPr/>
          <p:nvPr/>
        </p:nvSpPr>
        <p:spPr>
          <a:xfrm>
            <a:off x="548640" y="2569464"/>
            <a:ext cx="1188720" cy="502920"/>
          </a:xfrm>
          <a:prstGeom prst="roundRect">
            <a:avLst>
              <a:gd name="adj" fmla="val 21818"/>
            </a:avLst>
          </a:prstGeom>
          <a:solidFill>
            <a:srgbClr val="FF6B6B"/>
          </a:solidFill>
          <a:ln/>
        </p:spPr>
      </p:sp>
      <p:sp>
        <p:nvSpPr>
          <p:cNvPr id="16" name="Text 14"/>
          <p:cNvSpPr/>
          <p:nvPr/>
        </p:nvSpPr>
        <p:spPr>
          <a:xfrm>
            <a:off x="548640" y="2569464"/>
            <a:ext cx="11887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WEEKS 4-12</a:t>
            </a:r>
            <a:endParaRPr lang="en-US" sz="1000" dirty="0"/>
          </a:p>
        </p:txBody>
      </p:sp>
      <p:sp>
        <p:nvSpPr>
          <p:cNvPr id="17" name="Shape 15"/>
          <p:cNvSpPr/>
          <p:nvPr/>
        </p:nvSpPr>
        <p:spPr>
          <a:xfrm>
            <a:off x="1874520" y="2569464"/>
            <a:ext cx="6858000" cy="502920"/>
          </a:xfrm>
          <a:prstGeom prst="roundRect">
            <a:avLst>
              <a:gd name="adj" fmla="val 18182"/>
            </a:avLst>
          </a:prstGeom>
          <a:solidFill>
            <a:srgbClr val="F8F8F8"/>
          </a:solidFill>
          <a:ln/>
        </p:spPr>
      </p:sp>
      <p:sp>
        <p:nvSpPr>
          <p:cNvPr id="18" name="Text 16"/>
          <p:cNvSpPr/>
          <p:nvPr/>
        </p:nvSpPr>
        <p:spPr>
          <a:xfrm>
            <a:off x="1965960" y="2587752"/>
            <a:ext cx="6675120" cy="201168"/>
          </a:xfrm>
          <a:prstGeom prst="rect">
            <a:avLst/>
          </a:prstGeom>
          <a:noFill/>
          <a:ln/>
        </p:spPr>
        <p:txBody>
          <a:bodyPr wrap="square" lIns="0" tIns="0" rIns="0" bIns="0" rtlCol="0" anchor="ctr"/>
          <a:lstStyle/>
          <a:p>
            <a:pPr indent="0" marL="0">
              <a:buNone/>
            </a:pPr>
            <a:r>
              <a:rPr lang="en-US" sz="1200" b="1" dirty="0">
                <a:solidFill>
                  <a:srgbClr val="FF6B6B"/>
                </a:solidFill>
                <a:latin typeface="Arial" pitchFamily="34" charset="0"/>
                <a:ea typeface="Arial" pitchFamily="34" charset="-122"/>
                <a:cs typeface="Arial" pitchFamily="34" charset="-120"/>
              </a:rPr>
              <a:t>SGL Network Scale</a:t>
            </a:r>
            <a:endParaRPr lang="en-US" sz="1200" dirty="0"/>
          </a:p>
        </p:txBody>
      </p:sp>
      <p:sp>
        <p:nvSpPr>
          <p:cNvPr id="19" name="Text 17"/>
          <p:cNvSpPr/>
          <p:nvPr/>
        </p:nvSpPr>
        <p:spPr>
          <a:xfrm>
            <a:off x="1965960" y="2798064"/>
            <a:ext cx="6675120" cy="256032"/>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Activate recruitment engine (target: 100 SGLs)</a:t>
            </a:r>
            <a:endParaRPr lang="en-US" sz="1000" dirty="0"/>
          </a:p>
          <a:p>
            <a:pPr indent="0" marL="0">
              <a:buNone/>
            </a:pPr>
            <a:r>
              <a:rPr lang="en-US" sz="1000" dirty="0">
                <a:solidFill>
                  <a:srgbClr val="444444"/>
                </a:solidFill>
                <a:latin typeface="Arial" pitchFamily="34" charset="0"/>
                <a:ea typeface="Arial" pitchFamily="34" charset="-122"/>
                <a:cs typeface="Arial" pitchFamily="34" charset="-120"/>
              </a:rPr>
              <a:t>14 pickup hubs · Commission tiers · Retention</a:t>
            </a:r>
            <a:endParaRPr lang="en-US" sz="1000" dirty="0"/>
          </a:p>
        </p:txBody>
      </p:sp>
      <p:sp>
        <p:nvSpPr>
          <p:cNvPr id="20" name="Shape 18"/>
          <p:cNvSpPr/>
          <p:nvPr/>
        </p:nvSpPr>
        <p:spPr>
          <a:xfrm>
            <a:off x="548640" y="3191256"/>
            <a:ext cx="1188720" cy="502920"/>
          </a:xfrm>
          <a:prstGeom prst="roundRect">
            <a:avLst>
              <a:gd name="adj" fmla="val 21818"/>
            </a:avLst>
          </a:prstGeom>
          <a:solidFill>
            <a:srgbClr val="FF8A8A"/>
          </a:solidFill>
          <a:ln/>
        </p:spPr>
      </p:sp>
      <p:sp>
        <p:nvSpPr>
          <p:cNvPr id="21" name="Text 19"/>
          <p:cNvSpPr/>
          <p:nvPr/>
        </p:nvSpPr>
        <p:spPr>
          <a:xfrm>
            <a:off x="548640" y="3191256"/>
            <a:ext cx="11887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WEEKS 4-12</a:t>
            </a:r>
            <a:endParaRPr lang="en-US" sz="1000" dirty="0"/>
          </a:p>
        </p:txBody>
      </p:sp>
      <p:sp>
        <p:nvSpPr>
          <p:cNvPr id="22" name="Shape 20"/>
          <p:cNvSpPr/>
          <p:nvPr/>
        </p:nvSpPr>
        <p:spPr>
          <a:xfrm>
            <a:off x="1874520" y="3191256"/>
            <a:ext cx="6858000" cy="502920"/>
          </a:xfrm>
          <a:prstGeom prst="roundRect">
            <a:avLst>
              <a:gd name="adj" fmla="val 18182"/>
            </a:avLst>
          </a:prstGeom>
          <a:solidFill>
            <a:srgbClr val="F8F8F8"/>
          </a:solidFill>
          <a:ln/>
        </p:spPr>
      </p:sp>
      <p:sp>
        <p:nvSpPr>
          <p:cNvPr id="23" name="Text 21"/>
          <p:cNvSpPr/>
          <p:nvPr/>
        </p:nvSpPr>
        <p:spPr>
          <a:xfrm>
            <a:off x="1965960" y="3209544"/>
            <a:ext cx="6675120" cy="201168"/>
          </a:xfrm>
          <a:prstGeom prst="rect">
            <a:avLst/>
          </a:prstGeom>
          <a:noFill/>
          <a:ln/>
        </p:spPr>
        <p:txBody>
          <a:bodyPr wrap="square" lIns="0" tIns="0" rIns="0" bIns="0" rtlCol="0" anchor="ctr"/>
          <a:lstStyle/>
          <a:p>
            <a:pPr indent="0" marL="0">
              <a:buNone/>
            </a:pPr>
            <a:r>
              <a:rPr lang="en-US" sz="1200" b="1" dirty="0">
                <a:solidFill>
                  <a:srgbClr val="FF8A8A"/>
                </a:solidFill>
                <a:latin typeface="Arial" pitchFamily="34" charset="0"/>
                <a:ea typeface="Arial" pitchFamily="34" charset="-122"/>
                <a:cs typeface="Arial" pitchFamily="34" charset="-120"/>
              </a:rPr>
              <a:t>B2B Contracts</a:t>
            </a:r>
            <a:endParaRPr lang="en-US" sz="1200" dirty="0"/>
          </a:p>
        </p:txBody>
      </p:sp>
      <p:sp>
        <p:nvSpPr>
          <p:cNvPr id="24" name="Text 22"/>
          <p:cNvSpPr/>
          <p:nvPr/>
        </p:nvSpPr>
        <p:spPr>
          <a:xfrm>
            <a:off x="1965960" y="3419856"/>
            <a:ext cx="6675120" cy="256032"/>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Formal restaurant sales program · Target: 40</a:t>
            </a:r>
            <a:endParaRPr lang="en-US" sz="1000" dirty="0"/>
          </a:p>
          <a:p>
            <a:pPr indent="0" marL="0">
              <a:buNone/>
            </a:pPr>
            <a:r>
              <a:rPr lang="en-US" sz="1000" dirty="0">
                <a:solidFill>
                  <a:srgbClr val="444444"/>
                </a:solidFill>
                <a:latin typeface="Arial" pitchFamily="34" charset="0"/>
                <a:ea typeface="Arial" pitchFamily="34" charset="-122"/>
                <a:cs typeface="Arial" pitchFamily="34" charset="-120"/>
              </a:rPr>
              <a:t>Dedicated account mgmt · BNPL rollout</a:t>
            </a:r>
            <a:endParaRPr lang="en-US" sz="1000" dirty="0"/>
          </a:p>
        </p:txBody>
      </p:sp>
      <p:sp>
        <p:nvSpPr>
          <p:cNvPr id="25" name="Shape 23"/>
          <p:cNvSpPr/>
          <p:nvPr/>
        </p:nvSpPr>
        <p:spPr>
          <a:xfrm>
            <a:off x="548640" y="3813048"/>
            <a:ext cx="1188720" cy="502920"/>
          </a:xfrm>
          <a:prstGeom prst="roundRect">
            <a:avLst>
              <a:gd name="adj" fmla="val 21818"/>
            </a:avLst>
          </a:prstGeom>
          <a:solidFill>
            <a:srgbClr val="FFB3B3"/>
          </a:solidFill>
          <a:ln/>
        </p:spPr>
      </p:sp>
      <p:sp>
        <p:nvSpPr>
          <p:cNvPr id="26" name="Text 24"/>
          <p:cNvSpPr/>
          <p:nvPr/>
        </p:nvSpPr>
        <p:spPr>
          <a:xfrm>
            <a:off x="548640" y="3813048"/>
            <a:ext cx="11887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WEEKS 2-8</a:t>
            </a:r>
            <a:endParaRPr lang="en-US" sz="1000" dirty="0"/>
          </a:p>
        </p:txBody>
      </p:sp>
      <p:sp>
        <p:nvSpPr>
          <p:cNvPr id="27" name="Shape 25"/>
          <p:cNvSpPr/>
          <p:nvPr/>
        </p:nvSpPr>
        <p:spPr>
          <a:xfrm>
            <a:off x="1874520" y="3813048"/>
            <a:ext cx="6858000" cy="502920"/>
          </a:xfrm>
          <a:prstGeom prst="roundRect">
            <a:avLst>
              <a:gd name="adj" fmla="val 18182"/>
            </a:avLst>
          </a:prstGeom>
          <a:solidFill>
            <a:srgbClr val="F8F8F8"/>
          </a:solidFill>
          <a:ln/>
        </p:spPr>
      </p:sp>
      <p:sp>
        <p:nvSpPr>
          <p:cNvPr id="28" name="Text 26"/>
          <p:cNvSpPr/>
          <p:nvPr/>
        </p:nvSpPr>
        <p:spPr>
          <a:xfrm>
            <a:off x="1965960" y="3831336"/>
            <a:ext cx="6675120" cy="201168"/>
          </a:xfrm>
          <a:prstGeom prst="rect">
            <a:avLst/>
          </a:prstGeom>
          <a:noFill/>
          <a:ln/>
        </p:spPr>
        <p:txBody>
          <a:bodyPr wrap="square" lIns="0" tIns="0" rIns="0" bIns="0" rtlCol="0" anchor="ctr"/>
          <a:lstStyle/>
          <a:p>
            <a:pPr indent="0" marL="0">
              <a:buNone/>
            </a:pPr>
            <a:r>
              <a:rPr lang="en-US" sz="1200" b="1" dirty="0">
                <a:solidFill>
                  <a:srgbClr val="FFB3B3"/>
                </a:solidFill>
                <a:latin typeface="Arial" pitchFamily="34" charset="0"/>
                <a:ea typeface="Arial" pitchFamily="34" charset="-122"/>
                <a:cs typeface="Arial" pitchFamily="34" charset="-120"/>
              </a:rPr>
              <a:t>Marketing Automation</a:t>
            </a:r>
            <a:endParaRPr lang="en-US" sz="1200" dirty="0"/>
          </a:p>
        </p:txBody>
      </p:sp>
      <p:sp>
        <p:nvSpPr>
          <p:cNvPr id="29" name="Text 27"/>
          <p:cNvSpPr/>
          <p:nvPr/>
        </p:nvSpPr>
        <p:spPr>
          <a:xfrm>
            <a:off x="1965960" y="4041648"/>
            <a:ext cx="6675120" cy="256032"/>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SGL welcome sequence · Social scheduling</a:t>
            </a:r>
            <a:endParaRPr lang="en-US" sz="1000" dirty="0"/>
          </a:p>
          <a:p>
            <a:pPr indent="0" marL="0">
              <a:buNone/>
            </a:pPr>
            <a:r>
              <a:rPr lang="en-US" sz="1000" dirty="0">
                <a:solidFill>
                  <a:srgbClr val="444444"/>
                </a:solidFill>
                <a:latin typeface="Arial" pitchFamily="34" charset="0"/>
                <a:ea typeface="Arial" pitchFamily="34" charset="-122"/>
                <a:cs typeface="Arial" pitchFamily="34" charset="-120"/>
              </a:rPr>
              <a:t>Campaign reporting · ~80 hrs/month saved</a:t>
            </a:r>
            <a:endParaRPr lang="en-US" sz="1000" dirty="0"/>
          </a:p>
        </p:txBody>
      </p:sp>
      <p:sp>
        <p:nvSpPr>
          <p:cNvPr id="30" name="Shape 28"/>
          <p:cNvSpPr/>
          <p:nvPr/>
        </p:nvSpPr>
        <p:spPr>
          <a:xfrm>
            <a:off x="548640" y="4434840"/>
            <a:ext cx="1188720" cy="502920"/>
          </a:xfrm>
          <a:prstGeom prst="roundRect">
            <a:avLst>
              <a:gd name="adj" fmla="val 21818"/>
            </a:avLst>
          </a:prstGeom>
          <a:solidFill>
            <a:srgbClr val="FFCDD2"/>
          </a:solidFill>
          <a:ln/>
        </p:spPr>
      </p:sp>
      <p:sp>
        <p:nvSpPr>
          <p:cNvPr id="31" name="Text 29"/>
          <p:cNvSpPr/>
          <p:nvPr/>
        </p:nvSpPr>
        <p:spPr>
          <a:xfrm>
            <a:off x="548640" y="4434840"/>
            <a:ext cx="118872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WEEKS 4-12</a:t>
            </a:r>
            <a:endParaRPr lang="en-US" sz="1000" dirty="0"/>
          </a:p>
        </p:txBody>
      </p:sp>
      <p:sp>
        <p:nvSpPr>
          <p:cNvPr id="32" name="Shape 30"/>
          <p:cNvSpPr/>
          <p:nvPr/>
        </p:nvSpPr>
        <p:spPr>
          <a:xfrm>
            <a:off x="1874520" y="4434840"/>
            <a:ext cx="6858000" cy="502920"/>
          </a:xfrm>
          <a:prstGeom prst="roundRect">
            <a:avLst>
              <a:gd name="adj" fmla="val 18182"/>
            </a:avLst>
          </a:prstGeom>
          <a:solidFill>
            <a:srgbClr val="F8F8F8"/>
          </a:solidFill>
          <a:ln/>
        </p:spPr>
      </p:sp>
      <p:sp>
        <p:nvSpPr>
          <p:cNvPr id="33" name="Text 31"/>
          <p:cNvSpPr/>
          <p:nvPr/>
        </p:nvSpPr>
        <p:spPr>
          <a:xfrm>
            <a:off x="1965960" y="4453128"/>
            <a:ext cx="6675120" cy="201168"/>
          </a:xfrm>
          <a:prstGeom prst="rect">
            <a:avLst/>
          </a:prstGeom>
          <a:noFill/>
          <a:ln/>
        </p:spPr>
        <p:txBody>
          <a:bodyPr wrap="square" lIns="0" tIns="0" rIns="0" bIns="0" rtlCol="0" anchor="ctr"/>
          <a:lstStyle/>
          <a:p>
            <a:pPr indent="0" marL="0">
              <a:buNone/>
            </a:pPr>
            <a:r>
              <a:rPr lang="en-US" sz="1200" b="1" dirty="0">
                <a:solidFill>
                  <a:srgbClr val="FFCDD2"/>
                </a:solidFill>
                <a:latin typeface="Arial" pitchFamily="34" charset="0"/>
                <a:ea typeface="Arial" pitchFamily="34" charset="-122"/>
                <a:cs typeface="Arial" pitchFamily="34" charset="-120"/>
              </a:rPr>
              <a:t>Supply Chain Optimize</a:t>
            </a:r>
            <a:endParaRPr lang="en-US" sz="1200" dirty="0"/>
          </a:p>
        </p:txBody>
      </p:sp>
      <p:sp>
        <p:nvSpPr>
          <p:cNvPr id="34" name="Text 32"/>
          <p:cNvSpPr/>
          <p:nvPr/>
        </p:nvSpPr>
        <p:spPr>
          <a:xfrm>
            <a:off x="1965960" y="4663440"/>
            <a:ext cx="6675120" cy="256032"/>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Flash sale automation · Supplier Reputation</a:t>
            </a:r>
            <a:endParaRPr lang="en-US" sz="1000" dirty="0"/>
          </a:p>
          <a:p>
            <a:pPr indent="0" marL="0">
              <a:buNone/>
            </a:pPr>
            <a:r>
              <a:rPr lang="en-US" sz="1000" dirty="0">
                <a:solidFill>
                  <a:srgbClr val="444444"/>
                </a:solidFill>
                <a:latin typeface="Arial" pitchFamily="34" charset="0"/>
                <a:ea typeface="Arial" pitchFamily="34" charset="-122"/>
                <a:cs typeface="Arial" pitchFamily="34" charset="-120"/>
              </a:rPr>
              <a:t>Product expansion (FMCG) · Zero-speculation</a:t>
            </a:r>
            <a:endParaRPr lang="en-US" sz="1000" dirty="0"/>
          </a:p>
        </p:txBody>
      </p:sp>
      <p:sp>
        <p:nvSpPr>
          <p:cNvPr id="35" name="Shape 33"/>
          <p:cNvSpPr/>
          <p:nvPr/>
        </p:nvSpPr>
        <p:spPr>
          <a:xfrm>
            <a:off x="1097280" y="1856232"/>
            <a:ext cx="640080" cy="0"/>
          </a:xfrm>
          <a:prstGeom prst="line">
            <a:avLst/>
          </a:prstGeom>
          <a:noFill/>
          <a:ln w="12700">
            <a:solidFill>
              <a:srgbClr val="E53935"/>
            </a:solidFill>
            <a:prstDash val="solid"/>
          </a:ln>
        </p:spPr>
      </p:sp>
      <p:sp>
        <p:nvSpPr>
          <p:cNvPr id="36" name="Shape 34"/>
          <p:cNvSpPr/>
          <p:nvPr/>
        </p:nvSpPr>
        <p:spPr>
          <a:xfrm>
            <a:off x="1097280" y="2478024"/>
            <a:ext cx="640080" cy="0"/>
          </a:xfrm>
          <a:prstGeom prst="line">
            <a:avLst/>
          </a:prstGeom>
          <a:noFill/>
          <a:ln w="12700">
            <a:solidFill>
              <a:srgbClr val="E53935"/>
            </a:solidFill>
            <a:prstDash val="solid"/>
          </a:ln>
        </p:spPr>
      </p:sp>
      <p:sp>
        <p:nvSpPr>
          <p:cNvPr id="37" name="Shape 35"/>
          <p:cNvSpPr/>
          <p:nvPr/>
        </p:nvSpPr>
        <p:spPr>
          <a:xfrm>
            <a:off x="1097280" y="3099816"/>
            <a:ext cx="640080" cy="0"/>
          </a:xfrm>
          <a:prstGeom prst="line">
            <a:avLst/>
          </a:prstGeom>
          <a:noFill/>
          <a:ln w="12700">
            <a:solidFill>
              <a:srgbClr val="E53935"/>
            </a:solidFill>
            <a:prstDash val="solid"/>
          </a:ln>
        </p:spPr>
      </p:sp>
      <p:sp>
        <p:nvSpPr>
          <p:cNvPr id="38" name="Shape 36"/>
          <p:cNvSpPr/>
          <p:nvPr/>
        </p:nvSpPr>
        <p:spPr>
          <a:xfrm>
            <a:off x="1097280" y="3721608"/>
            <a:ext cx="640080" cy="0"/>
          </a:xfrm>
          <a:prstGeom prst="line">
            <a:avLst/>
          </a:prstGeom>
          <a:noFill/>
          <a:ln w="12700">
            <a:solidFill>
              <a:srgbClr val="E53935"/>
            </a:solidFill>
            <a:prstDash val="solid"/>
          </a:ln>
        </p:spPr>
      </p:sp>
      <p:sp>
        <p:nvSpPr>
          <p:cNvPr id="39" name="Shape 37"/>
          <p:cNvSpPr/>
          <p:nvPr/>
        </p:nvSpPr>
        <p:spPr>
          <a:xfrm>
            <a:off x="1097280" y="4343400"/>
            <a:ext cx="640080" cy="0"/>
          </a:xfrm>
          <a:prstGeom prst="line">
            <a:avLst/>
          </a:prstGeom>
          <a:noFill/>
          <a:ln w="12700">
            <a:solidFill>
              <a:srgbClr val="E53935"/>
            </a:solidFill>
            <a:prstDash val="solid"/>
          </a:ln>
        </p:spPr>
      </p:sp>
      <p:sp>
        <p:nvSpPr>
          <p:cNvPr id="40" name="Shape 38"/>
          <p:cNvSpPr/>
          <p:nvPr/>
        </p:nvSpPr>
        <p:spPr>
          <a:xfrm>
            <a:off x="8503920" y="4663440"/>
            <a:ext cx="365760" cy="365760"/>
          </a:xfrm>
          <a:prstGeom prst="ellipse">
            <a:avLst/>
          </a:prstGeom>
          <a:solidFill>
            <a:srgbClr val="E53935"/>
          </a:solidFill>
          <a:ln/>
        </p:spPr>
      </p:sp>
      <p:sp>
        <p:nvSpPr>
          <p:cNvPr id="41" name="Text 3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KEY TARGETS FOR NEXT QUARTER</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Q2 2026 — Measurable Objectives</a:t>
            </a:r>
            <a:endParaRPr lang="en-US" sz="3000" dirty="0"/>
          </a:p>
        </p:txBody>
      </p:sp>
      <p:sp>
        <p:nvSpPr>
          <p:cNvPr id="5" name="Shape 3"/>
          <p:cNvSpPr/>
          <p:nvPr/>
        </p:nvSpPr>
        <p:spPr>
          <a:xfrm>
            <a:off x="548640" y="1280160"/>
            <a:ext cx="8229600" cy="438912"/>
          </a:xfrm>
          <a:prstGeom prst="rect">
            <a:avLst/>
          </a:prstGeom>
          <a:solidFill>
            <a:srgbClr val="FAFAFA"/>
          </a:solidFill>
          <a:ln/>
        </p:spPr>
      </p:sp>
      <p:sp>
        <p:nvSpPr>
          <p:cNvPr id="6" name="Text 4"/>
          <p:cNvSpPr/>
          <p:nvPr/>
        </p:nvSpPr>
        <p:spPr>
          <a:xfrm>
            <a:off x="640080" y="12801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Monthly Sales</a:t>
            </a:r>
            <a:endParaRPr lang="en-US" sz="1200" dirty="0"/>
          </a:p>
        </p:txBody>
      </p:sp>
      <p:sp>
        <p:nvSpPr>
          <p:cNvPr id="7" name="Text 5"/>
          <p:cNvSpPr/>
          <p:nvPr/>
        </p:nvSpPr>
        <p:spPr>
          <a:xfrm>
            <a:off x="2560320" y="12801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7.4M ETB</a:t>
            </a:r>
            <a:endParaRPr lang="en-US" sz="1300" dirty="0"/>
          </a:p>
        </p:txBody>
      </p:sp>
      <p:sp>
        <p:nvSpPr>
          <p:cNvPr id="8" name="Text 6"/>
          <p:cNvSpPr/>
          <p:nvPr/>
        </p:nvSpPr>
        <p:spPr>
          <a:xfrm>
            <a:off x="4206240" y="12801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9" name="Text 7"/>
          <p:cNvSpPr/>
          <p:nvPr/>
        </p:nvSpPr>
        <p:spPr>
          <a:xfrm>
            <a:off x="4480560" y="1280160"/>
            <a:ext cx="2286000" cy="438912"/>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10M ETB</a:t>
            </a:r>
            <a:endParaRPr lang="en-US" sz="1400" dirty="0"/>
          </a:p>
        </p:txBody>
      </p:sp>
      <p:sp>
        <p:nvSpPr>
          <p:cNvPr id="10" name="Text 8"/>
          <p:cNvSpPr/>
          <p:nvPr/>
        </p:nvSpPr>
        <p:spPr>
          <a:xfrm>
            <a:off x="6949440" y="12801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+35%</a:t>
            </a:r>
            <a:endParaRPr lang="en-US" sz="1100" dirty="0"/>
          </a:p>
        </p:txBody>
      </p:sp>
      <p:sp>
        <p:nvSpPr>
          <p:cNvPr id="11" name="Text 9"/>
          <p:cNvSpPr/>
          <p:nvPr/>
        </p:nvSpPr>
        <p:spPr>
          <a:xfrm>
            <a:off x="640080" y="17373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Gross Margin</a:t>
            </a:r>
            <a:endParaRPr lang="en-US" sz="1200" dirty="0"/>
          </a:p>
        </p:txBody>
      </p:sp>
      <p:sp>
        <p:nvSpPr>
          <p:cNvPr id="12" name="Text 10"/>
          <p:cNvSpPr/>
          <p:nvPr/>
        </p:nvSpPr>
        <p:spPr>
          <a:xfrm>
            <a:off x="2560320" y="17373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-16.68%</a:t>
            </a:r>
            <a:endParaRPr lang="en-US" sz="1300" dirty="0"/>
          </a:p>
        </p:txBody>
      </p:sp>
      <p:sp>
        <p:nvSpPr>
          <p:cNvPr id="13" name="Text 11"/>
          <p:cNvSpPr/>
          <p:nvPr/>
        </p:nvSpPr>
        <p:spPr>
          <a:xfrm>
            <a:off x="4206240" y="17373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4480560" y="1737360"/>
            <a:ext cx="2286000" cy="438912"/>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+3% to +5%</a:t>
            </a:r>
            <a:endParaRPr lang="en-US" sz="1400" dirty="0"/>
          </a:p>
        </p:txBody>
      </p:sp>
      <p:sp>
        <p:nvSpPr>
          <p:cNvPr id="15" name="Text 13"/>
          <p:cNvSpPr/>
          <p:nvPr/>
        </p:nvSpPr>
        <p:spPr>
          <a:xfrm>
            <a:off x="6949440" y="17373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+20pp</a:t>
            </a:r>
            <a:endParaRPr lang="en-US" sz="1100" dirty="0"/>
          </a:p>
        </p:txBody>
      </p:sp>
      <p:sp>
        <p:nvSpPr>
          <p:cNvPr id="16" name="Shape 14"/>
          <p:cNvSpPr/>
          <p:nvPr/>
        </p:nvSpPr>
        <p:spPr>
          <a:xfrm>
            <a:off x="548640" y="2194560"/>
            <a:ext cx="8229600" cy="438912"/>
          </a:xfrm>
          <a:prstGeom prst="rect">
            <a:avLst/>
          </a:prstGeom>
          <a:solidFill>
            <a:srgbClr val="FAFAFA"/>
          </a:solidFill>
          <a:ln/>
        </p:spPr>
      </p:sp>
      <p:sp>
        <p:nvSpPr>
          <p:cNvPr id="17" name="Text 15"/>
          <p:cNvSpPr/>
          <p:nvPr/>
        </p:nvSpPr>
        <p:spPr>
          <a:xfrm>
            <a:off x="640080" y="21945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Monthly Burn</a:t>
            </a:r>
            <a:endParaRPr lang="en-US" sz="1200" dirty="0"/>
          </a:p>
        </p:txBody>
      </p:sp>
      <p:sp>
        <p:nvSpPr>
          <p:cNvPr id="18" name="Text 16"/>
          <p:cNvSpPr/>
          <p:nvPr/>
        </p:nvSpPr>
        <p:spPr>
          <a:xfrm>
            <a:off x="2560320" y="21945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10.16M ETB</a:t>
            </a:r>
            <a:endParaRPr lang="en-US" sz="1300" dirty="0"/>
          </a:p>
        </p:txBody>
      </p:sp>
      <p:sp>
        <p:nvSpPr>
          <p:cNvPr id="19" name="Text 17"/>
          <p:cNvSpPr/>
          <p:nvPr/>
        </p:nvSpPr>
        <p:spPr>
          <a:xfrm>
            <a:off x="4206240" y="21945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20" name="Text 18"/>
          <p:cNvSpPr/>
          <p:nvPr/>
        </p:nvSpPr>
        <p:spPr>
          <a:xfrm>
            <a:off x="4480560" y="2194560"/>
            <a:ext cx="2286000" cy="438912"/>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&lt;8M ETB</a:t>
            </a:r>
            <a:endParaRPr lang="en-US" sz="1400" dirty="0"/>
          </a:p>
        </p:txBody>
      </p:sp>
      <p:sp>
        <p:nvSpPr>
          <p:cNvPr id="21" name="Text 19"/>
          <p:cNvSpPr/>
          <p:nvPr/>
        </p:nvSpPr>
        <p:spPr>
          <a:xfrm>
            <a:off x="6949440" y="21945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-21%</a:t>
            </a:r>
            <a:endParaRPr lang="en-US" sz="1100" dirty="0"/>
          </a:p>
        </p:txBody>
      </p:sp>
      <p:sp>
        <p:nvSpPr>
          <p:cNvPr id="22" name="Text 20"/>
          <p:cNvSpPr/>
          <p:nvPr/>
        </p:nvSpPr>
        <p:spPr>
          <a:xfrm>
            <a:off x="640080" y="26517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B2B Revenue Share</a:t>
            </a:r>
            <a:endParaRPr lang="en-US" sz="1200" dirty="0"/>
          </a:p>
        </p:txBody>
      </p:sp>
      <p:sp>
        <p:nvSpPr>
          <p:cNvPr id="23" name="Text 21"/>
          <p:cNvSpPr/>
          <p:nvPr/>
        </p:nvSpPr>
        <p:spPr>
          <a:xfrm>
            <a:off x="2560320" y="26517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16%</a:t>
            </a:r>
            <a:endParaRPr lang="en-US" sz="1300" dirty="0"/>
          </a:p>
        </p:txBody>
      </p:sp>
      <p:sp>
        <p:nvSpPr>
          <p:cNvPr id="24" name="Text 22"/>
          <p:cNvSpPr/>
          <p:nvPr/>
        </p:nvSpPr>
        <p:spPr>
          <a:xfrm>
            <a:off x="4206240" y="26517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25" name="Text 23"/>
          <p:cNvSpPr/>
          <p:nvPr/>
        </p:nvSpPr>
        <p:spPr>
          <a:xfrm>
            <a:off x="4480560" y="2651760"/>
            <a:ext cx="2286000" cy="438912"/>
          </a:xfrm>
          <a:prstGeom prst="rect">
            <a:avLst/>
          </a:prstGeom>
          <a:noFill/>
          <a:ln/>
        </p:spPr>
        <p:txBody>
          <a:bodyPr wrap="square" lIns="0" tIns="0" rIns="0" bIns="0" rtlCol="0" anchor="ctr"/>
          <a:lstStyle/>
          <a:p>
            <a:pPr algn="ctr" indent="0" marL="0">
              <a:buNone/>
            </a:pPr>
            <a:r>
              <a:rPr lang="en-US" sz="1400" b="1" dirty="0">
                <a:solidFill>
                  <a:srgbClr val="1A1A1A"/>
                </a:solidFill>
                <a:latin typeface="Arial" pitchFamily="34" charset="0"/>
                <a:ea typeface="Arial" pitchFamily="34" charset="-122"/>
                <a:cs typeface="Arial" pitchFamily="34" charset="-120"/>
              </a:rPr>
              <a:t>25–30%</a:t>
            </a:r>
            <a:endParaRPr lang="en-US" sz="1400" dirty="0"/>
          </a:p>
        </p:txBody>
      </p:sp>
      <p:sp>
        <p:nvSpPr>
          <p:cNvPr id="26" name="Text 24"/>
          <p:cNvSpPr/>
          <p:nvPr/>
        </p:nvSpPr>
        <p:spPr>
          <a:xfrm>
            <a:off x="6949440" y="26517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+10–14pp</a:t>
            </a:r>
            <a:endParaRPr lang="en-US" sz="1100" dirty="0"/>
          </a:p>
        </p:txBody>
      </p:sp>
      <p:sp>
        <p:nvSpPr>
          <p:cNvPr id="27" name="Shape 25"/>
          <p:cNvSpPr/>
          <p:nvPr/>
        </p:nvSpPr>
        <p:spPr>
          <a:xfrm>
            <a:off x="548640" y="3108960"/>
            <a:ext cx="8229600" cy="438912"/>
          </a:xfrm>
          <a:prstGeom prst="rect">
            <a:avLst/>
          </a:prstGeom>
          <a:solidFill>
            <a:srgbClr val="FAFAFA"/>
          </a:solidFill>
          <a:ln/>
        </p:spPr>
      </p:sp>
      <p:sp>
        <p:nvSpPr>
          <p:cNvPr id="28" name="Text 26"/>
          <p:cNvSpPr/>
          <p:nvPr/>
        </p:nvSpPr>
        <p:spPr>
          <a:xfrm>
            <a:off x="640080" y="31089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Active SGLs</a:t>
            </a:r>
            <a:endParaRPr lang="en-US" sz="1200" dirty="0"/>
          </a:p>
        </p:txBody>
      </p:sp>
      <p:sp>
        <p:nvSpPr>
          <p:cNvPr id="29" name="Text 27"/>
          <p:cNvSpPr/>
          <p:nvPr/>
        </p:nvSpPr>
        <p:spPr>
          <a:xfrm>
            <a:off x="2560320" y="31089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~35 active</a:t>
            </a:r>
            <a:endParaRPr lang="en-US" sz="1300" dirty="0"/>
          </a:p>
        </p:txBody>
      </p:sp>
      <p:sp>
        <p:nvSpPr>
          <p:cNvPr id="30" name="Text 28"/>
          <p:cNvSpPr/>
          <p:nvPr/>
        </p:nvSpPr>
        <p:spPr>
          <a:xfrm>
            <a:off x="4206240" y="31089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31" name="Text 29"/>
          <p:cNvSpPr/>
          <p:nvPr/>
        </p:nvSpPr>
        <p:spPr>
          <a:xfrm>
            <a:off x="4480560" y="3108960"/>
            <a:ext cx="2286000" cy="438912"/>
          </a:xfrm>
          <a:prstGeom prst="rect">
            <a:avLst/>
          </a:prstGeom>
          <a:noFill/>
          <a:ln/>
        </p:spPr>
        <p:txBody>
          <a:bodyPr wrap="square" lIns="0" tIns="0" rIns="0" bIns="0" rtlCol="0" anchor="ctr"/>
          <a:lstStyle/>
          <a:p>
            <a:pPr algn="ctr" indent="0" marL="0">
              <a:buNone/>
            </a:pPr>
            <a:r>
              <a:rPr lang="en-US" sz="1400" b="1" dirty="0">
                <a:solidFill>
                  <a:srgbClr val="1A1A1A"/>
                </a:solidFill>
                <a:latin typeface="Arial" pitchFamily="34" charset="0"/>
                <a:ea typeface="Arial" pitchFamily="34" charset="-122"/>
                <a:cs typeface="Arial" pitchFamily="34" charset="-120"/>
              </a:rPr>
              <a:t>70+</a:t>
            </a:r>
            <a:endParaRPr lang="en-US" sz="1400" dirty="0"/>
          </a:p>
        </p:txBody>
      </p:sp>
      <p:sp>
        <p:nvSpPr>
          <p:cNvPr id="32" name="Text 30"/>
          <p:cNvSpPr/>
          <p:nvPr/>
        </p:nvSpPr>
        <p:spPr>
          <a:xfrm>
            <a:off x="6949440" y="31089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+35</a:t>
            </a:r>
            <a:endParaRPr lang="en-US" sz="1100" dirty="0"/>
          </a:p>
        </p:txBody>
      </p:sp>
      <p:sp>
        <p:nvSpPr>
          <p:cNvPr id="33" name="Text 31"/>
          <p:cNvSpPr/>
          <p:nvPr/>
        </p:nvSpPr>
        <p:spPr>
          <a:xfrm>
            <a:off x="640080" y="35661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Restaurant Partners</a:t>
            </a:r>
            <a:endParaRPr lang="en-US" sz="1200" dirty="0"/>
          </a:p>
        </p:txBody>
      </p:sp>
      <p:sp>
        <p:nvSpPr>
          <p:cNvPr id="34" name="Text 32"/>
          <p:cNvSpPr/>
          <p:nvPr/>
        </p:nvSpPr>
        <p:spPr>
          <a:xfrm>
            <a:off x="2560320" y="35661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~20</a:t>
            </a:r>
            <a:endParaRPr lang="en-US" sz="1300" dirty="0"/>
          </a:p>
        </p:txBody>
      </p:sp>
      <p:sp>
        <p:nvSpPr>
          <p:cNvPr id="35" name="Text 33"/>
          <p:cNvSpPr/>
          <p:nvPr/>
        </p:nvSpPr>
        <p:spPr>
          <a:xfrm>
            <a:off x="4206240" y="35661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36" name="Text 34"/>
          <p:cNvSpPr/>
          <p:nvPr/>
        </p:nvSpPr>
        <p:spPr>
          <a:xfrm>
            <a:off x="4480560" y="3566160"/>
            <a:ext cx="2286000" cy="438912"/>
          </a:xfrm>
          <a:prstGeom prst="rect">
            <a:avLst/>
          </a:prstGeom>
          <a:noFill/>
          <a:ln/>
        </p:spPr>
        <p:txBody>
          <a:bodyPr wrap="square" lIns="0" tIns="0" rIns="0" bIns="0" rtlCol="0" anchor="ctr"/>
          <a:lstStyle/>
          <a:p>
            <a:pPr algn="ctr" indent="0" marL="0">
              <a:buNone/>
            </a:pPr>
            <a:r>
              <a:rPr lang="en-US" sz="1400" b="1" dirty="0">
                <a:solidFill>
                  <a:srgbClr val="1A1A1A"/>
                </a:solidFill>
                <a:latin typeface="Arial" pitchFamily="34" charset="0"/>
                <a:ea typeface="Arial" pitchFamily="34" charset="-122"/>
                <a:cs typeface="Arial" pitchFamily="34" charset="-120"/>
              </a:rPr>
              <a:t>40</a:t>
            </a:r>
            <a:endParaRPr lang="en-US" sz="1400" dirty="0"/>
          </a:p>
        </p:txBody>
      </p:sp>
      <p:sp>
        <p:nvSpPr>
          <p:cNvPr id="37" name="Text 35"/>
          <p:cNvSpPr/>
          <p:nvPr/>
        </p:nvSpPr>
        <p:spPr>
          <a:xfrm>
            <a:off x="6949440" y="35661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+20</a:t>
            </a:r>
            <a:endParaRPr lang="en-US" sz="1100" dirty="0"/>
          </a:p>
        </p:txBody>
      </p:sp>
      <p:sp>
        <p:nvSpPr>
          <p:cNvPr id="38" name="Shape 36"/>
          <p:cNvSpPr/>
          <p:nvPr/>
        </p:nvSpPr>
        <p:spPr>
          <a:xfrm>
            <a:off x="548640" y="4023360"/>
            <a:ext cx="8229600" cy="438912"/>
          </a:xfrm>
          <a:prstGeom prst="rect">
            <a:avLst/>
          </a:prstGeom>
          <a:solidFill>
            <a:srgbClr val="FAFAFA"/>
          </a:solidFill>
          <a:ln/>
        </p:spPr>
      </p:sp>
      <p:sp>
        <p:nvSpPr>
          <p:cNvPr id="39" name="Text 37"/>
          <p:cNvSpPr/>
          <p:nvPr/>
        </p:nvSpPr>
        <p:spPr>
          <a:xfrm>
            <a:off x="640080" y="40233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BNPL Revenue</a:t>
            </a:r>
            <a:endParaRPr lang="en-US" sz="1200" dirty="0"/>
          </a:p>
        </p:txBody>
      </p:sp>
      <p:sp>
        <p:nvSpPr>
          <p:cNvPr id="40" name="Text 38"/>
          <p:cNvSpPr/>
          <p:nvPr/>
        </p:nvSpPr>
        <p:spPr>
          <a:xfrm>
            <a:off x="2560320" y="40233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0 ETB</a:t>
            </a:r>
            <a:endParaRPr lang="en-US" sz="1300" dirty="0"/>
          </a:p>
        </p:txBody>
      </p:sp>
      <p:sp>
        <p:nvSpPr>
          <p:cNvPr id="41" name="Text 39"/>
          <p:cNvSpPr/>
          <p:nvPr/>
        </p:nvSpPr>
        <p:spPr>
          <a:xfrm>
            <a:off x="4206240" y="40233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42" name="Text 40"/>
          <p:cNvSpPr/>
          <p:nvPr/>
        </p:nvSpPr>
        <p:spPr>
          <a:xfrm>
            <a:off x="4480560" y="4023360"/>
            <a:ext cx="2286000" cy="438912"/>
          </a:xfrm>
          <a:prstGeom prst="rect">
            <a:avLst/>
          </a:prstGeom>
          <a:noFill/>
          <a:ln/>
        </p:spPr>
        <p:txBody>
          <a:bodyPr wrap="square" lIns="0" tIns="0" rIns="0" bIns="0" rtlCol="0" anchor="ctr"/>
          <a:lstStyle/>
          <a:p>
            <a:pPr algn="ctr" indent="0" marL="0">
              <a:buNone/>
            </a:pPr>
            <a:r>
              <a:rPr lang="en-US" sz="1400" b="1" dirty="0">
                <a:solidFill>
                  <a:srgbClr val="1A1A1A"/>
                </a:solidFill>
                <a:latin typeface="Arial" pitchFamily="34" charset="0"/>
                <a:ea typeface="Arial" pitchFamily="34" charset="-122"/>
                <a:cs typeface="Arial" pitchFamily="34" charset="-120"/>
              </a:rPr>
              <a:t>60–120K ETB/mo</a:t>
            </a:r>
            <a:endParaRPr lang="en-US" sz="1400" dirty="0"/>
          </a:p>
        </p:txBody>
      </p:sp>
      <p:sp>
        <p:nvSpPr>
          <p:cNvPr id="43" name="Text 41"/>
          <p:cNvSpPr/>
          <p:nvPr/>
        </p:nvSpPr>
        <p:spPr>
          <a:xfrm>
            <a:off x="6949440" y="4023360"/>
            <a:ext cx="1645920" cy="438912"/>
          </a:xfrm>
          <a:prstGeom prst="rect">
            <a:avLst/>
          </a:prstGeom>
          <a:noFill/>
          <a:ln/>
        </p:spPr>
        <p:txBody>
          <a:bodyPr wrap="square" lIns="0" tIns="0" rIns="0" bIns="0" rtlCol="0" anchor="ctr"/>
          <a:lstStyle/>
          <a:p>
            <a:pPr algn="ctr" indent="0" marL="0">
              <a:buNone/>
            </a:pPr>
            <a:r>
              <a:rPr lang="en-US" sz="1100" b="1" dirty="0">
                <a:solidFill>
                  <a:srgbClr val="FF9800"/>
                </a:solidFill>
                <a:latin typeface="Arial" pitchFamily="34" charset="0"/>
                <a:ea typeface="Arial" pitchFamily="34" charset="-122"/>
                <a:cs typeface="Arial" pitchFamily="34" charset="-120"/>
              </a:rPr>
              <a:t>Build &amp; Launch</a:t>
            </a:r>
            <a:endParaRPr lang="en-US" sz="1100" dirty="0"/>
          </a:p>
        </p:txBody>
      </p:sp>
      <p:sp>
        <p:nvSpPr>
          <p:cNvPr id="44" name="Text 42"/>
          <p:cNvSpPr/>
          <p:nvPr/>
        </p:nvSpPr>
        <p:spPr>
          <a:xfrm>
            <a:off x="640080" y="4480560"/>
            <a:ext cx="1828800" cy="438912"/>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CP1</a:t>
            </a:r>
            <a:endParaRPr lang="en-US" sz="1200" dirty="0"/>
          </a:p>
        </p:txBody>
      </p:sp>
      <p:sp>
        <p:nvSpPr>
          <p:cNvPr id="45" name="Text 43"/>
          <p:cNvSpPr/>
          <p:nvPr/>
        </p:nvSpPr>
        <p:spPr>
          <a:xfrm>
            <a:off x="2560320" y="4480560"/>
            <a:ext cx="1828800" cy="438912"/>
          </a:xfrm>
          <a:prstGeom prst="rect">
            <a:avLst/>
          </a:prstGeom>
          <a:noFill/>
          <a:ln/>
        </p:spPr>
        <p:txBody>
          <a:bodyPr wrap="square" lIns="0" tIns="0" rIns="0" bIns="0"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-16.68%</a:t>
            </a:r>
            <a:endParaRPr lang="en-US" sz="1300" dirty="0"/>
          </a:p>
        </p:txBody>
      </p:sp>
      <p:sp>
        <p:nvSpPr>
          <p:cNvPr id="46" name="Text 44"/>
          <p:cNvSpPr/>
          <p:nvPr/>
        </p:nvSpPr>
        <p:spPr>
          <a:xfrm>
            <a:off x="4206240" y="4480560"/>
            <a:ext cx="274320" cy="438912"/>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a:t>
            </a:r>
            <a:endParaRPr lang="en-US" sz="1600" dirty="0"/>
          </a:p>
        </p:txBody>
      </p:sp>
      <p:sp>
        <p:nvSpPr>
          <p:cNvPr id="47" name="Text 45"/>
          <p:cNvSpPr/>
          <p:nvPr/>
        </p:nvSpPr>
        <p:spPr>
          <a:xfrm>
            <a:off x="4480560" y="4480560"/>
            <a:ext cx="2286000" cy="438912"/>
          </a:xfrm>
          <a:prstGeom prst="rect">
            <a:avLst/>
          </a:prstGeom>
          <a:noFill/>
          <a:ln/>
        </p:spPr>
        <p:txBody>
          <a:bodyPr wrap="square" lIns="0" tIns="0" rIns="0" bIns="0" rtlCol="0" anchor="ctr"/>
          <a:lstStyle/>
          <a:p>
            <a:pPr algn="ctr" indent="0" marL="0">
              <a:buNone/>
            </a:pPr>
            <a:r>
              <a:rPr lang="en-US" sz="1400" b="1" dirty="0">
                <a:solidFill>
                  <a:srgbClr val="E53935"/>
                </a:solidFill>
                <a:latin typeface="Arial" pitchFamily="34" charset="0"/>
                <a:ea typeface="Arial" pitchFamily="34" charset="-122"/>
                <a:cs typeface="Arial" pitchFamily="34" charset="-120"/>
              </a:rPr>
              <a:t>≥+3% to +5%</a:t>
            </a:r>
            <a:endParaRPr lang="en-US" sz="1400" dirty="0"/>
          </a:p>
        </p:txBody>
      </p:sp>
      <p:sp>
        <p:nvSpPr>
          <p:cNvPr id="48" name="Text 46"/>
          <p:cNvSpPr/>
          <p:nvPr/>
        </p:nvSpPr>
        <p:spPr>
          <a:xfrm>
            <a:off x="6949440" y="4480560"/>
            <a:ext cx="1645920" cy="438912"/>
          </a:xfrm>
          <a:prstGeom prst="rect">
            <a:avLst/>
          </a:prstGeom>
          <a:noFill/>
          <a:ln/>
        </p:spPr>
        <p:txBody>
          <a:bodyPr wrap="square" lIns="0" tIns="0" rIns="0" bIns="0" rtlCol="0" anchor="ctr"/>
          <a:lstStyle/>
          <a:p>
            <a:pPr algn="ctr" indent="0" marL="0">
              <a:buNone/>
            </a:pPr>
            <a:r>
              <a:rPr lang="en-US" sz="1100" b="1" dirty="0">
                <a:solidFill>
                  <a:srgbClr val="E53935"/>
                </a:solidFill>
                <a:latin typeface="Arial" pitchFamily="34" charset="0"/>
                <a:ea typeface="Arial" pitchFamily="34" charset="-122"/>
                <a:cs typeface="Arial" pitchFamily="34" charset="-120"/>
              </a:rPr>
              <a:t>+20pp</a:t>
            </a:r>
            <a:endParaRPr lang="en-US" sz="1100" dirty="0"/>
          </a:p>
        </p:txBody>
      </p:sp>
      <p:sp>
        <p:nvSpPr>
          <p:cNvPr id="49" name="Shape 47"/>
          <p:cNvSpPr/>
          <p:nvPr/>
        </p:nvSpPr>
        <p:spPr>
          <a:xfrm>
            <a:off x="8503920" y="4663440"/>
            <a:ext cx="365760" cy="365760"/>
          </a:xfrm>
          <a:prstGeom prst="ellipse">
            <a:avLst/>
          </a:prstGeom>
          <a:solidFill>
            <a:srgbClr val="E53935"/>
          </a:solidFill>
          <a:ln/>
        </p:spPr>
      </p:sp>
      <p:sp>
        <p:nvSpPr>
          <p:cNvPr id="50" name="Text 48"/>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GROWTH PROJECTIONS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Path to Scale — Q1 to Q4 2026</a:t>
            </a:r>
            <a:endParaRPr lang="en-US" sz="3000" dirty="0"/>
          </a:p>
        </p:txBody>
      </p:sp>
      <p:sp>
        <p:nvSpPr>
          <p:cNvPr id="5" name="Shape 3"/>
          <p:cNvSpPr/>
          <p:nvPr/>
        </p:nvSpPr>
        <p:spPr>
          <a:xfrm>
            <a:off x="548640" y="1371600"/>
            <a:ext cx="1965960" cy="2926080"/>
          </a:xfrm>
          <a:prstGeom prst="roundRect">
            <a:avLst>
              <a:gd name="adj" fmla="val 5581"/>
            </a:avLst>
          </a:prstGeom>
          <a:solidFill>
            <a:srgbClr val="F8F8F8"/>
          </a:solidFill>
          <a:ln/>
        </p:spPr>
      </p:sp>
      <p:sp>
        <p:nvSpPr>
          <p:cNvPr id="6" name="Text 4"/>
          <p:cNvSpPr/>
          <p:nvPr/>
        </p:nvSpPr>
        <p:spPr>
          <a:xfrm>
            <a:off x="548640" y="1417320"/>
            <a:ext cx="1965960" cy="32004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Q1 2026</a:t>
            </a:r>
            <a:endParaRPr lang="en-US" sz="1600" dirty="0"/>
          </a:p>
        </p:txBody>
      </p:sp>
      <p:sp>
        <p:nvSpPr>
          <p:cNvPr id="7" name="Text 5"/>
          <p:cNvSpPr/>
          <p:nvPr/>
        </p:nvSpPr>
        <p:spPr>
          <a:xfrm>
            <a:off x="548640" y="1691640"/>
            <a:ext cx="1965960" cy="228600"/>
          </a:xfrm>
          <a:prstGeom prst="rect">
            <a:avLst/>
          </a:prstGeom>
          <a:noFill/>
          <a:ln/>
        </p:spPr>
        <p:txBody>
          <a:bodyPr wrap="square" lIns="0" tIns="0" rIns="0" bIns="0" rtlCol="0" anchor="ctr"/>
          <a:lstStyle/>
          <a:p>
            <a:pPr algn="ctr" indent="0" marL="0">
              <a:buNone/>
            </a:pPr>
            <a:r>
              <a:rPr lang="en-US" sz="1000" i="1" dirty="0">
                <a:solidFill>
                  <a:srgbClr val="888888"/>
                </a:solidFill>
                <a:latin typeface="Arial" pitchFamily="34" charset="0"/>
                <a:ea typeface="Arial" pitchFamily="34" charset="-122"/>
                <a:cs typeface="Arial" pitchFamily="34" charset="-120"/>
              </a:rPr>
              <a:t>Discipline Reset</a:t>
            </a:r>
            <a:endParaRPr lang="en-US" sz="1000" dirty="0"/>
          </a:p>
        </p:txBody>
      </p:sp>
      <p:sp>
        <p:nvSpPr>
          <p:cNvPr id="8" name="Shape 6"/>
          <p:cNvSpPr/>
          <p:nvPr/>
        </p:nvSpPr>
        <p:spPr>
          <a:xfrm>
            <a:off x="731520" y="1920240"/>
            <a:ext cx="1645920" cy="0"/>
          </a:xfrm>
          <a:prstGeom prst="line">
            <a:avLst/>
          </a:prstGeom>
          <a:noFill/>
          <a:ln w="12700">
            <a:solidFill>
              <a:srgbClr val="E5E5E5"/>
            </a:solidFill>
            <a:prstDash val="solid"/>
          </a:ln>
        </p:spPr>
      </p:sp>
      <p:sp>
        <p:nvSpPr>
          <p:cNvPr id="9" name="Text 7"/>
          <p:cNvSpPr/>
          <p:nvPr/>
        </p:nvSpPr>
        <p:spPr>
          <a:xfrm>
            <a:off x="640080" y="201168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Sales</a:t>
            </a:r>
            <a:endParaRPr lang="en-US" sz="900" dirty="0"/>
          </a:p>
        </p:txBody>
      </p:sp>
      <p:sp>
        <p:nvSpPr>
          <p:cNvPr id="10" name="Text 8"/>
          <p:cNvSpPr/>
          <p:nvPr/>
        </p:nvSpPr>
        <p:spPr>
          <a:xfrm>
            <a:off x="1463040" y="201168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7.4M ETB</a:t>
            </a:r>
            <a:endParaRPr lang="en-US" sz="1100" dirty="0"/>
          </a:p>
        </p:txBody>
      </p:sp>
      <p:sp>
        <p:nvSpPr>
          <p:cNvPr id="11" name="Text 9"/>
          <p:cNvSpPr/>
          <p:nvPr/>
        </p:nvSpPr>
        <p:spPr>
          <a:xfrm>
            <a:off x="640080" y="242316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Margin</a:t>
            </a:r>
            <a:endParaRPr lang="en-US" sz="900" dirty="0"/>
          </a:p>
        </p:txBody>
      </p:sp>
      <p:sp>
        <p:nvSpPr>
          <p:cNvPr id="12" name="Text 10"/>
          <p:cNvSpPr/>
          <p:nvPr/>
        </p:nvSpPr>
        <p:spPr>
          <a:xfrm>
            <a:off x="1463040" y="242316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-16.68%</a:t>
            </a:r>
            <a:endParaRPr lang="en-US" sz="1100" dirty="0"/>
          </a:p>
        </p:txBody>
      </p:sp>
      <p:sp>
        <p:nvSpPr>
          <p:cNvPr id="13" name="Text 11"/>
          <p:cNvSpPr/>
          <p:nvPr/>
        </p:nvSpPr>
        <p:spPr>
          <a:xfrm>
            <a:off x="640080" y="283464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Orders/mo</a:t>
            </a:r>
            <a:endParaRPr lang="en-US" sz="900" dirty="0"/>
          </a:p>
        </p:txBody>
      </p:sp>
      <p:sp>
        <p:nvSpPr>
          <p:cNvPr id="14" name="Text 12"/>
          <p:cNvSpPr/>
          <p:nvPr/>
        </p:nvSpPr>
        <p:spPr>
          <a:xfrm>
            <a:off x="1463040" y="283464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83,731</a:t>
            </a:r>
            <a:endParaRPr lang="en-US" sz="1100" dirty="0"/>
          </a:p>
        </p:txBody>
      </p:sp>
      <p:sp>
        <p:nvSpPr>
          <p:cNvPr id="15" name="Text 13"/>
          <p:cNvSpPr/>
          <p:nvPr/>
        </p:nvSpPr>
        <p:spPr>
          <a:xfrm>
            <a:off x="640080" y="324612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B2B Share</a:t>
            </a:r>
            <a:endParaRPr lang="en-US" sz="900" dirty="0"/>
          </a:p>
        </p:txBody>
      </p:sp>
      <p:sp>
        <p:nvSpPr>
          <p:cNvPr id="16" name="Text 14"/>
          <p:cNvSpPr/>
          <p:nvPr/>
        </p:nvSpPr>
        <p:spPr>
          <a:xfrm>
            <a:off x="1463040" y="324612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16%</a:t>
            </a:r>
            <a:endParaRPr lang="en-US" sz="1100" dirty="0"/>
          </a:p>
        </p:txBody>
      </p:sp>
      <p:sp>
        <p:nvSpPr>
          <p:cNvPr id="17" name="Text 15"/>
          <p:cNvSpPr/>
          <p:nvPr/>
        </p:nvSpPr>
        <p:spPr>
          <a:xfrm>
            <a:off x="640080" y="365760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Active SGLs</a:t>
            </a:r>
            <a:endParaRPr lang="en-US" sz="900" dirty="0"/>
          </a:p>
        </p:txBody>
      </p:sp>
      <p:sp>
        <p:nvSpPr>
          <p:cNvPr id="18" name="Text 16"/>
          <p:cNvSpPr/>
          <p:nvPr/>
        </p:nvSpPr>
        <p:spPr>
          <a:xfrm>
            <a:off x="1463040" y="365760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~35 active</a:t>
            </a:r>
            <a:endParaRPr lang="en-US" sz="1100" dirty="0"/>
          </a:p>
        </p:txBody>
      </p:sp>
      <p:sp>
        <p:nvSpPr>
          <p:cNvPr id="19" name="Shape 17"/>
          <p:cNvSpPr/>
          <p:nvPr/>
        </p:nvSpPr>
        <p:spPr>
          <a:xfrm>
            <a:off x="2697480" y="1371600"/>
            <a:ext cx="1965960" cy="2926080"/>
          </a:xfrm>
          <a:prstGeom prst="roundRect">
            <a:avLst>
              <a:gd name="adj" fmla="val 5581"/>
            </a:avLst>
          </a:prstGeom>
          <a:solidFill>
            <a:srgbClr val="F8F8F8"/>
          </a:solidFill>
          <a:ln/>
        </p:spPr>
      </p:sp>
      <p:sp>
        <p:nvSpPr>
          <p:cNvPr id="20" name="Text 18"/>
          <p:cNvSpPr/>
          <p:nvPr/>
        </p:nvSpPr>
        <p:spPr>
          <a:xfrm>
            <a:off x="2697480" y="1417320"/>
            <a:ext cx="1965960" cy="32004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Q2 2026</a:t>
            </a:r>
            <a:endParaRPr lang="en-US" sz="1600" dirty="0"/>
          </a:p>
        </p:txBody>
      </p:sp>
      <p:sp>
        <p:nvSpPr>
          <p:cNvPr id="21" name="Text 19"/>
          <p:cNvSpPr/>
          <p:nvPr/>
        </p:nvSpPr>
        <p:spPr>
          <a:xfrm>
            <a:off x="2697480" y="1691640"/>
            <a:ext cx="1965960" cy="228600"/>
          </a:xfrm>
          <a:prstGeom prst="rect">
            <a:avLst/>
          </a:prstGeom>
          <a:noFill/>
          <a:ln/>
        </p:spPr>
        <p:txBody>
          <a:bodyPr wrap="square" lIns="0" tIns="0" rIns="0" bIns="0" rtlCol="0" anchor="ctr"/>
          <a:lstStyle/>
          <a:p>
            <a:pPr algn="ctr" indent="0" marL="0">
              <a:buNone/>
            </a:pPr>
            <a:r>
              <a:rPr lang="en-US" sz="1000" i="1" dirty="0">
                <a:solidFill>
                  <a:srgbClr val="888888"/>
                </a:solidFill>
                <a:latin typeface="Arial" pitchFamily="34" charset="0"/>
                <a:ea typeface="Arial" pitchFamily="34" charset="-122"/>
                <a:cs typeface="Arial" pitchFamily="34" charset="-120"/>
              </a:rPr>
              <a:t>Foundation Built</a:t>
            </a:r>
            <a:endParaRPr lang="en-US" sz="1000" dirty="0"/>
          </a:p>
        </p:txBody>
      </p:sp>
      <p:sp>
        <p:nvSpPr>
          <p:cNvPr id="22" name="Shape 20"/>
          <p:cNvSpPr/>
          <p:nvPr/>
        </p:nvSpPr>
        <p:spPr>
          <a:xfrm>
            <a:off x="2880360" y="1920240"/>
            <a:ext cx="1645920" cy="0"/>
          </a:xfrm>
          <a:prstGeom prst="line">
            <a:avLst/>
          </a:prstGeom>
          <a:noFill/>
          <a:ln w="12700">
            <a:solidFill>
              <a:srgbClr val="E5E5E5"/>
            </a:solidFill>
            <a:prstDash val="solid"/>
          </a:ln>
        </p:spPr>
      </p:sp>
      <p:sp>
        <p:nvSpPr>
          <p:cNvPr id="23" name="Text 21"/>
          <p:cNvSpPr/>
          <p:nvPr/>
        </p:nvSpPr>
        <p:spPr>
          <a:xfrm>
            <a:off x="2788920" y="201168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Sales</a:t>
            </a:r>
            <a:endParaRPr lang="en-US" sz="900" dirty="0"/>
          </a:p>
        </p:txBody>
      </p:sp>
      <p:sp>
        <p:nvSpPr>
          <p:cNvPr id="24" name="Text 22"/>
          <p:cNvSpPr/>
          <p:nvPr/>
        </p:nvSpPr>
        <p:spPr>
          <a:xfrm>
            <a:off x="3611880" y="201168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~10.1M ETB</a:t>
            </a:r>
            <a:endParaRPr lang="en-US" sz="1100" dirty="0"/>
          </a:p>
        </p:txBody>
      </p:sp>
      <p:sp>
        <p:nvSpPr>
          <p:cNvPr id="25" name="Text 23"/>
          <p:cNvSpPr/>
          <p:nvPr/>
        </p:nvSpPr>
        <p:spPr>
          <a:xfrm>
            <a:off x="2788920" y="242316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Margin</a:t>
            </a:r>
            <a:endParaRPr lang="en-US" sz="900" dirty="0"/>
          </a:p>
        </p:txBody>
      </p:sp>
      <p:sp>
        <p:nvSpPr>
          <p:cNvPr id="26" name="Text 24"/>
          <p:cNvSpPr/>
          <p:nvPr/>
        </p:nvSpPr>
        <p:spPr>
          <a:xfrm>
            <a:off x="3611880" y="242316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+3% to +5%</a:t>
            </a:r>
            <a:endParaRPr lang="en-US" sz="1100" dirty="0"/>
          </a:p>
        </p:txBody>
      </p:sp>
      <p:sp>
        <p:nvSpPr>
          <p:cNvPr id="27" name="Text 25"/>
          <p:cNvSpPr/>
          <p:nvPr/>
        </p:nvSpPr>
        <p:spPr>
          <a:xfrm>
            <a:off x="2788920" y="283464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Orders/mo</a:t>
            </a:r>
            <a:endParaRPr lang="en-US" sz="900" dirty="0"/>
          </a:p>
        </p:txBody>
      </p:sp>
      <p:sp>
        <p:nvSpPr>
          <p:cNvPr id="28" name="Text 26"/>
          <p:cNvSpPr/>
          <p:nvPr/>
        </p:nvSpPr>
        <p:spPr>
          <a:xfrm>
            <a:off x="3611880" y="283464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~100K+</a:t>
            </a:r>
            <a:endParaRPr lang="en-US" sz="1100" dirty="0"/>
          </a:p>
        </p:txBody>
      </p:sp>
      <p:sp>
        <p:nvSpPr>
          <p:cNvPr id="29" name="Text 27"/>
          <p:cNvSpPr/>
          <p:nvPr/>
        </p:nvSpPr>
        <p:spPr>
          <a:xfrm>
            <a:off x="2788920" y="324612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B2B Share</a:t>
            </a:r>
            <a:endParaRPr lang="en-US" sz="900" dirty="0"/>
          </a:p>
        </p:txBody>
      </p:sp>
      <p:sp>
        <p:nvSpPr>
          <p:cNvPr id="30" name="Text 28"/>
          <p:cNvSpPr/>
          <p:nvPr/>
        </p:nvSpPr>
        <p:spPr>
          <a:xfrm>
            <a:off x="3611880" y="324612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25–30%</a:t>
            </a:r>
            <a:endParaRPr lang="en-US" sz="1100" dirty="0"/>
          </a:p>
        </p:txBody>
      </p:sp>
      <p:sp>
        <p:nvSpPr>
          <p:cNvPr id="31" name="Text 29"/>
          <p:cNvSpPr/>
          <p:nvPr/>
        </p:nvSpPr>
        <p:spPr>
          <a:xfrm>
            <a:off x="2788920" y="365760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Active SGLs</a:t>
            </a:r>
            <a:endParaRPr lang="en-US" sz="900" dirty="0"/>
          </a:p>
        </p:txBody>
      </p:sp>
      <p:sp>
        <p:nvSpPr>
          <p:cNvPr id="32" name="Text 30"/>
          <p:cNvSpPr/>
          <p:nvPr/>
        </p:nvSpPr>
        <p:spPr>
          <a:xfrm>
            <a:off x="3611880" y="365760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70+</a:t>
            </a:r>
            <a:endParaRPr lang="en-US" sz="1100" dirty="0"/>
          </a:p>
        </p:txBody>
      </p:sp>
      <p:sp>
        <p:nvSpPr>
          <p:cNvPr id="33" name="Shape 31"/>
          <p:cNvSpPr/>
          <p:nvPr/>
        </p:nvSpPr>
        <p:spPr>
          <a:xfrm>
            <a:off x="4846320" y="1371600"/>
            <a:ext cx="1965960" cy="2926080"/>
          </a:xfrm>
          <a:prstGeom prst="roundRect">
            <a:avLst>
              <a:gd name="adj" fmla="val 5581"/>
            </a:avLst>
          </a:prstGeom>
          <a:solidFill>
            <a:srgbClr val="F8F8F8"/>
          </a:solidFill>
          <a:ln/>
        </p:spPr>
      </p:sp>
      <p:sp>
        <p:nvSpPr>
          <p:cNvPr id="34" name="Text 32"/>
          <p:cNvSpPr/>
          <p:nvPr/>
        </p:nvSpPr>
        <p:spPr>
          <a:xfrm>
            <a:off x="4846320" y="1417320"/>
            <a:ext cx="1965960" cy="320040"/>
          </a:xfrm>
          <a:prstGeom prst="rect">
            <a:avLst/>
          </a:prstGeom>
          <a:noFill/>
          <a:ln/>
        </p:spPr>
        <p:txBody>
          <a:bodyPr wrap="square" lIns="0" tIns="0" rIns="0" bIns="0"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Q3 2026</a:t>
            </a:r>
            <a:endParaRPr lang="en-US" sz="1600" dirty="0"/>
          </a:p>
        </p:txBody>
      </p:sp>
      <p:sp>
        <p:nvSpPr>
          <p:cNvPr id="35" name="Text 33"/>
          <p:cNvSpPr/>
          <p:nvPr/>
        </p:nvSpPr>
        <p:spPr>
          <a:xfrm>
            <a:off x="4846320" y="1691640"/>
            <a:ext cx="1965960" cy="228600"/>
          </a:xfrm>
          <a:prstGeom prst="rect">
            <a:avLst/>
          </a:prstGeom>
          <a:noFill/>
          <a:ln/>
        </p:spPr>
        <p:txBody>
          <a:bodyPr wrap="square" lIns="0" tIns="0" rIns="0" bIns="0" rtlCol="0" anchor="ctr"/>
          <a:lstStyle/>
          <a:p>
            <a:pPr algn="ctr" indent="0" marL="0">
              <a:buNone/>
            </a:pPr>
            <a:r>
              <a:rPr lang="en-US" sz="1000" i="1" dirty="0">
                <a:solidFill>
                  <a:srgbClr val="888888"/>
                </a:solidFill>
                <a:latin typeface="Arial" pitchFamily="34" charset="0"/>
                <a:ea typeface="Arial" pitchFamily="34" charset="-122"/>
                <a:cs typeface="Arial" pitchFamily="34" charset="-120"/>
              </a:rPr>
              <a:t>Scaling</a:t>
            </a:r>
            <a:endParaRPr lang="en-US" sz="1000" dirty="0"/>
          </a:p>
        </p:txBody>
      </p:sp>
      <p:sp>
        <p:nvSpPr>
          <p:cNvPr id="36" name="Shape 34"/>
          <p:cNvSpPr/>
          <p:nvPr/>
        </p:nvSpPr>
        <p:spPr>
          <a:xfrm>
            <a:off x="5029200" y="1920240"/>
            <a:ext cx="1645920" cy="0"/>
          </a:xfrm>
          <a:prstGeom prst="line">
            <a:avLst/>
          </a:prstGeom>
          <a:noFill/>
          <a:ln w="12700">
            <a:solidFill>
              <a:srgbClr val="E5E5E5"/>
            </a:solidFill>
            <a:prstDash val="solid"/>
          </a:ln>
        </p:spPr>
      </p:sp>
      <p:sp>
        <p:nvSpPr>
          <p:cNvPr id="37" name="Text 35"/>
          <p:cNvSpPr/>
          <p:nvPr/>
        </p:nvSpPr>
        <p:spPr>
          <a:xfrm>
            <a:off x="4937760" y="201168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Sales</a:t>
            </a:r>
            <a:endParaRPr lang="en-US" sz="900" dirty="0"/>
          </a:p>
        </p:txBody>
      </p:sp>
      <p:sp>
        <p:nvSpPr>
          <p:cNvPr id="38" name="Text 36"/>
          <p:cNvSpPr/>
          <p:nvPr/>
        </p:nvSpPr>
        <p:spPr>
          <a:xfrm>
            <a:off x="5760720" y="201168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~11.2M ETB</a:t>
            </a:r>
            <a:endParaRPr lang="en-US" sz="1100" dirty="0"/>
          </a:p>
        </p:txBody>
      </p:sp>
      <p:sp>
        <p:nvSpPr>
          <p:cNvPr id="39" name="Text 37"/>
          <p:cNvSpPr/>
          <p:nvPr/>
        </p:nvSpPr>
        <p:spPr>
          <a:xfrm>
            <a:off x="4937760" y="242316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Margin</a:t>
            </a:r>
            <a:endParaRPr lang="en-US" sz="900" dirty="0"/>
          </a:p>
        </p:txBody>
      </p:sp>
      <p:sp>
        <p:nvSpPr>
          <p:cNvPr id="40" name="Text 38"/>
          <p:cNvSpPr/>
          <p:nvPr/>
        </p:nvSpPr>
        <p:spPr>
          <a:xfrm>
            <a:off x="5760720" y="242316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+5% to +8%</a:t>
            </a:r>
            <a:endParaRPr lang="en-US" sz="1100" dirty="0"/>
          </a:p>
        </p:txBody>
      </p:sp>
      <p:sp>
        <p:nvSpPr>
          <p:cNvPr id="41" name="Text 39"/>
          <p:cNvSpPr/>
          <p:nvPr/>
        </p:nvSpPr>
        <p:spPr>
          <a:xfrm>
            <a:off x="4937760" y="283464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Orders/mo</a:t>
            </a:r>
            <a:endParaRPr lang="en-US" sz="900" dirty="0"/>
          </a:p>
        </p:txBody>
      </p:sp>
      <p:sp>
        <p:nvSpPr>
          <p:cNvPr id="42" name="Text 40"/>
          <p:cNvSpPr/>
          <p:nvPr/>
        </p:nvSpPr>
        <p:spPr>
          <a:xfrm>
            <a:off x="5760720" y="283464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~110K+</a:t>
            </a:r>
            <a:endParaRPr lang="en-US" sz="1100" dirty="0"/>
          </a:p>
        </p:txBody>
      </p:sp>
      <p:sp>
        <p:nvSpPr>
          <p:cNvPr id="43" name="Text 41"/>
          <p:cNvSpPr/>
          <p:nvPr/>
        </p:nvSpPr>
        <p:spPr>
          <a:xfrm>
            <a:off x="4937760" y="324612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B2B Share</a:t>
            </a:r>
            <a:endParaRPr lang="en-US" sz="900" dirty="0"/>
          </a:p>
        </p:txBody>
      </p:sp>
      <p:sp>
        <p:nvSpPr>
          <p:cNvPr id="44" name="Text 42"/>
          <p:cNvSpPr/>
          <p:nvPr/>
        </p:nvSpPr>
        <p:spPr>
          <a:xfrm>
            <a:off x="5760720" y="324612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~35%</a:t>
            </a:r>
            <a:endParaRPr lang="en-US" sz="1100" dirty="0"/>
          </a:p>
        </p:txBody>
      </p:sp>
      <p:sp>
        <p:nvSpPr>
          <p:cNvPr id="45" name="Text 43"/>
          <p:cNvSpPr/>
          <p:nvPr/>
        </p:nvSpPr>
        <p:spPr>
          <a:xfrm>
            <a:off x="4937760" y="365760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Active SGLs</a:t>
            </a:r>
            <a:endParaRPr lang="en-US" sz="900" dirty="0"/>
          </a:p>
        </p:txBody>
      </p:sp>
      <p:sp>
        <p:nvSpPr>
          <p:cNvPr id="46" name="Text 44"/>
          <p:cNvSpPr/>
          <p:nvPr/>
        </p:nvSpPr>
        <p:spPr>
          <a:xfrm>
            <a:off x="5760720" y="365760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~85</a:t>
            </a:r>
            <a:endParaRPr lang="en-US" sz="1100" dirty="0"/>
          </a:p>
        </p:txBody>
      </p:sp>
      <p:sp>
        <p:nvSpPr>
          <p:cNvPr id="47" name="Shape 45"/>
          <p:cNvSpPr/>
          <p:nvPr/>
        </p:nvSpPr>
        <p:spPr>
          <a:xfrm>
            <a:off x="6995160" y="1371600"/>
            <a:ext cx="1965960" cy="2926080"/>
          </a:xfrm>
          <a:prstGeom prst="roundRect">
            <a:avLst>
              <a:gd name="adj" fmla="val 5581"/>
            </a:avLst>
          </a:prstGeom>
          <a:solidFill>
            <a:srgbClr val="FFF5F5"/>
          </a:solidFill>
          <a:ln/>
        </p:spPr>
      </p:sp>
      <p:sp>
        <p:nvSpPr>
          <p:cNvPr id="48" name="Shape 46"/>
          <p:cNvSpPr/>
          <p:nvPr/>
        </p:nvSpPr>
        <p:spPr>
          <a:xfrm>
            <a:off x="6995160" y="1371600"/>
            <a:ext cx="1965960" cy="54864"/>
          </a:xfrm>
          <a:prstGeom prst="rect">
            <a:avLst/>
          </a:prstGeom>
          <a:solidFill>
            <a:srgbClr val="E53935"/>
          </a:solidFill>
          <a:ln/>
        </p:spPr>
      </p:sp>
      <p:sp>
        <p:nvSpPr>
          <p:cNvPr id="49" name="Text 47"/>
          <p:cNvSpPr/>
          <p:nvPr/>
        </p:nvSpPr>
        <p:spPr>
          <a:xfrm>
            <a:off x="6995160" y="1417320"/>
            <a:ext cx="1965960" cy="320040"/>
          </a:xfrm>
          <a:prstGeom prst="rect">
            <a:avLst/>
          </a:prstGeom>
          <a:noFill/>
          <a:ln/>
        </p:spPr>
        <p:txBody>
          <a:bodyPr wrap="square" lIns="0" tIns="0" rIns="0" bIns="0" rtlCol="0" anchor="ctr"/>
          <a:lstStyle/>
          <a:p>
            <a:pPr algn="ctr" indent="0" marL="0">
              <a:buNone/>
            </a:pPr>
            <a:r>
              <a:rPr lang="en-US" sz="1600" b="1" dirty="0">
                <a:solidFill>
                  <a:srgbClr val="E53935"/>
                </a:solidFill>
                <a:latin typeface="Arial" pitchFamily="34" charset="0"/>
                <a:ea typeface="Arial" pitchFamily="34" charset="-122"/>
                <a:cs typeface="Arial" pitchFamily="34" charset="-120"/>
              </a:rPr>
              <a:t>Q4 2026</a:t>
            </a:r>
            <a:endParaRPr lang="en-US" sz="1600" dirty="0"/>
          </a:p>
        </p:txBody>
      </p:sp>
      <p:sp>
        <p:nvSpPr>
          <p:cNvPr id="50" name="Text 48"/>
          <p:cNvSpPr/>
          <p:nvPr/>
        </p:nvSpPr>
        <p:spPr>
          <a:xfrm>
            <a:off x="6995160" y="1691640"/>
            <a:ext cx="1965960" cy="228600"/>
          </a:xfrm>
          <a:prstGeom prst="rect">
            <a:avLst/>
          </a:prstGeom>
          <a:noFill/>
          <a:ln/>
        </p:spPr>
        <p:txBody>
          <a:bodyPr wrap="square" lIns="0" tIns="0" rIns="0" bIns="0" rtlCol="0" anchor="ctr"/>
          <a:lstStyle/>
          <a:p>
            <a:pPr algn="ctr" indent="0" marL="0">
              <a:buNone/>
            </a:pPr>
            <a:r>
              <a:rPr lang="en-US" sz="1000" i="1" dirty="0">
                <a:solidFill>
                  <a:srgbClr val="888888"/>
                </a:solidFill>
                <a:latin typeface="Arial" pitchFamily="34" charset="0"/>
                <a:ea typeface="Arial" pitchFamily="34" charset="-122"/>
                <a:cs typeface="Arial" pitchFamily="34" charset="-120"/>
              </a:rPr>
              <a:t>Approaching Breakeven ✦</a:t>
            </a:r>
            <a:endParaRPr lang="en-US" sz="1000" dirty="0"/>
          </a:p>
        </p:txBody>
      </p:sp>
      <p:sp>
        <p:nvSpPr>
          <p:cNvPr id="51" name="Shape 49"/>
          <p:cNvSpPr/>
          <p:nvPr/>
        </p:nvSpPr>
        <p:spPr>
          <a:xfrm>
            <a:off x="7178040" y="1920240"/>
            <a:ext cx="1645920" cy="0"/>
          </a:xfrm>
          <a:prstGeom prst="line">
            <a:avLst/>
          </a:prstGeom>
          <a:noFill/>
          <a:ln w="12700">
            <a:solidFill>
              <a:srgbClr val="E5E5E5"/>
            </a:solidFill>
            <a:prstDash val="solid"/>
          </a:ln>
        </p:spPr>
      </p:sp>
      <p:sp>
        <p:nvSpPr>
          <p:cNvPr id="52" name="Text 50"/>
          <p:cNvSpPr/>
          <p:nvPr/>
        </p:nvSpPr>
        <p:spPr>
          <a:xfrm>
            <a:off x="7086600" y="201168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Sales</a:t>
            </a:r>
            <a:endParaRPr lang="en-US" sz="900" dirty="0"/>
          </a:p>
        </p:txBody>
      </p:sp>
      <p:sp>
        <p:nvSpPr>
          <p:cNvPr id="53" name="Text 51"/>
          <p:cNvSpPr/>
          <p:nvPr/>
        </p:nvSpPr>
        <p:spPr>
          <a:xfrm>
            <a:off x="7909560" y="201168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~12.8M ETB</a:t>
            </a:r>
            <a:endParaRPr lang="en-US" sz="1100" dirty="0"/>
          </a:p>
        </p:txBody>
      </p:sp>
      <p:sp>
        <p:nvSpPr>
          <p:cNvPr id="54" name="Text 52"/>
          <p:cNvSpPr/>
          <p:nvPr/>
        </p:nvSpPr>
        <p:spPr>
          <a:xfrm>
            <a:off x="7086600" y="242316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Margin</a:t>
            </a:r>
            <a:endParaRPr lang="en-US" sz="900" dirty="0"/>
          </a:p>
        </p:txBody>
      </p:sp>
      <p:sp>
        <p:nvSpPr>
          <p:cNvPr id="55" name="Text 53"/>
          <p:cNvSpPr/>
          <p:nvPr/>
        </p:nvSpPr>
        <p:spPr>
          <a:xfrm>
            <a:off x="7909560" y="242316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+8% to +12%</a:t>
            </a:r>
            <a:endParaRPr lang="en-US" sz="1100" dirty="0"/>
          </a:p>
        </p:txBody>
      </p:sp>
      <p:sp>
        <p:nvSpPr>
          <p:cNvPr id="56" name="Text 54"/>
          <p:cNvSpPr/>
          <p:nvPr/>
        </p:nvSpPr>
        <p:spPr>
          <a:xfrm>
            <a:off x="7086600" y="283464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Orders/mo</a:t>
            </a:r>
            <a:endParaRPr lang="en-US" sz="900" dirty="0"/>
          </a:p>
        </p:txBody>
      </p:sp>
      <p:sp>
        <p:nvSpPr>
          <p:cNvPr id="57" name="Text 55"/>
          <p:cNvSpPr/>
          <p:nvPr/>
        </p:nvSpPr>
        <p:spPr>
          <a:xfrm>
            <a:off x="7909560" y="283464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~120K+</a:t>
            </a:r>
            <a:endParaRPr lang="en-US" sz="1100" dirty="0"/>
          </a:p>
        </p:txBody>
      </p:sp>
      <p:sp>
        <p:nvSpPr>
          <p:cNvPr id="58" name="Text 56"/>
          <p:cNvSpPr/>
          <p:nvPr/>
        </p:nvSpPr>
        <p:spPr>
          <a:xfrm>
            <a:off x="7086600" y="324612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B2B Share</a:t>
            </a:r>
            <a:endParaRPr lang="en-US" sz="900" dirty="0"/>
          </a:p>
        </p:txBody>
      </p:sp>
      <p:sp>
        <p:nvSpPr>
          <p:cNvPr id="59" name="Text 57"/>
          <p:cNvSpPr/>
          <p:nvPr/>
        </p:nvSpPr>
        <p:spPr>
          <a:xfrm>
            <a:off x="7909560" y="324612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~40%</a:t>
            </a:r>
            <a:endParaRPr lang="en-US" sz="1100" dirty="0"/>
          </a:p>
        </p:txBody>
      </p:sp>
      <p:sp>
        <p:nvSpPr>
          <p:cNvPr id="60" name="Text 58"/>
          <p:cNvSpPr/>
          <p:nvPr/>
        </p:nvSpPr>
        <p:spPr>
          <a:xfrm>
            <a:off x="7086600" y="3657600"/>
            <a:ext cx="822960" cy="292608"/>
          </a:xfrm>
          <a:prstGeom prst="rect">
            <a:avLst/>
          </a:prstGeom>
          <a:noFill/>
          <a:ln/>
        </p:spPr>
        <p:txBody>
          <a:bodyPr wrap="square" lIns="0" tIns="0" rIns="0" bIns="0" rtlCol="0" anchor="ctr"/>
          <a:lstStyle/>
          <a:p>
            <a:pPr indent="0" marL="0">
              <a:buNone/>
            </a:pPr>
            <a:r>
              <a:rPr lang="en-US" sz="900" dirty="0">
                <a:solidFill>
                  <a:srgbClr val="888888"/>
                </a:solidFill>
                <a:latin typeface="Arial" pitchFamily="34" charset="0"/>
                <a:ea typeface="Arial" pitchFamily="34" charset="-122"/>
                <a:cs typeface="Arial" pitchFamily="34" charset="-120"/>
              </a:rPr>
              <a:t>Active SGLs</a:t>
            </a:r>
            <a:endParaRPr lang="en-US" sz="900" dirty="0"/>
          </a:p>
        </p:txBody>
      </p:sp>
      <p:sp>
        <p:nvSpPr>
          <p:cNvPr id="61" name="Text 59"/>
          <p:cNvSpPr/>
          <p:nvPr/>
        </p:nvSpPr>
        <p:spPr>
          <a:xfrm>
            <a:off x="7909560" y="3657600"/>
            <a:ext cx="914400" cy="292608"/>
          </a:xfrm>
          <a:prstGeom prst="rect">
            <a:avLst/>
          </a:prstGeom>
          <a:noFill/>
          <a:ln/>
        </p:spPr>
        <p:txBody>
          <a:bodyPr wrap="square" lIns="0" tIns="0" rIns="0" bIns="0" rtlCol="0" anchor="ctr"/>
          <a:lstStyle/>
          <a:p>
            <a:pPr algn="r" indent="0" marL="0">
              <a:buNone/>
            </a:pPr>
            <a:r>
              <a:rPr lang="en-US" sz="1100" b="1" dirty="0">
                <a:solidFill>
                  <a:srgbClr val="1A1A1A"/>
                </a:solidFill>
                <a:latin typeface="Arial" pitchFamily="34" charset="0"/>
                <a:ea typeface="Arial" pitchFamily="34" charset="-122"/>
                <a:cs typeface="Arial" pitchFamily="34" charset="-120"/>
              </a:rPr>
              <a:t>100</a:t>
            </a:r>
            <a:endParaRPr lang="en-US" sz="1100" dirty="0"/>
          </a:p>
        </p:txBody>
      </p:sp>
      <p:sp>
        <p:nvSpPr>
          <p:cNvPr id="62" name="Text 60"/>
          <p:cNvSpPr/>
          <p:nvPr/>
        </p:nvSpPr>
        <p:spPr>
          <a:xfrm>
            <a:off x="2606040" y="2743200"/>
            <a:ext cx="365760" cy="365760"/>
          </a:xfrm>
          <a:prstGeom prst="rect">
            <a:avLst/>
          </a:prstGeom>
          <a:noFill/>
          <a:ln/>
        </p:spPr>
        <p:txBody>
          <a:bodyPr wrap="square" lIns="0" tIns="0" rIns="0" bIns="0" rtlCol="0" anchor="ctr"/>
          <a:lstStyle/>
          <a:p>
            <a:pPr algn="ctr" indent="0" marL="0">
              <a:buNone/>
            </a:pPr>
            <a:r>
              <a:rPr lang="en-US" sz="2000" b="1" dirty="0">
                <a:solidFill>
                  <a:srgbClr val="E53935"/>
                </a:solidFill>
                <a:latin typeface="Arial" pitchFamily="34" charset="0"/>
                <a:ea typeface="Arial" pitchFamily="34" charset="-122"/>
                <a:cs typeface="Arial" pitchFamily="34" charset="-120"/>
              </a:rPr>
              <a:t>→</a:t>
            </a:r>
            <a:endParaRPr lang="en-US" sz="2000" dirty="0"/>
          </a:p>
        </p:txBody>
      </p:sp>
      <p:sp>
        <p:nvSpPr>
          <p:cNvPr id="63" name="Text 61"/>
          <p:cNvSpPr/>
          <p:nvPr/>
        </p:nvSpPr>
        <p:spPr>
          <a:xfrm>
            <a:off x="4754880" y="2743200"/>
            <a:ext cx="365760" cy="365760"/>
          </a:xfrm>
          <a:prstGeom prst="rect">
            <a:avLst/>
          </a:prstGeom>
          <a:noFill/>
          <a:ln/>
        </p:spPr>
        <p:txBody>
          <a:bodyPr wrap="square" lIns="0" tIns="0" rIns="0" bIns="0" rtlCol="0" anchor="ctr"/>
          <a:lstStyle/>
          <a:p>
            <a:pPr algn="ctr" indent="0" marL="0">
              <a:buNone/>
            </a:pPr>
            <a:r>
              <a:rPr lang="en-US" sz="2000" b="1" dirty="0">
                <a:solidFill>
                  <a:srgbClr val="E53935"/>
                </a:solidFill>
                <a:latin typeface="Arial" pitchFamily="34" charset="0"/>
                <a:ea typeface="Arial" pitchFamily="34" charset="-122"/>
                <a:cs typeface="Arial" pitchFamily="34" charset="-120"/>
              </a:rPr>
              <a:t>→</a:t>
            </a:r>
            <a:endParaRPr lang="en-US" sz="2000" dirty="0"/>
          </a:p>
        </p:txBody>
      </p:sp>
      <p:sp>
        <p:nvSpPr>
          <p:cNvPr id="64" name="Text 62"/>
          <p:cNvSpPr/>
          <p:nvPr/>
        </p:nvSpPr>
        <p:spPr>
          <a:xfrm>
            <a:off x="6903720" y="2743200"/>
            <a:ext cx="365760" cy="365760"/>
          </a:xfrm>
          <a:prstGeom prst="rect">
            <a:avLst/>
          </a:prstGeom>
          <a:noFill/>
          <a:ln/>
        </p:spPr>
        <p:txBody>
          <a:bodyPr wrap="square" lIns="0" tIns="0" rIns="0" bIns="0" rtlCol="0" anchor="ctr"/>
          <a:lstStyle/>
          <a:p>
            <a:pPr algn="ctr" indent="0" marL="0">
              <a:buNone/>
            </a:pPr>
            <a:r>
              <a:rPr lang="en-US" sz="2000" b="1" dirty="0">
                <a:solidFill>
                  <a:srgbClr val="E53935"/>
                </a:solidFill>
                <a:latin typeface="Arial" pitchFamily="34" charset="0"/>
                <a:ea typeface="Arial" pitchFamily="34" charset="-122"/>
                <a:cs typeface="Arial" pitchFamily="34" charset="-120"/>
              </a:rPr>
              <a:t>→</a:t>
            </a:r>
            <a:endParaRPr lang="en-US" sz="2000" dirty="0"/>
          </a:p>
        </p:txBody>
      </p:sp>
      <p:sp>
        <p:nvSpPr>
          <p:cNvPr id="65" name="Shape 63"/>
          <p:cNvSpPr/>
          <p:nvPr/>
        </p:nvSpPr>
        <p:spPr>
          <a:xfrm>
            <a:off x="8503920" y="4663440"/>
            <a:ext cx="365760" cy="365760"/>
          </a:xfrm>
          <a:prstGeom prst="ellipse">
            <a:avLst/>
          </a:prstGeom>
          <a:solidFill>
            <a:srgbClr val="E53935"/>
          </a:solidFill>
          <a:ln/>
        </p:spPr>
      </p:sp>
      <p:sp>
        <p:nvSpPr>
          <p:cNvPr id="66" name="Text 64"/>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WHAT SUCCESS LOOKS LIKE</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End-State Vision for ChipChip</a:t>
            </a:r>
            <a:endParaRPr lang="en-US" sz="3000" dirty="0"/>
          </a:p>
        </p:txBody>
      </p:sp>
      <p:sp>
        <p:nvSpPr>
          <p:cNvPr id="5" name="Shape 3"/>
          <p:cNvSpPr/>
          <p:nvPr/>
        </p:nvSpPr>
        <p:spPr>
          <a:xfrm>
            <a:off x="548640" y="1280160"/>
            <a:ext cx="1965960" cy="1371600"/>
          </a:xfrm>
          <a:prstGeom prst="roundRect">
            <a:avLst>
              <a:gd name="adj" fmla="val 6667"/>
            </a:avLst>
          </a:prstGeom>
          <a:solidFill>
            <a:srgbClr val="F8F8F8"/>
          </a:solidFill>
          <a:ln/>
        </p:spPr>
      </p:sp>
      <p:sp>
        <p:nvSpPr>
          <p:cNvPr id="6" name="Shape 4"/>
          <p:cNvSpPr/>
          <p:nvPr/>
        </p:nvSpPr>
        <p:spPr>
          <a:xfrm>
            <a:off x="1261872" y="1371600"/>
            <a:ext cx="548640" cy="548640"/>
          </a:xfrm>
          <a:prstGeom prst="ellipse">
            <a:avLst/>
          </a:prstGeom>
          <a:solidFill>
            <a:srgbClr val="E53935"/>
          </a:solidFill>
          <a:ln/>
        </p:spPr>
      </p:sp>
      <p:sp>
        <p:nvSpPr>
          <p:cNvPr id="7" name="Text 5"/>
          <p:cNvSpPr/>
          <p:nvPr/>
        </p:nvSpPr>
        <p:spPr>
          <a:xfrm>
            <a:off x="1261872" y="13716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640080" y="19659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Zero B2C Volume</a:t>
            </a:r>
            <a:endParaRPr lang="en-US" sz="1200" dirty="0"/>
          </a:p>
        </p:txBody>
      </p:sp>
      <p:sp>
        <p:nvSpPr>
          <p:cNvPr id="9" name="Text 7"/>
          <p:cNvSpPr/>
          <p:nvPr/>
        </p:nvSpPr>
        <p:spPr>
          <a:xfrm>
            <a:off x="640080" y="22402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100% of volume flows through B2B and B2B2C channels. 0% individual B2C.</a:t>
            </a:r>
            <a:endParaRPr lang="en-US" sz="900" dirty="0"/>
          </a:p>
        </p:txBody>
      </p:sp>
      <p:sp>
        <p:nvSpPr>
          <p:cNvPr id="10" name="Shape 8"/>
          <p:cNvSpPr/>
          <p:nvPr/>
        </p:nvSpPr>
        <p:spPr>
          <a:xfrm>
            <a:off x="2697480" y="1280160"/>
            <a:ext cx="1965960" cy="1371600"/>
          </a:xfrm>
          <a:prstGeom prst="roundRect">
            <a:avLst>
              <a:gd name="adj" fmla="val 6667"/>
            </a:avLst>
          </a:prstGeom>
          <a:solidFill>
            <a:srgbClr val="F8F8F8"/>
          </a:solidFill>
          <a:ln/>
        </p:spPr>
      </p:sp>
      <p:sp>
        <p:nvSpPr>
          <p:cNvPr id="11" name="Shape 9"/>
          <p:cNvSpPr/>
          <p:nvPr/>
        </p:nvSpPr>
        <p:spPr>
          <a:xfrm>
            <a:off x="3410712" y="1371600"/>
            <a:ext cx="548640" cy="548640"/>
          </a:xfrm>
          <a:prstGeom prst="ellipse">
            <a:avLst/>
          </a:prstGeom>
          <a:solidFill>
            <a:srgbClr val="E53935"/>
          </a:solidFill>
          <a:ln/>
        </p:spPr>
      </p:sp>
      <p:sp>
        <p:nvSpPr>
          <p:cNvPr id="12" name="Text 10"/>
          <p:cNvSpPr/>
          <p:nvPr/>
        </p:nvSpPr>
        <p:spPr>
          <a:xfrm>
            <a:off x="3410712" y="13716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2788920" y="19659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CP1 Positive</a:t>
            </a:r>
            <a:endParaRPr lang="en-US" sz="1200" dirty="0"/>
          </a:p>
        </p:txBody>
      </p:sp>
      <p:sp>
        <p:nvSpPr>
          <p:cNvPr id="14" name="Text 12"/>
          <p:cNvSpPr/>
          <p:nvPr/>
        </p:nvSpPr>
        <p:spPr>
          <a:xfrm>
            <a:off x="2788920" y="22402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Every SKU is profitable at contribution margin level. No loss-leader products.</a:t>
            </a:r>
            <a:endParaRPr lang="en-US" sz="900" dirty="0"/>
          </a:p>
        </p:txBody>
      </p:sp>
      <p:sp>
        <p:nvSpPr>
          <p:cNvPr id="15" name="Shape 13"/>
          <p:cNvSpPr/>
          <p:nvPr/>
        </p:nvSpPr>
        <p:spPr>
          <a:xfrm>
            <a:off x="4846320" y="1280160"/>
            <a:ext cx="1965960" cy="1371600"/>
          </a:xfrm>
          <a:prstGeom prst="roundRect">
            <a:avLst>
              <a:gd name="adj" fmla="val 6667"/>
            </a:avLst>
          </a:prstGeom>
          <a:solidFill>
            <a:srgbClr val="F8F8F8"/>
          </a:solidFill>
          <a:ln/>
        </p:spPr>
      </p:sp>
      <p:sp>
        <p:nvSpPr>
          <p:cNvPr id="16" name="Shape 14"/>
          <p:cNvSpPr/>
          <p:nvPr/>
        </p:nvSpPr>
        <p:spPr>
          <a:xfrm>
            <a:off x="5559552" y="1371600"/>
            <a:ext cx="548640" cy="548640"/>
          </a:xfrm>
          <a:prstGeom prst="ellipse">
            <a:avLst/>
          </a:prstGeom>
          <a:solidFill>
            <a:srgbClr val="E53935"/>
          </a:solidFill>
          <a:ln/>
        </p:spPr>
      </p:sp>
      <p:sp>
        <p:nvSpPr>
          <p:cNvPr id="17" name="Text 15"/>
          <p:cNvSpPr/>
          <p:nvPr/>
        </p:nvSpPr>
        <p:spPr>
          <a:xfrm>
            <a:off x="5559552" y="13716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4937760" y="19659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Company Breakeven</a:t>
            </a:r>
            <a:endParaRPr lang="en-US" sz="1200" dirty="0"/>
          </a:p>
        </p:txBody>
      </p:sp>
      <p:sp>
        <p:nvSpPr>
          <p:cNvPr id="19" name="Text 17"/>
          <p:cNvSpPr/>
          <p:nvPr/>
        </p:nvSpPr>
        <p:spPr>
          <a:xfrm>
            <a:off x="4937760" y="22402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CP2 positive, burn rate at zero or below revenue. Financially self-sustaining.</a:t>
            </a:r>
            <a:endParaRPr lang="en-US" sz="900" dirty="0"/>
          </a:p>
        </p:txBody>
      </p:sp>
      <p:sp>
        <p:nvSpPr>
          <p:cNvPr id="20" name="Shape 18"/>
          <p:cNvSpPr/>
          <p:nvPr/>
        </p:nvSpPr>
        <p:spPr>
          <a:xfrm>
            <a:off x="6995160" y="1280160"/>
            <a:ext cx="1965960" cy="1371600"/>
          </a:xfrm>
          <a:prstGeom prst="roundRect">
            <a:avLst>
              <a:gd name="adj" fmla="val 6667"/>
            </a:avLst>
          </a:prstGeom>
          <a:solidFill>
            <a:srgbClr val="F8F8F8"/>
          </a:solidFill>
          <a:ln/>
        </p:spPr>
      </p:sp>
      <p:sp>
        <p:nvSpPr>
          <p:cNvPr id="21" name="Shape 19"/>
          <p:cNvSpPr/>
          <p:nvPr/>
        </p:nvSpPr>
        <p:spPr>
          <a:xfrm>
            <a:off x="7708392" y="1371600"/>
            <a:ext cx="548640" cy="548640"/>
          </a:xfrm>
          <a:prstGeom prst="ellipse">
            <a:avLst/>
          </a:prstGeom>
          <a:solidFill>
            <a:srgbClr val="E53935"/>
          </a:solidFill>
          <a:ln/>
        </p:spPr>
      </p:sp>
      <p:sp>
        <p:nvSpPr>
          <p:cNvPr id="22" name="Text 20"/>
          <p:cNvSpPr/>
          <p:nvPr/>
        </p:nvSpPr>
        <p:spPr>
          <a:xfrm>
            <a:off x="7708392" y="13716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3" name="Text 21"/>
          <p:cNvSpPr/>
          <p:nvPr/>
        </p:nvSpPr>
        <p:spPr>
          <a:xfrm>
            <a:off x="7086600" y="19659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100 Active SGLs</a:t>
            </a:r>
            <a:endParaRPr lang="en-US" sz="1200" dirty="0"/>
          </a:p>
        </p:txBody>
      </p:sp>
      <p:sp>
        <p:nvSpPr>
          <p:cNvPr id="24" name="Text 22"/>
          <p:cNvSpPr/>
          <p:nvPr/>
        </p:nvSpPr>
        <p:spPr>
          <a:xfrm>
            <a:off x="7086600" y="22402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100 Super Group Leaders, 14 pickup hubs, dense neighborhood coverage across Addis.</a:t>
            </a:r>
            <a:endParaRPr lang="en-US" sz="900" dirty="0"/>
          </a:p>
        </p:txBody>
      </p:sp>
      <p:sp>
        <p:nvSpPr>
          <p:cNvPr id="25" name="Shape 23"/>
          <p:cNvSpPr/>
          <p:nvPr/>
        </p:nvSpPr>
        <p:spPr>
          <a:xfrm>
            <a:off x="548640" y="2880360"/>
            <a:ext cx="1965960" cy="1371600"/>
          </a:xfrm>
          <a:prstGeom prst="roundRect">
            <a:avLst>
              <a:gd name="adj" fmla="val 6667"/>
            </a:avLst>
          </a:prstGeom>
          <a:solidFill>
            <a:srgbClr val="F8F8F8"/>
          </a:solidFill>
          <a:ln/>
        </p:spPr>
      </p:sp>
      <p:sp>
        <p:nvSpPr>
          <p:cNvPr id="26" name="Shape 24"/>
          <p:cNvSpPr/>
          <p:nvPr/>
        </p:nvSpPr>
        <p:spPr>
          <a:xfrm>
            <a:off x="1261872" y="2971800"/>
            <a:ext cx="548640" cy="548640"/>
          </a:xfrm>
          <a:prstGeom prst="ellipse">
            <a:avLst/>
          </a:prstGeom>
          <a:solidFill>
            <a:srgbClr val="E53935"/>
          </a:solidFill>
          <a:ln/>
        </p:spPr>
      </p:sp>
      <p:sp>
        <p:nvSpPr>
          <p:cNvPr id="27" name="Text 25"/>
          <p:cNvSpPr/>
          <p:nvPr/>
        </p:nvSpPr>
        <p:spPr>
          <a:xfrm>
            <a:off x="1261872" y="29718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28" name="Text 26"/>
          <p:cNvSpPr/>
          <p:nvPr/>
        </p:nvSpPr>
        <p:spPr>
          <a:xfrm>
            <a:off x="640080" y="35661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40+ Restaurants</a:t>
            </a:r>
            <a:endParaRPr lang="en-US" sz="1200" dirty="0"/>
          </a:p>
        </p:txBody>
      </p:sp>
      <p:sp>
        <p:nvSpPr>
          <p:cNvPr id="29" name="Text 27"/>
          <p:cNvSpPr/>
          <p:nvPr/>
        </p:nvSpPr>
        <p:spPr>
          <a:xfrm>
            <a:off x="640080" y="38404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40 B2B restaurant partners with recurring orders and BNPL credit products.</a:t>
            </a:r>
            <a:endParaRPr lang="en-US" sz="900" dirty="0"/>
          </a:p>
        </p:txBody>
      </p:sp>
      <p:sp>
        <p:nvSpPr>
          <p:cNvPr id="30" name="Shape 28"/>
          <p:cNvSpPr/>
          <p:nvPr/>
        </p:nvSpPr>
        <p:spPr>
          <a:xfrm>
            <a:off x="2697480" y="2880360"/>
            <a:ext cx="1965960" cy="1371600"/>
          </a:xfrm>
          <a:prstGeom prst="roundRect">
            <a:avLst>
              <a:gd name="adj" fmla="val 6667"/>
            </a:avLst>
          </a:prstGeom>
          <a:solidFill>
            <a:srgbClr val="F8F8F8"/>
          </a:solidFill>
          <a:ln/>
        </p:spPr>
      </p:sp>
      <p:sp>
        <p:nvSpPr>
          <p:cNvPr id="31" name="Shape 29"/>
          <p:cNvSpPr/>
          <p:nvPr/>
        </p:nvSpPr>
        <p:spPr>
          <a:xfrm>
            <a:off x="3410712" y="2971800"/>
            <a:ext cx="548640" cy="548640"/>
          </a:xfrm>
          <a:prstGeom prst="ellipse">
            <a:avLst/>
          </a:prstGeom>
          <a:solidFill>
            <a:srgbClr val="E53935"/>
          </a:solidFill>
          <a:ln/>
        </p:spPr>
      </p:sp>
      <p:sp>
        <p:nvSpPr>
          <p:cNvPr id="32" name="Text 30"/>
          <p:cNvSpPr/>
          <p:nvPr/>
        </p:nvSpPr>
        <p:spPr>
          <a:xfrm>
            <a:off x="3410712" y="29718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3" name="Text 31"/>
          <p:cNvSpPr/>
          <p:nvPr/>
        </p:nvSpPr>
        <p:spPr>
          <a:xfrm>
            <a:off x="2788920" y="35661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BNPL Ecosystem</a:t>
            </a:r>
            <a:endParaRPr lang="en-US" sz="1200" dirty="0"/>
          </a:p>
        </p:txBody>
      </p:sp>
      <p:sp>
        <p:nvSpPr>
          <p:cNvPr id="34" name="Text 32"/>
          <p:cNvSpPr/>
          <p:nvPr/>
        </p:nvSpPr>
        <p:spPr>
          <a:xfrm>
            <a:off x="2788920" y="38404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Credit products active for restaurants, SGLs, and suppliers. 35% of revenue from BNPL.</a:t>
            </a:r>
            <a:endParaRPr lang="en-US" sz="900" dirty="0"/>
          </a:p>
        </p:txBody>
      </p:sp>
      <p:sp>
        <p:nvSpPr>
          <p:cNvPr id="35" name="Shape 33"/>
          <p:cNvSpPr/>
          <p:nvPr/>
        </p:nvSpPr>
        <p:spPr>
          <a:xfrm>
            <a:off x="4846320" y="2880360"/>
            <a:ext cx="1965960" cy="1371600"/>
          </a:xfrm>
          <a:prstGeom prst="roundRect">
            <a:avLst>
              <a:gd name="adj" fmla="val 6667"/>
            </a:avLst>
          </a:prstGeom>
          <a:solidFill>
            <a:srgbClr val="F8F8F8"/>
          </a:solidFill>
          <a:ln/>
        </p:spPr>
      </p:sp>
      <p:sp>
        <p:nvSpPr>
          <p:cNvPr id="36" name="Shape 34"/>
          <p:cNvSpPr/>
          <p:nvPr/>
        </p:nvSpPr>
        <p:spPr>
          <a:xfrm>
            <a:off x="5559552" y="2971800"/>
            <a:ext cx="548640" cy="548640"/>
          </a:xfrm>
          <a:prstGeom prst="ellipse">
            <a:avLst/>
          </a:prstGeom>
          <a:solidFill>
            <a:srgbClr val="E53935"/>
          </a:solidFill>
          <a:ln/>
        </p:spPr>
      </p:sp>
      <p:sp>
        <p:nvSpPr>
          <p:cNvPr id="37" name="Text 35"/>
          <p:cNvSpPr/>
          <p:nvPr/>
        </p:nvSpPr>
        <p:spPr>
          <a:xfrm>
            <a:off x="5559552" y="29718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38" name="Text 36"/>
          <p:cNvSpPr/>
          <p:nvPr/>
        </p:nvSpPr>
        <p:spPr>
          <a:xfrm>
            <a:off x="4937760" y="35661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Automated Platform</a:t>
            </a:r>
            <a:endParaRPr lang="en-US" sz="1200" dirty="0"/>
          </a:p>
        </p:txBody>
      </p:sp>
      <p:sp>
        <p:nvSpPr>
          <p:cNvPr id="39" name="Text 37"/>
          <p:cNvSpPr/>
          <p:nvPr/>
        </p:nvSpPr>
        <p:spPr>
          <a:xfrm>
            <a:off x="4937760" y="38404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Enforcement systems auto-block negative-margin orders. CRM manages lifecycle.</a:t>
            </a:r>
            <a:endParaRPr lang="en-US" sz="900" dirty="0"/>
          </a:p>
        </p:txBody>
      </p:sp>
      <p:sp>
        <p:nvSpPr>
          <p:cNvPr id="40" name="Shape 38"/>
          <p:cNvSpPr/>
          <p:nvPr/>
        </p:nvSpPr>
        <p:spPr>
          <a:xfrm>
            <a:off x="6995160" y="2880360"/>
            <a:ext cx="1965960" cy="1371600"/>
          </a:xfrm>
          <a:prstGeom prst="roundRect">
            <a:avLst>
              <a:gd name="adj" fmla="val 6667"/>
            </a:avLst>
          </a:prstGeom>
          <a:solidFill>
            <a:srgbClr val="F8F8F8"/>
          </a:solidFill>
          <a:ln/>
        </p:spPr>
      </p:sp>
      <p:sp>
        <p:nvSpPr>
          <p:cNvPr id="41" name="Shape 39"/>
          <p:cNvSpPr/>
          <p:nvPr/>
        </p:nvSpPr>
        <p:spPr>
          <a:xfrm>
            <a:off x="7708392" y="2971800"/>
            <a:ext cx="548640" cy="548640"/>
          </a:xfrm>
          <a:prstGeom prst="ellipse">
            <a:avLst/>
          </a:prstGeom>
          <a:solidFill>
            <a:srgbClr val="E53935"/>
          </a:solidFill>
          <a:ln/>
        </p:spPr>
      </p:sp>
      <p:sp>
        <p:nvSpPr>
          <p:cNvPr id="42" name="Text 40"/>
          <p:cNvSpPr/>
          <p:nvPr/>
        </p:nvSpPr>
        <p:spPr>
          <a:xfrm>
            <a:off x="7708392" y="29718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43" name="Text 41"/>
          <p:cNvSpPr/>
          <p:nvPr/>
        </p:nvSpPr>
        <p:spPr>
          <a:xfrm>
            <a:off x="7086600" y="3566160"/>
            <a:ext cx="1783080"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30M+ ETB/month</a:t>
            </a:r>
            <a:endParaRPr lang="en-US" sz="1200" dirty="0"/>
          </a:p>
        </p:txBody>
      </p:sp>
      <p:sp>
        <p:nvSpPr>
          <p:cNvPr id="44" name="Text 42"/>
          <p:cNvSpPr/>
          <p:nvPr/>
        </p:nvSpPr>
        <p:spPr>
          <a:xfrm>
            <a:off x="7086600" y="3840480"/>
            <a:ext cx="1783080" cy="365760"/>
          </a:xfrm>
          <a:prstGeom prst="rect">
            <a:avLst/>
          </a:prstGeom>
          <a:noFill/>
          <a:ln/>
        </p:spPr>
        <p:txBody>
          <a:bodyPr wrap="square" lIns="0" tIns="0" rIns="0" bIns="0" rtlCol="0" anchor="ctr"/>
          <a:lstStyle/>
          <a:p>
            <a:pPr algn="ctr" indent="0" marL="0">
              <a:buNone/>
            </a:pPr>
            <a:r>
              <a:rPr lang="en-US" sz="900" dirty="0">
                <a:solidFill>
                  <a:srgbClr val="555555"/>
                </a:solidFill>
                <a:latin typeface="Arial" pitchFamily="34" charset="0"/>
                <a:ea typeface="Arial" pitchFamily="34" charset="-122"/>
                <a:cs typeface="Arial" pitchFamily="34" charset="-120"/>
              </a:rPr>
              <a:t>Scale target achieved. Pricing intelligence data becomes its own product.</a:t>
            </a:r>
            <a:endParaRPr lang="en-US" sz="900" dirty="0"/>
          </a:p>
        </p:txBody>
      </p:sp>
      <p:sp>
        <p:nvSpPr>
          <p:cNvPr id="45" name="Shape 43"/>
          <p:cNvSpPr/>
          <p:nvPr/>
        </p:nvSpPr>
        <p:spPr>
          <a:xfrm>
            <a:off x="8503920" y="4663440"/>
            <a:ext cx="365760" cy="365760"/>
          </a:xfrm>
          <a:prstGeom prst="ellipse">
            <a:avLst/>
          </a:prstGeom>
          <a:solidFill>
            <a:srgbClr val="E53935"/>
          </a:solidFill>
          <a:ln/>
        </p:spPr>
      </p:sp>
      <p:sp>
        <p:nvSpPr>
          <p:cNvPr id="46" name="Text 44"/>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Text 1"/>
          <p:cNvSpPr/>
          <p:nvPr/>
        </p:nvSpPr>
        <p:spPr>
          <a:xfrm>
            <a:off x="548640" y="274320"/>
            <a:ext cx="4572000" cy="365760"/>
          </a:xfrm>
          <a:prstGeom prst="rect">
            <a:avLst/>
          </a:prstGeom>
          <a:noFill/>
          <a:ln/>
        </p:spPr>
        <p:txBody>
          <a:bodyPr wrap="square" lIns="0" tIns="0" rIns="0" bIns="0" rtlCol="0" anchor="ctr"/>
          <a:lstStyle/>
          <a:p>
            <a:pPr indent="0" marL="0">
              <a:buNone/>
            </a:pPr>
            <a:r>
              <a:rPr lang="en-US" sz="1200" b="1" spc="400" kern="0" dirty="0">
                <a:solidFill>
                  <a:srgbClr val="E53935"/>
                </a:solidFill>
                <a:latin typeface="Arial" pitchFamily="34" charset="0"/>
                <a:ea typeface="Arial" pitchFamily="34" charset="-122"/>
                <a:cs typeface="Arial" pitchFamily="34" charset="-120"/>
              </a:rPr>
              <a:t>TEAM &amp; NEXT STEPS</a:t>
            </a:r>
            <a:endParaRPr lang="en-US" sz="1200" dirty="0"/>
          </a:p>
        </p:txBody>
      </p:sp>
      <p:sp>
        <p:nvSpPr>
          <p:cNvPr id="4" name="Text 2"/>
          <p:cNvSpPr/>
          <p:nvPr/>
        </p:nvSpPr>
        <p:spPr>
          <a:xfrm>
            <a:off x="548640" y="594360"/>
            <a:ext cx="7315200" cy="5029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Leadership &amp; Immediate Actions</a:t>
            </a:r>
            <a:endParaRPr lang="en-US" sz="3000" dirty="0"/>
          </a:p>
        </p:txBody>
      </p:sp>
      <p:sp>
        <p:nvSpPr>
          <p:cNvPr id="5" name="Shape 3"/>
          <p:cNvSpPr/>
          <p:nvPr/>
        </p:nvSpPr>
        <p:spPr>
          <a:xfrm>
            <a:off x="548640" y="1371600"/>
            <a:ext cx="1965960" cy="822960"/>
          </a:xfrm>
          <a:prstGeom prst="roundRect">
            <a:avLst>
              <a:gd name="adj" fmla="val 11111"/>
            </a:avLst>
          </a:prstGeom>
          <a:solidFill>
            <a:srgbClr val="F8F8F8"/>
          </a:solidFill>
          <a:ln/>
        </p:spPr>
      </p:sp>
      <p:sp>
        <p:nvSpPr>
          <p:cNvPr id="6" name="Shape 4"/>
          <p:cNvSpPr/>
          <p:nvPr/>
        </p:nvSpPr>
        <p:spPr>
          <a:xfrm>
            <a:off x="1170432" y="1463040"/>
            <a:ext cx="731520" cy="731520"/>
          </a:xfrm>
          <a:prstGeom prst="ellipse">
            <a:avLst/>
          </a:prstGeom>
          <a:solidFill>
            <a:srgbClr val="E53935">
              <a:alpha val="15000"/>
            </a:srgbClr>
          </a:solidFill>
          <a:ln/>
        </p:spPr>
      </p:sp>
      <p:sp>
        <p:nvSpPr>
          <p:cNvPr id="7" name="Text 5"/>
          <p:cNvSpPr/>
          <p:nvPr/>
        </p:nvSpPr>
        <p:spPr>
          <a:xfrm>
            <a:off x="1170432" y="1463040"/>
            <a:ext cx="731520" cy="731520"/>
          </a:xfrm>
          <a:prstGeom prst="rect">
            <a:avLst/>
          </a:prstGeom>
          <a:noFill/>
          <a:ln/>
        </p:spPr>
        <p:txBody>
          <a:bodyPr wrap="square" lIns="0" tIns="0" rIns="0" bIns="0" rtlCol="0" anchor="ctr"/>
          <a:lstStyle/>
          <a:p>
            <a:pPr algn="ctr" indent="0" marL="0">
              <a:buNone/>
            </a:pPr>
            <a:r>
              <a:rPr lang="en-US" sz="1800" b="1" dirty="0">
                <a:solidFill>
                  <a:srgbClr val="E53935"/>
                </a:solidFill>
                <a:latin typeface="Arial" pitchFamily="34" charset="0"/>
                <a:ea typeface="Arial" pitchFamily="34" charset="-122"/>
                <a:cs typeface="Arial" pitchFamily="34" charset="-120"/>
              </a:rPr>
              <a:t>LI</a:t>
            </a:r>
            <a:endParaRPr lang="en-US" sz="1800" dirty="0"/>
          </a:p>
        </p:txBody>
      </p:sp>
      <p:sp>
        <p:nvSpPr>
          <p:cNvPr id="8" name="Text 6"/>
          <p:cNvSpPr/>
          <p:nvPr/>
        </p:nvSpPr>
        <p:spPr>
          <a:xfrm>
            <a:off x="548640" y="1463040"/>
            <a:ext cx="1965960" cy="22860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Lidya</a:t>
            </a:r>
            <a:endParaRPr lang="en-US" sz="1200" dirty="0"/>
          </a:p>
        </p:txBody>
      </p:sp>
      <p:sp>
        <p:nvSpPr>
          <p:cNvPr id="9" name="Text 7"/>
          <p:cNvSpPr/>
          <p:nvPr/>
        </p:nvSpPr>
        <p:spPr>
          <a:xfrm>
            <a:off x="548640" y="1691640"/>
            <a:ext cx="1965960" cy="182880"/>
          </a:xfrm>
          <a:prstGeom prst="rect">
            <a:avLst/>
          </a:prstGeom>
          <a:noFill/>
          <a:ln/>
        </p:spPr>
        <p:txBody>
          <a:bodyPr wrap="square" lIns="0" tIns="0" rIns="0" bIns="0" rtlCol="0" anchor="ctr"/>
          <a:lstStyle/>
          <a:p>
            <a:pPr algn="ctr" indent="0" marL="0">
              <a:buNone/>
            </a:pPr>
            <a:r>
              <a:rPr lang="en-US" sz="1000" dirty="0">
                <a:solidFill>
                  <a:srgbClr val="E53935"/>
                </a:solidFill>
                <a:latin typeface="Arial" pitchFamily="34" charset="0"/>
                <a:ea typeface="Arial" pitchFamily="34" charset="-122"/>
                <a:cs typeface="Arial" pitchFamily="34" charset="-120"/>
              </a:rPr>
              <a:t>Lead Designer</a:t>
            </a:r>
            <a:endParaRPr lang="en-US" sz="1000" dirty="0"/>
          </a:p>
        </p:txBody>
      </p:sp>
      <p:sp>
        <p:nvSpPr>
          <p:cNvPr id="10" name="Text 8"/>
          <p:cNvSpPr/>
          <p:nvPr/>
        </p:nvSpPr>
        <p:spPr>
          <a:xfrm>
            <a:off x="640080" y="1874520"/>
            <a:ext cx="1783080" cy="27432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Brand system, presentation design, user experience, visual identity</a:t>
            </a:r>
            <a:endParaRPr lang="en-US" sz="900" dirty="0"/>
          </a:p>
        </p:txBody>
      </p:sp>
      <p:sp>
        <p:nvSpPr>
          <p:cNvPr id="11" name="Shape 9"/>
          <p:cNvSpPr/>
          <p:nvPr/>
        </p:nvSpPr>
        <p:spPr>
          <a:xfrm>
            <a:off x="2697480" y="1371600"/>
            <a:ext cx="1965960" cy="822960"/>
          </a:xfrm>
          <a:prstGeom prst="roundRect">
            <a:avLst>
              <a:gd name="adj" fmla="val 11111"/>
            </a:avLst>
          </a:prstGeom>
          <a:solidFill>
            <a:srgbClr val="F8F8F8"/>
          </a:solidFill>
          <a:ln/>
        </p:spPr>
      </p:sp>
      <p:sp>
        <p:nvSpPr>
          <p:cNvPr id="12" name="Shape 10"/>
          <p:cNvSpPr/>
          <p:nvPr/>
        </p:nvSpPr>
        <p:spPr>
          <a:xfrm>
            <a:off x="3319272" y="1463040"/>
            <a:ext cx="731520" cy="731520"/>
          </a:xfrm>
          <a:prstGeom prst="ellipse">
            <a:avLst/>
          </a:prstGeom>
          <a:solidFill>
            <a:srgbClr val="1A1A1A">
              <a:alpha val="15000"/>
            </a:srgbClr>
          </a:solidFill>
          <a:ln/>
        </p:spPr>
      </p:sp>
      <p:sp>
        <p:nvSpPr>
          <p:cNvPr id="13" name="Text 11"/>
          <p:cNvSpPr/>
          <p:nvPr/>
        </p:nvSpPr>
        <p:spPr>
          <a:xfrm>
            <a:off x="3319272" y="1463040"/>
            <a:ext cx="731520" cy="73152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HE</a:t>
            </a:r>
            <a:endParaRPr lang="en-US" sz="1800" dirty="0"/>
          </a:p>
        </p:txBody>
      </p:sp>
      <p:sp>
        <p:nvSpPr>
          <p:cNvPr id="14" name="Text 12"/>
          <p:cNvSpPr/>
          <p:nvPr/>
        </p:nvSpPr>
        <p:spPr>
          <a:xfrm>
            <a:off x="2697480" y="1463040"/>
            <a:ext cx="1965960" cy="22860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Henok</a:t>
            </a:r>
            <a:endParaRPr lang="en-US" sz="1200" dirty="0"/>
          </a:p>
        </p:txBody>
      </p:sp>
      <p:sp>
        <p:nvSpPr>
          <p:cNvPr id="15" name="Text 13"/>
          <p:cNvSpPr/>
          <p:nvPr/>
        </p:nvSpPr>
        <p:spPr>
          <a:xfrm>
            <a:off x="2697480" y="1691640"/>
            <a:ext cx="1965960" cy="182880"/>
          </a:xfrm>
          <a:prstGeom prst="rect">
            <a:avLst/>
          </a:prstGeom>
          <a:noFill/>
          <a:ln/>
        </p:spPr>
        <p:txBody>
          <a:bodyPr wrap="square" lIns="0" tIns="0" rIns="0" bIns="0" rtlCol="0" anchor="ctr"/>
          <a:lstStyle/>
          <a:p>
            <a:pPr algn="ctr" indent="0" marL="0">
              <a:buNone/>
            </a:pPr>
            <a:r>
              <a:rPr lang="en-US" sz="1000" dirty="0">
                <a:solidFill>
                  <a:srgbClr val="1A1A1A"/>
                </a:solidFill>
                <a:latin typeface="Arial" pitchFamily="34" charset="0"/>
                <a:ea typeface="Arial" pitchFamily="34" charset="-122"/>
                <a:cs typeface="Arial" pitchFamily="34" charset="-120"/>
              </a:rPr>
              <a:t>DevOps</a:t>
            </a:r>
            <a:endParaRPr lang="en-US" sz="1000" dirty="0"/>
          </a:p>
        </p:txBody>
      </p:sp>
      <p:sp>
        <p:nvSpPr>
          <p:cNvPr id="16" name="Text 14"/>
          <p:cNvSpPr/>
          <p:nvPr/>
        </p:nvSpPr>
        <p:spPr>
          <a:xfrm>
            <a:off x="2788920" y="1874520"/>
            <a:ext cx="1783080" cy="27432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Infrastructure, deployment automation, system reliability, performance</a:t>
            </a:r>
            <a:endParaRPr lang="en-US" sz="900" dirty="0"/>
          </a:p>
        </p:txBody>
      </p:sp>
      <p:sp>
        <p:nvSpPr>
          <p:cNvPr id="17" name="Shape 15"/>
          <p:cNvSpPr/>
          <p:nvPr/>
        </p:nvSpPr>
        <p:spPr>
          <a:xfrm>
            <a:off x="4846320" y="1371600"/>
            <a:ext cx="1965960" cy="822960"/>
          </a:xfrm>
          <a:prstGeom prst="roundRect">
            <a:avLst>
              <a:gd name="adj" fmla="val 11111"/>
            </a:avLst>
          </a:prstGeom>
          <a:solidFill>
            <a:srgbClr val="F8F8F8"/>
          </a:solidFill>
          <a:ln/>
        </p:spPr>
      </p:sp>
      <p:sp>
        <p:nvSpPr>
          <p:cNvPr id="18" name="Shape 16"/>
          <p:cNvSpPr/>
          <p:nvPr/>
        </p:nvSpPr>
        <p:spPr>
          <a:xfrm>
            <a:off x="5468112" y="1463040"/>
            <a:ext cx="731520" cy="731520"/>
          </a:xfrm>
          <a:prstGeom prst="ellipse">
            <a:avLst/>
          </a:prstGeom>
          <a:solidFill>
            <a:srgbClr val="666666">
              <a:alpha val="15000"/>
            </a:srgbClr>
          </a:solidFill>
          <a:ln/>
        </p:spPr>
      </p:sp>
      <p:sp>
        <p:nvSpPr>
          <p:cNvPr id="19" name="Text 17"/>
          <p:cNvSpPr/>
          <p:nvPr/>
        </p:nvSpPr>
        <p:spPr>
          <a:xfrm>
            <a:off x="5468112" y="1463040"/>
            <a:ext cx="731520" cy="731520"/>
          </a:xfrm>
          <a:prstGeom prst="rect">
            <a:avLst/>
          </a:prstGeom>
          <a:noFill/>
          <a:ln/>
        </p:spPr>
        <p:txBody>
          <a:bodyPr wrap="square" lIns="0" tIns="0" rIns="0" bIns="0" rtlCol="0" anchor="ctr"/>
          <a:lstStyle/>
          <a:p>
            <a:pPr algn="ctr" indent="0" marL="0">
              <a:buNone/>
            </a:pPr>
            <a:r>
              <a:rPr lang="en-US" sz="1800" b="1" dirty="0">
                <a:solidFill>
                  <a:srgbClr val="666666"/>
                </a:solidFill>
                <a:latin typeface="Arial" pitchFamily="34" charset="0"/>
                <a:ea typeface="Arial" pitchFamily="34" charset="-122"/>
                <a:cs typeface="Arial" pitchFamily="34" charset="-120"/>
              </a:rPr>
              <a:t>KI</a:t>
            </a:r>
            <a:endParaRPr lang="en-US" sz="1800" dirty="0"/>
          </a:p>
        </p:txBody>
      </p:sp>
      <p:sp>
        <p:nvSpPr>
          <p:cNvPr id="20" name="Text 18"/>
          <p:cNvSpPr/>
          <p:nvPr/>
        </p:nvSpPr>
        <p:spPr>
          <a:xfrm>
            <a:off x="4846320" y="1463040"/>
            <a:ext cx="1965960" cy="22860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Kiro</a:t>
            </a:r>
            <a:endParaRPr lang="en-US" sz="1200" dirty="0"/>
          </a:p>
        </p:txBody>
      </p:sp>
      <p:sp>
        <p:nvSpPr>
          <p:cNvPr id="21" name="Text 19"/>
          <p:cNvSpPr/>
          <p:nvPr/>
        </p:nvSpPr>
        <p:spPr>
          <a:xfrm>
            <a:off x="4846320" y="1691640"/>
            <a:ext cx="1965960" cy="182880"/>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Architect</a:t>
            </a:r>
            <a:endParaRPr lang="en-US" sz="1000" dirty="0"/>
          </a:p>
        </p:txBody>
      </p:sp>
      <p:sp>
        <p:nvSpPr>
          <p:cNvPr id="22" name="Text 20"/>
          <p:cNvSpPr/>
          <p:nvPr/>
        </p:nvSpPr>
        <p:spPr>
          <a:xfrm>
            <a:off x="4937760" y="1874520"/>
            <a:ext cx="1783080" cy="27432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System architecture, strategic analysis, technology roadmap</a:t>
            </a:r>
            <a:endParaRPr lang="en-US" sz="900" dirty="0"/>
          </a:p>
        </p:txBody>
      </p:sp>
      <p:sp>
        <p:nvSpPr>
          <p:cNvPr id="23" name="Shape 21"/>
          <p:cNvSpPr/>
          <p:nvPr/>
        </p:nvSpPr>
        <p:spPr>
          <a:xfrm>
            <a:off x="6995160" y="1371600"/>
            <a:ext cx="1965960" cy="822960"/>
          </a:xfrm>
          <a:prstGeom prst="roundRect">
            <a:avLst>
              <a:gd name="adj" fmla="val 11111"/>
            </a:avLst>
          </a:prstGeom>
          <a:solidFill>
            <a:srgbClr val="F8F8F8"/>
          </a:solidFill>
          <a:ln/>
        </p:spPr>
      </p:sp>
      <p:sp>
        <p:nvSpPr>
          <p:cNvPr id="24" name="Shape 22"/>
          <p:cNvSpPr/>
          <p:nvPr/>
        </p:nvSpPr>
        <p:spPr>
          <a:xfrm>
            <a:off x="7616952" y="1463040"/>
            <a:ext cx="731520" cy="731520"/>
          </a:xfrm>
          <a:prstGeom prst="ellipse">
            <a:avLst/>
          </a:prstGeom>
          <a:solidFill>
            <a:srgbClr val="999999">
              <a:alpha val="15000"/>
            </a:srgbClr>
          </a:solidFill>
          <a:ln/>
        </p:spPr>
      </p:sp>
      <p:sp>
        <p:nvSpPr>
          <p:cNvPr id="25" name="Text 23"/>
          <p:cNvSpPr/>
          <p:nvPr/>
        </p:nvSpPr>
        <p:spPr>
          <a:xfrm>
            <a:off x="7616952" y="1463040"/>
            <a:ext cx="731520" cy="731520"/>
          </a:xfrm>
          <a:prstGeom prst="rect">
            <a:avLst/>
          </a:prstGeom>
          <a:noFill/>
          <a:ln/>
        </p:spPr>
        <p:txBody>
          <a:bodyPr wrap="square" lIns="0" tIns="0" rIns="0" bIns="0" rtlCol="0" anchor="ctr"/>
          <a:lstStyle/>
          <a:p>
            <a:pPr algn="ctr" indent="0" marL="0">
              <a:buNone/>
            </a:pPr>
            <a:r>
              <a:rPr lang="en-US" sz="1800" b="1" dirty="0">
                <a:solidFill>
                  <a:srgbClr val="999999"/>
                </a:solidFill>
                <a:latin typeface="Arial" pitchFamily="34" charset="0"/>
                <a:ea typeface="Arial" pitchFamily="34" charset="-122"/>
                <a:cs typeface="Arial" pitchFamily="34" charset="-120"/>
              </a:rPr>
              <a:t>AM</a:t>
            </a:r>
            <a:endParaRPr lang="en-US" sz="1800" dirty="0"/>
          </a:p>
        </p:txBody>
      </p:sp>
      <p:sp>
        <p:nvSpPr>
          <p:cNvPr id="26" name="Text 24"/>
          <p:cNvSpPr/>
          <p:nvPr/>
        </p:nvSpPr>
        <p:spPr>
          <a:xfrm>
            <a:off x="6995160" y="1463040"/>
            <a:ext cx="1965960" cy="228600"/>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Amen</a:t>
            </a:r>
            <a:endParaRPr lang="en-US" sz="1200" dirty="0"/>
          </a:p>
        </p:txBody>
      </p:sp>
      <p:sp>
        <p:nvSpPr>
          <p:cNvPr id="27" name="Text 25"/>
          <p:cNvSpPr/>
          <p:nvPr/>
        </p:nvSpPr>
        <p:spPr>
          <a:xfrm>
            <a:off x="6995160" y="1691640"/>
            <a:ext cx="1965960" cy="182880"/>
          </a:xfrm>
          <a:prstGeom prst="rect">
            <a:avLst/>
          </a:prstGeom>
          <a:noFill/>
          <a:ln/>
        </p:spPr>
        <p:txBody>
          <a:bodyPr wrap="square" lIns="0" tIns="0" rIns="0" bIns="0" rtlCol="0" anchor="ctr"/>
          <a:lstStyle/>
          <a:p>
            <a:pPr algn="ctr" indent="0" marL="0">
              <a:buNone/>
            </a:pPr>
            <a:r>
              <a:rPr lang="en-US" sz="1000" dirty="0">
                <a:solidFill>
                  <a:srgbClr val="999999"/>
                </a:solidFill>
                <a:latin typeface="Arial" pitchFamily="34" charset="0"/>
                <a:ea typeface="Arial" pitchFamily="34" charset="-122"/>
                <a:cs typeface="Arial" pitchFamily="34" charset="-120"/>
              </a:rPr>
              <a:t>Analytics</a:t>
            </a:r>
            <a:endParaRPr lang="en-US" sz="1000" dirty="0"/>
          </a:p>
        </p:txBody>
      </p:sp>
      <p:sp>
        <p:nvSpPr>
          <p:cNvPr id="28" name="Text 26"/>
          <p:cNvSpPr/>
          <p:nvPr/>
        </p:nvSpPr>
        <p:spPr>
          <a:xfrm>
            <a:off x="7086600" y="1874520"/>
            <a:ext cx="1783080" cy="27432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Business analytics, KPI tracking, data insights, reporting</a:t>
            </a:r>
            <a:endParaRPr lang="en-US" sz="900" dirty="0"/>
          </a:p>
        </p:txBody>
      </p:sp>
      <p:sp>
        <p:nvSpPr>
          <p:cNvPr id="29" name="Text 27"/>
          <p:cNvSpPr/>
          <p:nvPr/>
        </p:nvSpPr>
        <p:spPr>
          <a:xfrm>
            <a:off x="548640" y="2514600"/>
            <a:ext cx="3657600" cy="274320"/>
          </a:xfrm>
          <a:prstGeom prst="rect">
            <a:avLst/>
          </a:prstGeom>
          <a:noFill/>
          <a:ln/>
        </p:spPr>
        <p:txBody>
          <a:bodyPr wrap="square" lIns="0" tIns="0" rIns="0" bIns="0" rtlCol="0" anchor="ctr"/>
          <a:lstStyle/>
          <a:p>
            <a:pPr indent="0" marL="0">
              <a:buNone/>
            </a:pPr>
            <a:r>
              <a:rPr lang="en-US" sz="1000" b="1" spc="300" kern="0" dirty="0">
                <a:solidFill>
                  <a:srgbClr val="E53935"/>
                </a:solidFill>
                <a:latin typeface="Arial" pitchFamily="34" charset="0"/>
                <a:ea typeface="Arial" pitchFamily="34" charset="-122"/>
                <a:cs typeface="Arial" pitchFamily="34" charset="-120"/>
              </a:rPr>
              <a:t>IMMEDIATE NEXT STEPS</a:t>
            </a:r>
            <a:endParaRPr lang="en-US" sz="1000" dirty="0"/>
          </a:p>
        </p:txBody>
      </p:sp>
      <p:sp>
        <p:nvSpPr>
          <p:cNvPr id="30" name="Shape 28"/>
          <p:cNvSpPr/>
          <p:nvPr/>
        </p:nvSpPr>
        <p:spPr>
          <a:xfrm>
            <a:off x="548640" y="2880360"/>
            <a:ext cx="1965960" cy="685800"/>
          </a:xfrm>
          <a:prstGeom prst="roundRect">
            <a:avLst>
              <a:gd name="adj" fmla="val 13333"/>
            </a:avLst>
          </a:prstGeom>
          <a:solidFill>
            <a:srgbClr val="FFF5F5"/>
          </a:solidFill>
          <a:ln/>
        </p:spPr>
      </p:sp>
      <p:sp>
        <p:nvSpPr>
          <p:cNvPr id="31" name="Shape 29"/>
          <p:cNvSpPr/>
          <p:nvPr/>
        </p:nvSpPr>
        <p:spPr>
          <a:xfrm>
            <a:off x="594360" y="2953512"/>
            <a:ext cx="320040" cy="320040"/>
          </a:xfrm>
          <a:prstGeom prst="ellipse">
            <a:avLst/>
          </a:prstGeom>
          <a:solidFill>
            <a:srgbClr val="E53935"/>
          </a:solidFill>
          <a:ln/>
        </p:spPr>
      </p:sp>
      <p:sp>
        <p:nvSpPr>
          <p:cNvPr id="32" name="Text 30"/>
          <p:cNvSpPr/>
          <p:nvPr/>
        </p:nvSpPr>
        <p:spPr>
          <a:xfrm>
            <a:off x="594360" y="295351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33" name="Text 31"/>
          <p:cNvSpPr/>
          <p:nvPr/>
        </p:nvSpPr>
        <p:spPr>
          <a:xfrm>
            <a:off x="1005840" y="292608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Approve strategic recommendations and priority order for execution</a:t>
            </a:r>
            <a:endParaRPr lang="en-US" sz="1000" dirty="0"/>
          </a:p>
        </p:txBody>
      </p:sp>
      <p:sp>
        <p:nvSpPr>
          <p:cNvPr id="34" name="Shape 32"/>
          <p:cNvSpPr/>
          <p:nvPr/>
        </p:nvSpPr>
        <p:spPr>
          <a:xfrm>
            <a:off x="2697480" y="2880360"/>
            <a:ext cx="1965960" cy="685800"/>
          </a:xfrm>
          <a:prstGeom prst="roundRect">
            <a:avLst>
              <a:gd name="adj" fmla="val 13333"/>
            </a:avLst>
          </a:prstGeom>
          <a:solidFill>
            <a:srgbClr val="FFF5F5"/>
          </a:solidFill>
          <a:ln/>
        </p:spPr>
      </p:sp>
      <p:sp>
        <p:nvSpPr>
          <p:cNvPr id="35" name="Shape 33"/>
          <p:cNvSpPr/>
          <p:nvPr/>
        </p:nvSpPr>
        <p:spPr>
          <a:xfrm>
            <a:off x="2743200" y="2953512"/>
            <a:ext cx="320040" cy="320040"/>
          </a:xfrm>
          <a:prstGeom prst="ellipse">
            <a:avLst/>
          </a:prstGeom>
          <a:solidFill>
            <a:srgbClr val="E53935"/>
          </a:solidFill>
          <a:ln/>
        </p:spPr>
      </p:sp>
      <p:sp>
        <p:nvSpPr>
          <p:cNvPr id="36" name="Text 34"/>
          <p:cNvSpPr/>
          <p:nvPr/>
        </p:nvSpPr>
        <p:spPr>
          <a:xfrm>
            <a:off x="2743200" y="295351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7" name="Text 35"/>
          <p:cNvSpPr/>
          <p:nvPr/>
        </p:nvSpPr>
        <p:spPr>
          <a:xfrm>
            <a:off x="3154680" y="292608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Begin P0 tech fixes — SettingsView, FeedbackView, Kanban drag-and-drop</a:t>
            </a:r>
            <a:endParaRPr lang="en-US" sz="1000" dirty="0"/>
          </a:p>
        </p:txBody>
      </p:sp>
      <p:sp>
        <p:nvSpPr>
          <p:cNvPr id="38" name="Shape 36"/>
          <p:cNvSpPr/>
          <p:nvPr/>
        </p:nvSpPr>
        <p:spPr>
          <a:xfrm>
            <a:off x="4846320" y="2880360"/>
            <a:ext cx="1965960" cy="685800"/>
          </a:xfrm>
          <a:prstGeom prst="roundRect">
            <a:avLst>
              <a:gd name="adj" fmla="val 13333"/>
            </a:avLst>
          </a:prstGeom>
          <a:solidFill>
            <a:srgbClr val="FFF5F5"/>
          </a:solidFill>
          <a:ln/>
        </p:spPr>
      </p:sp>
      <p:sp>
        <p:nvSpPr>
          <p:cNvPr id="39" name="Shape 37"/>
          <p:cNvSpPr/>
          <p:nvPr/>
        </p:nvSpPr>
        <p:spPr>
          <a:xfrm>
            <a:off x="4892040" y="2953512"/>
            <a:ext cx="320040" cy="320040"/>
          </a:xfrm>
          <a:prstGeom prst="ellipse">
            <a:avLst/>
          </a:prstGeom>
          <a:solidFill>
            <a:srgbClr val="E53935"/>
          </a:solidFill>
          <a:ln/>
        </p:spPr>
      </p:sp>
      <p:sp>
        <p:nvSpPr>
          <p:cNvPr id="40" name="Text 38"/>
          <p:cNvSpPr/>
          <p:nvPr/>
        </p:nvSpPr>
        <p:spPr>
          <a:xfrm>
            <a:off x="4892040" y="295351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41" name="Text 39"/>
          <p:cNvSpPr/>
          <p:nvPr/>
        </p:nvSpPr>
        <p:spPr>
          <a:xfrm>
            <a:off x="5303520" y="292608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Enforce CP1 auto-block on all SKUs — starting this week</a:t>
            </a:r>
            <a:endParaRPr lang="en-US" sz="1000" dirty="0"/>
          </a:p>
        </p:txBody>
      </p:sp>
      <p:sp>
        <p:nvSpPr>
          <p:cNvPr id="42" name="Shape 40"/>
          <p:cNvSpPr/>
          <p:nvPr/>
        </p:nvSpPr>
        <p:spPr>
          <a:xfrm>
            <a:off x="6995160" y="2880360"/>
            <a:ext cx="1965960" cy="685800"/>
          </a:xfrm>
          <a:prstGeom prst="roundRect">
            <a:avLst>
              <a:gd name="adj" fmla="val 13333"/>
            </a:avLst>
          </a:prstGeom>
          <a:solidFill>
            <a:srgbClr val="FFF5F5"/>
          </a:solidFill>
          <a:ln/>
        </p:spPr>
      </p:sp>
      <p:sp>
        <p:nvSpPr>
          <p:cNvPr id="43" name="Shape 41"/>
          <p:cNvSpPr/>
          <p:nvPr/>
        </p:nvSpPr>
        <p:spPr>
          <a:xfrm>
            <a:off x="7040880" y="2953512"/>
            <a:ext cx="320040" cy="320040"/>
          </a:xfrm>
          <a:prstGeom prst="ellipse">
            <a:avLst/>
          </a:prstGeom>
          <a:solidFill>
            <a:srgbClr val="E53935"/>
          </a:solidFill>
          <a:ln/>
        </p:spPr>
      </p:sp>
      <p:sp>
        <p:nvSpPr>
          <p:cNvPr id="44" name="Text 42"/>
          <p:cNvSpPr/>
          <p:nvPr/>
        </p:nvSpPr>
        <p:spPr>
          <a:xfrm>
            <a:off x="7040880" y="295351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5" name="Text 43"/>
          <p:cNvSpPr/>
          <p:nvPr/>
        </p:nvSpPr>
        <p:spPr>
          <a:xfrm>
            <a:off x="7452360" y="292608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Launch BNPL pilot with top 10 restaurants within 2 weeks</a:t>
            </a:r>
            <a:endParaRPr lang="en-US" sz="1000" dirty="0"/>
          </a:p>
        </p:txBody>
      </p:sp>
      <p:sp>
        <p:nvSpPr>
          <p:cNvPr id="46" name="Shape 44"/>
          <p:cNvSpPr/>
          <p:nvPr/>
        </p:nvSpPr>
        <p:spPr>
          <a:xfrm>
            <a:off x="548640" y="3749040"/>
            <a:ext cx="1965960" cy="685800"/>
          </a:xfrm>
          <a:prstGeom prst="roundRect">
            <a:avLst>
              <a:gd name="adj" fmla="val 13333"/>
            </a:avLst>
          </a:prstGeom>
          <a:solidFill>
            <a:srgbClr val="F8F8F8"/>
          </a:solidFill>
          <a:ln/>
        </p:spPr>
      </p:sp>
      <p:sp>
        <p:nvSpPr>
          <p:cNvPr id="47" name="Shape 45"/>
          <p:cNvSpPr/>
          <p:nvPr/>
        </p:nvSpPr>
        <p:spPr>
          <a:xfrm>
            <a:off x="594360" y="3822192"/>
            <a:ext cx="320040" cy="320040"/>
          </a:xfrm>
          <a:prstGeom prst="ellipse">
            <a:avLst/>
          </a:prstGeom>
          <a:solidFill>
            <a:srgbClr val="E53935"/>
          </a:solidFill>
          <a:ln/>
        </p:spPr>
      </p:sp>
      <p:sp>
        <p:nvSpPr>
          <p:cNvPr id="48" name="Text 46"/>
          <p:cNvSpPr/>
          <p:nvPr/>
        </p:nvSpPr>
        <p:spPr>
          <a:xfrm>
            <a:off x="594360" y="382219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49" name="Text 47"/>
          <p:cNvSpPr/>
          <p:nvPr/>
        </p:nvSpPr>
        <p:spPr>
          <a:xfrm>
            <a:off x="1005840" y="379476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Initiate SGL recruitment engine with driver-led program</a:t>
            </a:r>
            <a:endParaRPr lang="en-US" sz="1000" dirty="0"/>
          </a:p>
        </p:txBody>
      </p:sp>
      <p:sp>
        <p:nvSpPr>
          <p:cNvPr id="50" name="Shape 48"/>
          <p:cNvSpPr/>
          <p:nvPr/>
        </p:nvSpPr>
        <p:spPr>
          <a:xfrm>
            <a:off x="2697480" y="3749040"/>
            <a:ext cx="1965960" cy="685800"/>
          </a:xfrm>
          <a:prstGeom prst="roundRect">
            <a:avLst>
              <a:gd name="adj" fmla="val 13333"/>
            </a:avLst>
          </a:prstGeom>
          <a:solidFill>
            <a:srgbClr val="F8F8F8"/>
          </a:solidFill>
          <a:ln/>
        </p:spPr>
      </p:sp>
      <p:sp>
        <p:nvSpPr>
          <p:cNvPr id="51" name="Shape 49"/>
          <p:cNvSpPr/>
          <p:nvPr/>
        </p:nvSpPr>
        <p:spPr>
          <a:xfrm>
            <a:off x="2743200" y="3822192"/>
            <a:ext cx="320040" cy="320040"/>
          </a:xfrm>
          <a:prstGeom prst="ellipse">
            <a:avLst/>
          </a:prstGeom>
          <a:solidFill>
            <a:srgbClr val="E53935"/>
          </a:solidFill>
          <a:ln/>
        </p:spPr>
      </p:sp>
      <p:sp>
        <p:nvSpPr>
          <p:cNvPr id="52" name="Text 50"/>
          <p:cNvSpPr/>
          <p:nvPr/>
        </p:nvSpPr>
        <p:spPr>
          <a:xfrm>
            <a:off x="2743200" y="382219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53" name="Text 51"/>
          <p:cNvSpPr/>
          <p:nvPr/>
        </p:nvSpPr>
        <p:spPr>
          <a:xfrm>
            <a:off x="3154680" y="379476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Assign dedicated B2B sales agent for restaurant onboarding</a:t>
            </a:r>
            <a:endParaRPr lang="en-US" sz="1000" dirty="0"/>
          </a:p>
        </p:txBody>
      </p:sp>
      <p:sp>
        <p:nvSpPr>
          <p:cNvPr id="54" name="Shape 52"/>
          <p:cNvSpPr/>
          <p:nvPr/>
        </p:nvSpPr>
        <p:spPr>
          <a:xfrm>
            <a:off x="4846320" y="3749040"/>
            <a:ext cx="1965960" cy="685800"/>
          </a:xfrm>
          <a:prstGeom prst="roundRect">
            <a:avLst>
              <a:gd name="adj" fmla="val 13333"/>
            </a:avLst>
          </a:prstGeom>
          <a:solidFill>
            <a:srgbClr val="F8F8F8"/>
          </a:solidFill>
          <a:ln/>
        </p:spPr>
      </p:sp>
      <p:sp>
        <p:nvSpPr>
          <p:cNvPr id="55" name="Shape 53"/>
          <p:cNvSpPr/>
          <p:nvPr/>
        </p:nvSpPr>
        <p:spPr>
          <a:xfrm>
            <a:off x="4892040" y="3822192"/>
            <a:ext cx="320040" cy="320040"/>
          </a:xfrm>
          <a:prstGeom prst="ellipse">
            <a:avLst/>
          </a:prstGeom>
          <a:solidFill>
            <a:srgbClr val="E53935"/>
          </a:solidFill>
          <a:ln/>
        </p:spPr>
      </p:sp>
      <p:sp>
        <p:nvSpPr>
          <p:cNvPr id="56" name="Text 54"/>
          <p:cNvSpPr/>
          <p:nvPr/>
        </p:nvSpPr>
        <p:spPr>
          <a:xfrm>
            <a:off x="4892040" y="382219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57" name="Text 55"/>
          <p:cNvSpPr/>
          <p:nvPr/>
        </p:nvSpPr>
        <p:spPr>
          <a:xfrm>
            <a:off x="5303520" y="3794760"/>
            <a:ext cx="1417320" cy="59436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Implement daily/weekly KPI dashboards for real-time visibility</a:t>
            </a:r>
            <a:endParaRPr lang="en-US" sz="1000" dirty="0"/>
          </a:p>
        </p:txBody>
      </p:sp>
      <p:sp>
        <p:nvSpPr>
          <p:cNvPr id="58" name="Shape 56"/>
          <p:cNvSpPr/>
          <p:nvPr/>
        </p:nvSpPr>
        <p:spPr>
          <a:xfrm>
            <a:off x="8503920" y="4663440"/>
            <a:ext cx="365760" cy="365760"/>
          </a:xfrm>
          <a:prstGeom prst="ellipse">
            <a:avLst/>
          </a:prstGeom>
          <a:solidFill>
            <a:srgbClr val="E53935"/>
          </a:solidFill>
          <a:ln/>
        </p:spPr>
      </p:sp>
      <p:sp>
        <p:nvSpPr>
          <p:cNvPr id="59" name="Text 5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53935"/>
          </a:solidFill>
          <a:ln/>
        </p:spPr>
      </p:sp>
      <p:sp>
        <p:nvSpPr>
          <p:cNvPr id="3" name="Shape 1"/>
          <p:cNvSpPr/>
          <p:nvPr/>
        </p:nvSpPr>
        <p:spPr>
          <a:xfrm>
            <a:off x="5943600" y="-1371600"/>
            <a:ext cx="3657600" cy="3657600"/>
          </a:xfrm>
          <a:prstGeom prst="ellipse">
            <a:avLst/>
          </a:prstGeom>
          <a:solidFill>
            <a:srgbClr val="E53935">
              <a:alpha val="8000"/>
            </a:srgbClr>
          </a:solidFill>
          <a:ln/>
        </p:spPr>
      </p:sp>
      <p:sp>
        <p:nvSpPr>
          <p:cNvPr id="4" name="Shape 2"/>
          <p:cNvSpPr/>
          <p:nvPr/>
        </p:nvSpPr>
        <p:spPr>
          <a:xfrm>
            <a:off x="6858000" y="457200"/>
            <a:ext cx="2286000" cy="2286000"/>
          </a:xfrm>
          <a:prstGeom prst="ellipse">
            <a:avLst/>
          </a:prstGeom>
          <a:solidFill>
            <a:srgbClr val="E53935">
              <a:alpha val="6000"/>
            </a:srgbClr>
          </a:solidFill>
          <a:ln/>
        </p:spPr>
      </p:sp>
      <p:sp>
        <p:nvSpPr>
          <p:cNvPr id="5" name="Shape 3"/>
          <p:cNvSpPr/>
          <p:nvPr/>
        </p:nvSpPr>
        <p:spPr>
          <a:xfrm>
            <a:off x="-1371600" y="3657600"/>
            <a:ext cx="3200400" cy="3200400"/>
          </a:xfrm>
          <a:prstGeom prst="ellipse">
            <a:avLst/>
          </a:prstGeom>
          <a:solidFill>
            <a:srgbClr val="E53935">
              <a:alpha val="6000"/>
            </a:srgbClr>
          </a:solidFill>
          <a:ln/>
        </p:spPr>
      </p:sp>
      <p:sp>
        <p:nvSpPr>
          <p:cNvPr id="6" name="Shape 4"/>
          <p:cNvSpPr/>
          <p:nvPr/>
        </p:nvSpPr>
        <p:spPr>
          <a:xfrm>
            <a:off x="731520" y="2011680"/>
            <a:ext cx="914400" cy="45720"/>
          </a:xfrm>
          <a:prstGeom prst="rect">
            <a:avLst/>
          </a:prstGeom>
          <a:solidFill>
            <a:srgbClr val="E53935"/>
          </a:solidFill>
          <a:ln/>
        </p:spPr>
      </p:sp>
      <p:sp>
        <p:nvSpPr>
          <p:cNvPr id="7" name="Text 5"/>
          <p:cNvSpPr/>
          <p:nvPr/>
        </p:nvSpPr>
        <p:spPr>
          <a:xfrm>
            <a:off x="731520" y="1188720"/>
            <a:ext cx="5486400" cy="457200"/>
          </a:xfrm>
          <a:prstGeom prst="rect">
            <a:avLst/>
          </a:prstGeom>
          <a:noFill/>
          <a:ln/>
        </p:spPr>
        <p:txBody>
          <a:bodyPr wrap="square" lIns="0" tIns="0" rIns="0" bIns="0" rtlCol="0" anchor="ctr"/>
          <a:lstStyle/>
          <a:p>
            <a:pPr indent="0" marL="0">
              <a:buNone/>
            </a:pPr>
            <a:r>
              <a:rPr lang="en-US" sz="1800" b="1" spc="800" kern="0" dirty="0">
                <a:solidFill>
                  <a:srgbClr val="E53935"/>
                </a:solidFill>
                <a:latin typeface="Arial" pitchFamily="34" charset="0"/>
                <a:ea typeface="Arial" pitchFamily="34" charset="-122"/>
                <a:cs typeface="Arial" pitchFamily="34" charset="-120"/>
              </a:rPr>
              <a:t>CHIPCHIP</a:t>
            </a:r>
            <a:endParaRPr lang="en-US" sz="1800" dirty="0"/>
          </a:p>
        </p:txBody>
      </p:sp>
      <p:sp>
        <p:nvSpPr>
          <p:cNvPr id="8" name="Text 6"/>
          <p:cNvSpPr/>
          <p:nvPr/>
        </p:nvSpPr>
        <p:spPr>
          <a:xfrm>
            <a:off x="731520" y="2148840"/>
            <a:ext cx="6400800" cy="1097280"/>
          </a:xfrm>
          <a:prstGeom prst="rect">
            <a:avLst/>
          </a:prstGeom>
          <a:noFill/>
          <a:ln/>
        </p:spPr>
        <p:txBody>
          <a:bodyPr wrap="square" lIns="0" tIns="0" rIns="0" bIns="0" rtlCol="0" anchor="ctr"/>
          <a:lstStyle/>
          <a:p>
            <a:pPr indent="0" marL="0">
              <a:buNone/>
            </a:pPr>
            <a:r>
              <a:rPr lang="en-US" sz="6400" b="1" dirty="0">
                <a:solidFill>
                  <a:srgbClr val="1A1A1A"/>
                </a:solidFill>
                <a:latin typeface="Arial" pitchFamily="34" charset="0"/>
                <a:ea typeface="Arial" pitchFamily="34" charset="-122"/>
                <a:cs typeface="Arial" pitchFamily="34" charset="-120"/>
              </a:rPr>
              <a:t>Thank You</a:t>
            </a:r>
            <a:endParaRPr lang="en-US" sz="6400" dirty="0"/>
          </a:p>
        </p:txBody>
      </p:sp>
      <p:sp>
        <p:nvSpPr>
          <p:cNvPr id="9" name="Text 7"/>
          <p:cNvSpPr/>
          <p:nvPr/>
        </p:nvSpPr>
        <p:spPr>
          <a:xfrm>
            <a:off x="731520" y="3291840"/>
            <a:ext cx="6400800" cy="457200"/>
          </a:xfrm>
          <a:prstGeom prst="rect">
            <a:avLst/>
          </a:prstGeom>
          <a:noFill/>
          <a:ln/>
        </p:spPr>
        <p:txBody>
          <a:bodyPr wrap="square" lIns="0" tIns="0" rIns="0" bIns="0" rtlCol="0" anchor="ctr"/>
          <a:lstStyle/>
          <a:p>
            <a:pPr indent="0" marL="0">
              <a:buNone/>
            </a:pPr>
            <a:r>
              <a:rPr lang="en-US" sz="1800" dirty="0">
                <a:solidFill>
                  <a:srgbClr val="888888"/>
                </a:solidFill>
                <a:latin typeface="Arial" pitchFamily="34" charset="0"/>
                <a:ea typeface="Arial" pitchFamily="34" charset="-122"/>
                <a:cs typeface="Arial" pitchFamily="34" charset="-120"/>
              </a:rPr>
              <a:t>Asset-Light Food Trade Infrastructure — Ethiopia</a:t>
            </a:r>
            <a:endParaRPr lang="en-US" sz="1800" dirty="0"/>
          </a:p>
        </p:txBody>
      </p:sp>
      <p:sp>
        <p:nvSpPr>
          <p:cNvPr id="10" name="Text 8"/>
          <p:cNvSpPr/>
          <p:nvPr/>
        </p:nvSpPr>
        <p:spPr>
          <a:xfrm>
            <a:off x="731520" y="3931920"/>
            <a:ext cx="6400800" cy="320040"/>
          </a:xfrm>
          <a:prstGeom prst="rect">
            <a:avLst/>
          </a:prstGeom>
          <a:noFill/>
          <a:ln/>
        </p:spPr>
        <p:txBody>
          <a:bodyPr wrap="square" lIns="0" tIns="0" rIns="0" bIns="0" rtlCol="0" anchor="ctr"/>
          <a:lstStyle/>
          <a:p>
            <a:pPr indent="0" marL="0">
              <a:buNone/>
            </a:pPr>
            <a:r>
              <a:rPr lang="en-US" sz="1400" spc="200" kern="0" dirty="0">
                <a:solidFill>
                  <a:srgbClr val="666666"/>
                </a:solidFill>
                <a:latin typeface="Arial" pitchFamily="34" charset="0"/>
                <a:ea typeface="Arial" pitchFamily="34" charset="-122"/>
                <a:cs typeface="Arial" pitchFamily="34" charset="-120"/>
              </a:rPr>
              <a:t>Lidya  ·  Henok  ·  Kiro  ·  Amen</a:t>
            </a:r>
            <a:endParaRPr lang="en-US" sz="1400" dirty="0"/>
          </a:p>
        </p:txBody>
      </p:sp>
      <p:sp>
        <p:nvSpPr>
          <p:cNvPr id="11" name="Shape 9"/>
          <p:cNvSpPr/>
          <p:nvPr/>
        </p:nvSpPr>
        <p:spPr>
          <a:xfrm>
            <a:off x="731520" y="4389120"/>
            <a:ext cx="4572000" cy="411480"/>
          </a:xfrm>
          <a:prstGeom prst="roundRect">
            <a:avLst>
              <a:gd name="adj" fmla="val 48889"/>
            </a:avLst>
          </a:prstGeom>
          <a:solidFill>
            <a:srgbClr val="E53935"/>
          </a:solidFill>
          <a:ln/>
        </p:spPr>
      </p:sp>
      <p:sp>
        <p:nvSpPr>
          <p:cNvPr id="12" name="Text 10"/>
          <p:cNvSpPr/>
          <p:nvPr/>
        </p:nvSpPr>
        <p:spPr>
          <a:xfrm>
            <a:off x="731520" y="4389120"/>
            <a:ext cx="4572000" cy="411480"/>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Arial" pitchFamily="34" charset="0"/>
                <a:ea typeface="Arial" pitchFamily="34" charset="-122"/>
                <a:cs typeface="Arial" pitchFamily="34" charset="-120"/>
              </a:rPr>
              <a:t>We don't touch products. We control flows.</a:t>
            </a:r>
            <a:endParaRPr lang="en-US" sz="1300" dirty="0"/>
          </a:p>
        </p:txBody>
      </p:sp>
      <p:sp>
        <p:nvSpPr>
          <p:cNvPr id="13" name="Shape 11"/>
          <p:cNvSpPr/>
          <p:nvPr/>
        </p:nvSpPr>
        <p:spPr>
          <a:xfrm>
            <a:off x="6858000" y="4572000"/>
            <a:ext cx="1828800" cy="365760"/>
          </a:xfrm>
          <a:prstGeom prst="roundRect">
            <a:avLst>
              <a:gd name="adj" fmla="val 50000"/>
            </a:avLst>
          </a:prstGeom>
          <a:solidFill>
            <a:srgbClr val="F0F0F0"/>
          </a:solidFill>
          <a:ln/>
        </p:spPr>
      </p:sp>
      <p:sp>
        <p:nvSpPr>
          <p:cNvPr id="14" name="Text 12"/>
          <p:cNvSpPr/>
          <p:nvPr/>
        </p:nvSpPr>
        <p:spPr>
          <a:xfrm>
            <a:off x="6858000" y="4572000"/>
            <a:ext cx="1828800" cy="365760"/>
          </a:xfrm>
          <a:prstGeom prst="rect">
            <a:avLst/>
          </a:prstGeom>
          <a:noFill/>
          <a:ln/>
        </p:spPr>
        <p:txBody>
          <a:bodyPr wrap="square" lIns="0" tIns="0" rIns="0" bIns="0" rtlCol="0" anchor="ctr"/>
          <a:lstStyle/>
          <a:p>
            <a:pPr algn="ctr" indent="0" marL="0">
              <a:buNone/>
            </a:pPr>
            <a:r>
              <a:rPr lang="en-US" sz="900" dirty="0">
                <a:solidFill>
                  <a:srgbClr val="999999"/>
                </a:solidFill>
                <a:latin typeface="Arial" pitchFamily="34" charset="0"/>
                <a:ea typeface="Arial" pitchFamily="34" charset="-122"/>
                <a:cs typeface="Arial" pitchFamily="34" charset="-120"/>
              </a:rPr>
              <a:t>Q1 2026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ChipChip Strategic Review Q1 2026</dc:title>
  <dc:subject>PptxGenJS Presentation</dc:subject>
  <dc:creator>ChipChip</dc:creator>
  <cp:lastModifiedBy>ChipChip</cp:lastModifiedBy>
  <cp:revision>1</cp:revision>
  <dcterms:created xsi:type="dcterms:W3CDTF">2026-03-31T08:45:25Z</dcterms:created>
  <dcterms:modified xsi:type="dcterms:W3CDTF">2026-03-31T08:45:25Z</dcterms:modified>
</cp:coreProperties>
</file>